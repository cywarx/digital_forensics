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0"/>
            <a:ext cx="228600" cy="5143500"/>
          </a:xfrm>
          <a:prstGeom prst="rect">
            <a:avLst/>
          </a:prstGeom>
          <a:solidFill>
            <a:srgbClr val="1A2332">
              <a:alpha val="45000"/>
            </a:srgbClr>
          </a:solidFill>
          <a:ln w="3810">
            <a:solidFill>
              <a:srgbClr val="2D3748"/>
            </a:solidFill>
            <a:prstDash val="solid"/>
          </a:ln>
        </p:spPr>
      </p:sp>
      <p:sp>
        <p:nvSpPr>
          <p:cNvPr id="3" name="Shape 1"/>
          <p:cNvSpPr/>
          <p:nvPr/>
        </p:nvSpPr>
        <p:spPr>
          <a:xfrm>
            <a:off x="7159752" y="0"/>
            <a:ext cx="228600" cy="5143500"/>
          </a:xfrm>
          <a:prstGeom prst="rect">
            <a:avLst/>
          </a:prstGeom>
          <a:solidFill>
            <a:srgbClr val="1A2332">
              <a:alpha val="45000"/>
            </a:srgbClr>
          </a:solidFill>
          <a:ln w="3810">
            <a:solidFill>
              <a:srgbClr val="2D3748"/>
            </a:solidFill>
            <a:prstDash val="solid"/>
          </a:ln>
        </p:spPr>
      </p:sp>
      <p:sp>
        <p:nvSpPr>
          <p:cNvPr id="4" name="Shape 2"/>
          <p:cNvSpPr/>
          <p:nvPr/>
        </p:nvSpPr>
        <p:spPr>
          <a:xfrm>
            <a:off x="7461504" y="0"/>
            <a:ext cx="228600" cy="5143500"/>
          </a:xfrm>
          <a:prstGeom prst="rect">
            <a:avLst/>
          </a:prstGeom>
          <a:solidFill>
            <a:srgbClr val="1A2332">
              <a:alpha val="45000"/>
            </a:srgbClr>
          </a:solidFill>
          <a:ln w="3810">
            <a:solidFill>
              <a:srgbClr val="2D3748"/>
            </a:solidFill>
            <a:prstDash val="solid"/>
          </a:ln>
        </p:spPr>
      </p:sp>
      <p:sp>
        <p:nvSpPr>
          <p:cNvPr id="5" name="Shape 3"/>
          <p:cNvSpPr/>
          <p:nvPr/>
        </p:nvSpPr>
        <p:spPr>
          <a:xfrm>
            <a:off x="7763256" y="0"/>
            <a:ext cx="228600" cy="5143500"/>
          </a:xfrm>
          <a:prstGeom prst="rect">
            <a:avLst/>
          </a:prstGeom>
          <a:solidFill>
            <a:srgbClr val="1A2332">
              <a:alpha val="45000"/>
            </a:srgbClr>
          </a:solidFill>
          <a:ln w="3810">
            <a:solidFill>
              <a:srgbClr val="2D3748"/>
            </a:solidFill>
            <a:prstDash val="solid"/>
          </a:ln>
        </p:spPr>
      </p:sp>
      <p:sp>
        <p:nvSpPr>
          <p:cNvPr id="6" name="Shape 4"/>
          <p:cNvSpPr/>
          <p:nvPr/>
        </p:nvSpPr>
        <p:spPr>
          <a:xfrm>
            <a:off x="8065008" y="0"/>
            <a:ext cx="228600" cy="5143500"/>
          </a:xfrm>
          <a:prstGeom prst="rect">
            <a:avLst/>
          </a:prstGeom>
          <a:solidFill>
            <a:srgbClr val="1A2332">
              <a:alpha val="45000"/>
            </a:srgbClr>
          </a:solidFill>
          <a:ln w="3810">
            <a:solidFill>
              <a:srgbClr val="2D3748"/>
            </a:solidFill>
            <a:prstDash val="solid"/>
          </a:ln>
        </p:spPr>
      </p:sp>
      <p:sp>
        <p:nvSpPr>
          <p:cNvPr id="7" name="Shape 5"/>
          <p:cNvSpPr/>
          <p:nvPr/>
        </p:nvSpPr>
        <p:spPr>
          <a:xfrm>
            <a:off x="8366760" y="0"/>
            <a:ext cx="228600" cy="5143500"/>
          </a:xfrm>
          <a:prstGeom prst="rect">
            <a:avLst/>
          </a:prstGeom>
          <a:solidFill>
            <a:srgbClr val="1A2332">
              <a:alpha val="45000"/>
            </a:srgbClr>
          </a:solidFill>
          <a:ln w="3810">
            <a:solidFill>
              <a:srgbClr val="2D3748"/>
            </a:solidFill>
            <a:prstDash val="solid"/>
          </a:ln>
        </p:spPr>
      </p:sp>
      <p:sp>
        <p:nvSpPr>
          <p:cNvPr id="8" name="Shape 6"/>
          <p:cNvSpPr/>
          <p:nvPr/>
        </p:nvSpPr>
        <p:spPr>
          <a:xfrm>
            <a:off x="8668512" y="0"/>
            <a:ext cx="228600" cy="5143500"/>
          </a:xfrm>
          <a:prstGeom prst="rect">
            <a:avLst/>
          </a:prstGeom>
          <a:solidFill>
            <a:srgbClr val="1A2332">
              <a:alpha val="45000"/>
            </a:srgbClr>
          </a:solidFill>
          <a:ln w="3810">
            <a:solidFill>
              <a:srgbClr val="2D3748"/>
            </a:solidFill>
            <a:prstDash val="solid"/>
          </a:ln>
        </p:spPr>
      </p:sp>
      <p:sp>
        <p:nvSpPr>
          <p:cNvPr id="9" name="Shape 7"/>
          <p:cNvSpPr/>
          <p:nvPr/>
        </p:nvSpPr>
        <p:spPr>
          <a:xfrm>
            <a:off x="8970264" y="0"/>
            <a:ext cx="228600" cy="5143500"/>
          </a:xfrm>
          <a:prstGeom prst="rect">
            <a:avLst/>
          </a:prstGeom>
          <a:solidFill>
            <a:srgbClr val="1A2332">
              <a:alpha val="45000"/>
            </a:srgbClr>
          </a:solidFill>
          <a:ln w="3810">
            <a:solidFill>
              <a:srgbClr val="2D3748"/>
            </a:solidFill>
            <a:prstDash val="solid"/>
          </a:ln>
        </p:spPr>
      </p:sp>
      <p:sp>
        <p:nvSpPr>
          <p:cNvPr id="10" name="Shape 8"/>
          <p:cNvSpPr/>
          <p:nvPr/>
        </p:nvSpPr>
        <p:spPr>
          <a:xfrm>
            <a:off x="0" y="0"/>
            <a:ext cx="109728" cy="5143500"/>
          </a:xfrm>
          <a:prstGeom prst="rect">
            <a:avLst/>
          </a:prstGeom>
          <a:solidFill>
            <a:srgbClr val="00D4FF"/>
          </a:solidFill>
          <a:ln w="12700">
            <a:solidFill>
              <a:srgbClr val="00D4FF"/>
            </a:solidFill>
            <a:prstDash val="solid"/>
          </a:ln>
        </p:spPr>
      </p:sp>
      <p:sp>
        <p:nvSpPr>
          <p:cNvPr id="11" name="Shape 9"/>
          <p:cNvSpPr/>
          <p:nvPr/>
        </p:nvSpPr>
        <p:spPr>
          <a:xfrm>
            <a:off x="164592" y="0"/>
            <a:ext cx="45720" cy="5143500"/>
          </a:xfrm>
          <a:prstGeom prst="rect">
            <a:avLst/>
          </a:prstGeom>
          <a:solidFill>
            <a:srgbClr val="7C3AED"/>
          </a:solidFill>
          <a:ln w="12700">
            <a:solidFill>
              <a:srgbClr val="7C3AED"/>
            </a:solidFill>
            <a:prstDash val="solid"/>
          </a:ln>
        </p:spPr>
      </p:sp>
      <p:sp>
        <p:nvSpPr>
          <p:cNvPr id="12" name="Text 10"/>
          <p:cNvSpPr/>
          <p:nvPr/>
        </p:nvSpPr>
        <p:spPr>
          <a:xfrm>
            <a:off x="502920" y="822960"/>
            <a:ext cx="6217920" cy="365760"/>
          </a:xfrm>
          <a:prstGeom prst="rect">
            <a:avLst/>
          </a:prstGeom>
          <a:noFill/>
          <a:ln/>
        </p:spPr>
        <p:txBody>
          <a:bodyPr wrap="square" rtlCol="0" anchor="ctr"/>
          <a:lstStyle/>
          <a:p>
            <a:pPr indent="0" marL="0">
              <a:buNone/>
            </a:pPr>
            <a:r>
              <a:rPr lang="en-US" sz="1400" b="1" spc="400" kern="0" dirty="0">
                <a:solidFill>
                  <a:srgbClr val="00D4FF"/>
                </a:solidFill>
                <a:latin typeface="Calibri" pitchFamily="34" charset="0"/>
                <a:ea typeface="Calibri" pitchFamily="34" charset="-122"/>
                <a:cs typeface="Calibri" pitchFamily="34" charset="-120"/>
              </a:rPr>
              <a:t>UNIT IV</a:t>
            </a:r>
            <a:endParaRPr lang="en-US" sz="1400" dirty="0"/>
          </a:p>
        </p:txBody>
      </p:sp>
      <p:sp>
        <p:nvSpPr>
          <p:cNvPr id="13" name="Shape 11"/>
          <p:cNvSpPr/>
          <p:nvPr/>
        </p:nvSpPr>
        <p:spPr>
          <a:xfrm>
            <a:off x="502920" y="1261872"/>
            <a:ext cx="6217920" cy="822960"/>
          </a:xfrm>
          <a:prstGeom prst="rect">
            <a:avLst/>
          </a:prstGeom>
          <a:solidFill>
            <a:srgbClr val="1E293B"/>
          </a:solidFill>
          <a:ln w="19050">
            <a:solidFill>
              <a:srgbClr val="00D4FF"/>
            </a:solidFill>
            <a:prstDash val="solid"/>
          </a:ln>
        </p:spPr>
      </p:sp>
      <p:sp>
        <p:nvSpPr>
          <p:cNvPr id="14" name="Text 12"/>
          <p:cNvSpPr/>
          <p:nvPr/>
        </p:nvSpPr>
        <p:spPr>
          <a:xfrm>
            <a:off x="502920" y="1261872"/>
            <a:ext cx="6217920" cy="8229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Fundamentals of Cyber Forensics</a:t>
            </a:r>
            <a:endParaRPr lang="en-US" sz="3400" dirty="0"/>
          </a:p>
        </p:txBody>
      </p:sp>
      <p:sp>
        <p:nvSpPr>
          <p:cNvPr id="15" name="Text 13"/>
          <p:cNvSpPr/>
          <p:nvPr/>
        </p:nvSpPr>
        <p:spPr>
          <a:xfrm>
            <a:off x="502920" y="2194560"/>
            <a:ext cx="6217920" cy="502920"/>
          </a:xfrm>
          <a:prstGeom prst="rect">
            <a:avLst/>
          </a:prstGeom>
          <a:noFill/>
          <a:ln/>
        </p:spPr>
        <p:txBody>
          <a:bodyPr wrap="square" rtlCol="0" anchor="ctr"/>
          <a:lstStyle/>
          <a:p>
            <a:pPr algn="ctr" indent="0" marL="0">
              <a:buNone/>
            </a:pPr>
            <a:r>
              <a:rPr lang="en-US" sz="1400" dirty="0">
                <a:solidFill>
                  <a:srgbClr val="E2E8F0"/>
                </a:solidFill>
                <a:latin typeface="Calibri" pitchFamily="34" charset="0"/>
                <a:ea typeface="Calibri" pitchFamily="34" charset="-122"/>
                <a:cs typeface="Calibri" pitchFamily="34" charset="-120"/>
              </a:rPr>
              <a:t>A first lecture through real crimes, real cases, and the science of finding digital truth.</a:t>
            </a:r>
            <a:endParaRPr lang="en-US" sz="1400" dirty="0"/>
          </a:p>
        </p:txBody>
      </p:sp>
      <p:sp>
        <p:nvSpPr>
          <p:cNvPr id="16" name="Shape 14"/>
          <p:cNvSpPr/>
          <p:nvPr/>
        </p:nvSpPr>
        <p:spPr>
          <a:xfrm>
            <a:off x="502920" y="2880360"/>
            <a:ext cx="1677924" cy="246888"/>
          </a:xfrm>
          <a:prstGeom prst="rect">
            <a:avLst/>
          </a:prstGeom>
          <a:solidFill>
            <a:srgbClr val="7C3AED"/>
          </a:solidFill>
          <a:ln w="12700">
            <a:solidFill>
              <a:srgbClr val="7C3AED"/>
            </a:solidFill>
            <a:prstDash val="solid"/>
          </a:ln>
        </p:spPr>
      </p:sp>
      <p:sp>
        <p:nvSpPr>
          <p:cNvPr id="17" name="Text 15"/>
          <p:cNvSpPr/>
          <p:nvPr/>
        </p:nvSpPr>
        <p:spPr>
          <a:xfrm>
            <a:off x="502920" y="2880360"/>
            <a:ext cx="1677924"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Murder · Jill Dando</a:t>
            </a:r>
            <a:endParaRPr lang="en-US" sz="900" dirty="0"/>
          </a:p>
        </p:txBody>
      </p:sp>
      <p:sp>
        <p:nvSpPr>
          <p:cNvPr id="18" name="Shape 16"/>
          <p:cNvSpPr/>
          <p:nvPr/>
        </p:nvSpPr>
        <p:spPr>
          <a:xfrm>
            <a:off x="2253996" y="2880360"/>
            <a:ext cx="1211580" cy="246888"/>
          </a:xfrm>
          <a:prstGeom prst="rect">
            <a:avLst/>
          </a:prstGeom>
          <a:solidFill>
            <a:srgbClr val="7C3AED"/>
          </a:solidFill>
          <a:ln w="12700">
            <a:solidFill>
              <a:srgbClr val="7C3AED"/>
            </a:solidFill>
            <a:prstDash val="solid"/>
          </a:ln>
        </p:spPr>
      </p:sp>
      <p:sp>
        <p:nvSpPr>
          <p:cNvPr id="19" name="Text 17"/>
          <p:cNvSpPr/>
          <p:nvPr/>
        </p:nvSpPr>
        <p:spPr>
          <a:xfrm>
            <a:off x="2253996" y="2880360"/>
            <a:ext cx="1211580"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Fraud · Enron</a:t>
            </a:r>
            <a:endParaRPr lang="en-US" sz="900" dirty="0"/>
          </a:p>
        </p:txBody>
      </p:sp>
      <p:sp>
        <p:nvSpPr>
          <p:cNvPr id="20" name="Shape 18"/>
          <p:cNvSpPr/>
          <p:nvPr/>
        </p:nvSpPr>
        <p:spPr>
          <a:xfrm>
            <a:off x="3538728" y="2880360"/>
            <a:ext cx="1677924" cy="246888"/>
          </a:xfrm>
          <a:prstGeom prst="rect">
            <a:avLst/>
          </a:prstGeom>
          <a:solidFill>
            <a:srgbClr val="7C3AED"/>
          </a:solidFill>
          <a:ln w="12700">
            <a:solidFill>
              <a:srgbClr val="7C3AED"/>
            </a:solidFill>
            <a:prstDash val="solid"/>
          </a:ln>
        </p:spPr>
      </p:sp>
      <p:sp>
        <p:nvSpPr>
          <p:cNvPr id="21" name="Text 19"/>
          <p:cNvSpPr/>
          <p:nvPr/>
        </p:nvSpPr>
        <p:spPr>
          <a:xfrm>
            <a:off x="3538728" y="2880360"/>
            <a:ext cx="1677924"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Child Safety · CAID</a:t>
            </a:r>
            <a:endParaRPr lang="en-US" sz="900" dirty="0"/>
          </a:p>
        </p:txBody>
      </p:sp>
      <p:sp>
        <p:nvSpPr>
          <p:cNvPr id="22" name="Shape 20"/>
          <p:cNvSpPr/>
          <p:nvPr/>
        </p:nvSpPr>
        <p:spPr>
          <a:xfrm>
            <a:off x="5289804" y="2880360"/>
            <a:ext cx="1833372" cy="246888"/>
          </a:xfrm>
          <a:prstGeom prst="rect">
            <a:avLst/>
          </a:prstGeom>
          <a:solidFill>
            <a:srgbClr val="7C3AED"/>
          </a:solidFill>
          <a:ln w="12700">
            <a:solidFill>
              <a:srgbClr val="7C3AED"/>
            </a:solidFill>
            <a:prstDash val="solid"/>
          </a:ln>
        </p:spPr>
      </p:sp>
      <p:sp>
        <p:nvSpPr>
          <p:cNvPr id="23" name="Text 21"/>
          <p:cNvSpPr/>
          <p:nvPr/>
        </p:nvSpPr>
        <p:spPr>
          <a:xfrm>
            <a:off x="5289804" y="2880360"/>
            <a:ext cx="1833372"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Ransomware · WannaCry</a:t>
            </a:r>
            <a:endParaRPr lang="en-US" sz="900" dirty="0"/>
          </a:p>
        </p:txBody>
      </p:sp>
      <p:sp>
        <p:nvSpPr>
          <p:cNvPr id="24" name="Shape 22"/>
          <p:cNvSpPr/>
          <p:nvPr/>
        </p:nvSpPr>
        <p:spPr>
          <a:xfrm>
            <a:off x="7196328" y="2880360"/>
            <a:ext cx="2144268" cy="246888"/>
          </a:xfrm>
          <a:prstGeom prst="rect">
            <a:avLst/>
          </a:prstGeom>
          <a:solidFill>
            <a:srgbClr val="7C3AED"/>
          </a:solidFill>
          <a:ln w="12700">
            <a:solidFill>
              <a:srgbClr val="7C3AED"/>
            </a:solidFill>
            <a:prstDash val="solid"/>
          </a:ln>
        </p:spPr>
      </p:sp>
      <p:sp>
        <p:nvSpPr>
          <p:cNvPr id="25" name="Text 23"/>
          <p:cNvSpPr/>
          <p:nvPr/>
        </p:nvSpPr>
        <p:spPr>
          <a:xfrm>
            <a:off x="7196328" y="2880360"/>
            <a:ext cx="2144268"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Terror · Manchester Arena</a:t>
            </a:r>
            <a:endParaRPr lang="en-US" sz="900" dirty="0"/>
          </a:p>
        </p:txBody>
      </p:sp>
      <p:sp>
        <p:nvSpPr>
          <p:cNvPr id="26" name="Shape 24"/>
          <p:cNvSpPr/>
          <p:nvPr/>
        </p:nvSpPr>
        <p:spPr>
          <a:xfrm>
            <a:off x="502920" y="3337560"/>
            <a:ext cx="6217920" cy="822960"/>
          </a:xfrm>
          <a:prstGeom prst="rect">
            <a:avLst/>
          </a:prstGeom>
          <a:solidFill>
            <a:srgbClr val="1E293B"/>
          </a:solidFill>
          <a:ln w="6350">
            <a:solidFill>
              <a:srgbClr val="1A2332"/>
            </a:solidFill>
            <a:prstDash val="solid"/>
          </a:ln>
        </p:spPr>
      </p:sp>
      <p:sp>
        <p:nvSpPr>
          <p:cNvPr id="27" name="Text 25"/>
          <p:cNvSpPr/>
          <p:nvPr/>
        </p:nvSpPr>
        <p:spPr>
          <a:xfrm>
            <a:off x="502920" y="3383280"/>
            <a:ext cx="146304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Course</a:t>
            </a:r>
            <a:endParaRPr lang="en-US" sz="900" dirty="0"/>
          </a:p>
        </p:txBody>
      </p:sp>
      <p:sp>
        <p:nvSpPr>
          <p:cNvPr id="28" name="Text 26"/>
          <p:cNvSpPr/>
          <p:nvPr/>
        </p:nvSpPr>
        <p:spPr>
          <a:xfrm>
            <a:off x="502920" y="3630168"/>
            <a:ext cx="1463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Cyber Forensics</a:t>
            </a:r>
            <a:endParaRPr lang="en-US" sz="1200" dirty="0"/>
          </a:p>
        </p:txBody>
      </p:sp>
      <p:sp>
        <p:nvSpPr>
          <p:cNvPr id="29" name="Text 27"/>
          <p:cNvSpPr/>
          <p:nvPr/>
        </p:nvSpPr>
        <p:spPr>
          <a:xfrm>
            <a:off x="2057400" y="3383280"/>
            <a:ext cx="146304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Level</a:t>
            </a:r>
            <a:endParaRPr lang="en-US" sz="900" dirty="0"/>
          </a:p>
        </p:txBody>
      </p:sp>
      <p:sp>
        <p:nvSpPr>
          <p:cNvPr id="30" name="Text 28"/>
          <p:cNvSpPr/>
          <p:nvPr/>
        </p:nvSpPr>
        <p:spPr>
          <a:xfrm>
            <a:off x="2057400" y="3630168"/>
            <a:ext cx="1463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Undergraduate</a:t>
            </a:r>
            <a:endParaRPr lang="en-US" sz="1200" dirty="0"/>
          </a:p>
        </p:txBody>
      </p:sp>
      <p:sp>
        <p:nvSpPr>
          <p:cNvPr id="31" name="Text 29"/>
          <p:cNvSpPr/>
          <p:nvPr/>
        </p:nvSpPr>
        <p:spPr>
          <a:xfrm>
            <a:off x="3611880" y="3383280"/>
            <a:ext cx="146304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Tools</a:t>
            </a:r>
            <a:endParaRPr lang="en-US" sz="900" dirty="0"/>
          </a:p>
        </p:txBody>
      </p:sp>
      <p:sp>
        <p:nvSpPr>
          <p:cNvPr id="32" name="Text 30"/>
          <p:cNvSpPr/>
          <p:nvPr/>
        </p:nvSpPr>
        <p:spPr>
          <a:xfrm>
            <a:off x="3611880" y="3630168"/>
            <a:ext cx="1463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Autopsy · TSK · dd</a:t>
            </a:r>
            <a:endParaRPr lang="en-US" sz="1200" dirty="0"/>
          </a:p>
        </p:txBody>
      </p:sp>
      <p:sp>
        <p:nvSpPr>
          <p:cNvPr id="33" name="Text 31"/>
          <p:cNvSpPr/>
          <p:nvPr/>
        </p:nvSpPr>
        <p:spPr>
          <a:xfrm>
            <a:off x="5166360" y="3383280"/>
            <a:ext cx="146304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Platform</a:t>
            </a:r>
            <a:endParaRPr lang="en-US" sz="900" dirty="0"/>
          </a:p>
        </p:txBody>
      </p:sp>
      <p:sp>
        <p:nvSpPr>
          <p:cNvPr id="34" name="Text 32"/>
          <p:cNvSpPr/>
          <p:nvPr/>
        </p:nvSpPr>
        <p:spPr>
          <a:xfrm>
            <a:off x="5166360" y="3630168"/>
            <a:ext cx="1463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Kali Linux</a:t>
            </a:r>
            <a:endParaRPr lang="en-US" sz="1200" dirty="0"/>
          </a:p>
        </p:txBody>
      </p:sp>
      <p:pic>
        <p:nvPicPr>
          <p:cNvPr id="35" name="Image 0" descr="preencoded.png">    </p:cNvPr>
          <p:cNvPicPr>
            <a:picLocks noChangeAspect="1"/>
          </p:cNvPicPr>
          <p:nvPr/>
        </p:nvPicPr>
        <p:blipFill>
          <a:blip r:embed="rId1">
            <a:alphaModFix amt="20000"/>
          </a:blip>
          <a:stretch>
            <a:fillRect/>
          </a:stretch>
        </p:blipFill>
        <p:spPr>
          <a:xfrm>
            <a:off x="6949440" y="1097280"/>
            <a:ext cx="1828800" cy="1828800"/>
          </a:xfrm>
          <a:prstGeom prst="rect">
            <a:avLst/>
          </a:prstGeom>
        </p:spPr>
      </p:pic>
      <p:sp>
        <p:nvSpPr>
          <p:cNvPr id="36" name="Shape 33"/>
          <p:cNvSpPr/>
          <p:nvPr/>
        </p:nvSpPr>
        <p:spPr>
          <a:xfrm>
            <a:off x="0" y="4937760"/>
            <a:ext cx="9144000" cy="201168"/>
          </a:xfrm>
          <a:prstGeom prst="rect">
            <a:avLst/>
          </a:prstGeom>
          <a:solidFill>
            <a:srgbClr val="1E293B"/>
          </a:solidFill>
          <a:ln w="12700">
            <a:solidFill>
              <a:srgbClr val="1E293B"/>
            </a:solidFill>
            <a:prstDash val="solid"/>
          </a:ln>
        </p:spPr>
      </p:sp>
      <p:sp>
        <p:nvSpPr>
          <p:cNvPr id="37" name="Text 34"/>
          <p:cNvSpPr/>
          <p:nvPr/>
        </p:nvSpPr>
        <p:spPr>
          <a:xfrm>
            <a:off x="0" y="4946904"/>
            <a:ext cx="9144000" cy="182880"/>
          </a:xfrm>
          <a:prstGeom prst="rect">
            <a:avLst/>
          </a:prstGeom>
          <a:noFill/>
          <a:ln/>
        </p:spPr>
        <p:txBody>
          <a:bodyPr wrap="square"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Every device tells a story. Your job is to read it.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w="12700">
            <a:solidFill>
              <a:srgbClr val="EF4444"/>
            </a:solidFill>
            <a:prstDash val="solid"/>
          </a:ln>
        </p:spPr>
      </p:sp>
      <p:sp>
        <p:nvSpPr>
          <p:cNvPr id="3" name="Shape 1"/>
          <p:cNvSpPr/>
          <p:nvPr/>
        </p:nvSpPr>
        <p:spPr>
          <a:xfrm>
            <a:off x="0" y="4937760"/>
            <a:ext cx="9144000" cy="201168"/>
          </a:xfrm>
          <a:prstGeom prst="rect">
            <a:avLst/>
          </a:prstGeom>
          <a:solidFill>
            <a:srgbClr val="1E293B"/>
          </a:solidFill>
          <a:ln w="12700">
            <a:solidFill>
              <a:srgbClr val="1E293B"/>
            </a:solidFill>
            <a:prstDash val="solid"/>
          </a:ln>
        </p:spPr>
      </p:sp>
      <p:sp>
        <p:nvSpPr>
          <p:cNvPr id="4" name="Text 2"/>
          <p:cNvSpPr/>
          <p:nvPr/>
        </p:nvSpPr>
        <p:spPr>
          <a:xfrm>
            <a:off x="411480" y="109728"/>
            <a:ext cx="8229600" cy="274320"/>
          </a:xfrm>
          <a:prstGeom prst="rect">
            <a:avLst/>
          </a:prstGeom>
          <a:noFill/>
          <a:ln/>
        </p:spPr>
        <p:txBody>
          <a:bodyPr wrap="square" rtlCol="0" anchor="ctr"/>
          <a:lstStyle/>
          <a:p>
            <a:pPr indent="0" marL="0">
              <a:buNone/>
            </a:pPr>
            <a:r>
              <a:rPr lang="en-US" sz="1100" b="1" spc="200" kern="0" dirty="0">
                <a:solidFill>
                  <a:srgbClr val="EF4444"/>
                </a:solidFill>
                <a:latin typeface="Calibri" pitchFamily="34" charset="0"/>
                <a:ea typeface="Calibri" pitchFamily="34" charset="-122"/>
                <a:cs typeface="Calibri" pitchFamily="34" charset="-120"/>
              </a:rPr>
              <a:t>REAL CRIME  ·  CASE 01</a:t>
            </a:r>
            <a:endParaRPr lang="en-US" sz="1100" dirty="0"/>
          </a:p>
        </p:txBody>
      </p:sp>
      <p:sp>
        <p:nvSpPr>
          <p:cNvPr id="5" name="Shape 3"/>
          <p:cNvSpPr/>
          <p:nvPr/>
        </p:nvSpPr>
        <p:spPr>
          <a:xfrm>
            <a:off x="411480" y="420624"/>
            <a:ext cx="6583680" cy="685800"/>
          </a:xfrm>
          <a:prstGeom prst="rect">
            <a:avLst/>
          </a:prstGeom>
          <a:solidFill>
            <a:srgbClr val="EF4444"/>
          </a:solidFill>
          <a:ln w="12700">
            <a:solidFill>
              <a:srgbClr val="EF4444"/>
            </a:solidFill>
            <a:prstDash val="solid"/>
          </a:ln>
        </p:spPr>
      </p:sp>
      <p:sp>
        <p:nvSpPr>
          <p:cNvPr id="6" name="Text 4"/>
          <p:cNvSpPr/>
          <p:nvPr/>
        </p:nvSpPr>
        <p:spPr>
          <a:xfrm>
            <a:off x="411480" y="420624"/>
            <a:ext cx="6583680" cy="685800"/>
          </a:xfrm>
          <a:prstGeom prst="rect">
            <a:avLst/>
          </a:prstGeom>
          <a:noFill/>
          <a:ln/>
        </p:spPr>
        <p:txBody>
          <a:bodyPr wrap="square" lIns="127000" tIns="127000" rIns="127000" bIns="12700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Murder of Jill Dando — 1999</a:t>
            </a:r>
            <a:endParaRPr lang="en-US" sz="2200" dirty="0"/>
          </a:p>
        </p:txBody>
      </p:sp>
      <p:pic>
        <p:nvPicPr>
          <p:cNvPr id="7" name="Image 0" descr="preencoded.png">    </p:cNvPr>
          <p:cNvPicPr>
            <a:picLocks noChangeAspect="1"/>
          </p:cNvPicPr>
          <p:nvPr/>
        </p:nvPicPr>
        <p:blipFill>
          <a:blip r:embed="rId1"/>
          <a:stretch>
            <a:fillRect/>
          </a:stretch>
        </p:blipFill>
        <p:spPr>
          <a:xfrm>
            <a:off x="7178040" y="420624"/>
            <a:ext cx="777240" cy="777240"/>
          </a:xfrm>
          <a:prstGeom prst="rect">
            <a:avLst/>
          </a:prstGeom>
        </p:spPr>
      </p:pic>
      <p:sp>
        <p:nvSpPr>
          <p:cNvPr id="8" name="Text 5"/>
          <p:cNvSpPr/>
          <p:nvPr/>
        </p:nvSpPr>
        <p:spPr>
          <a:xfrm>
            <a:off x="411480" y="1207008"/>
            <a:ext cx="8321040" cy="594360"/>
          </a:xfrm>
          <a:prstGeom prst="rect">
            <a:avLst/>
          </a:prstGeom>
          <a:noFill/>
          <a:ln/>
        </p:spPr>
        <p:txBody>
          <a:bodyPr wrap="square" rtlCol="0" anchor="ctr"/>
          <a:lstStyle/>
          <a:p>
            <a:pPr indent="0" marL="0">
              <a:buNone/>
            </a:pPr>
            <a:r>
              <a:rPr lang="en-US" sz="1300" dirty="0">
                <a:solidFill>
                  <a:srgbClr val="E2E8F0"/>
                </a:solidFill>
                <a:latin typeface="Calibri" pitchFamily="34" charset="0"/>
                <a:ea typeface="Calibri" pitchFamily="34" charset="-122"/>
                <a:cs typeface="Calibri" pitchFamily="34" charset="-120"/>
              </a:rPr>
              <a:t>On 26 April 1999, BBC presenter Jill Dando was shot dead on her doorstep in Fulham, London. No CCTV. No clear witnesses. No weapon. It became one of Britain's most famous unsolved murders — until digital forensics changed everything.</a:t>
            </a:r>
            <a:endParaRPr lang="en-US" sz="1300" dirty="0"/>
          </a:p>
        </p:txBody>
      </p:sp>
      <p:sp>
        <p:nvSpPr>
          <p:cNvPr id="9" name="Shape 6"/>
          <p:cNvSpPr/>
          <p:nvPr/>
        </p:nvSpPr>
        <p:spPr>
          <a:xfrm>
            <a:off x="411480" y="1883664"/>
            <a:ext cx="2697480" cy="1234440"/>
          </a:xfrm>
          <a:prstGeom prst="rect">
            <a:avLst/>
          </a:prstGeom>
          <a:solidFill>
            <a:srgbClr val="1E293B"/>
          </a:solidFill>
          <a:ln w="6350">
            <a:solidFill>
              <a:srgbClr val="1A2332"/>
            </a:solidFill>
            <a:prstDash val="solid"/>
          </a:ln>
        </p:spPr>
      </p:sp>
      <p:sp>
        <p:nvSpPr>
          <p:cNvPr id="10" name="Shape 7"/>
          <p:cNvSpPr/>
          <p:nvPr/>
        </p:nvSpPr>
        <p:spPr>
          <a:xfrm>
            <a:off x="411480" y="1883664"/>
            <a:ext cx="64008" cy="1234440"/>
          </a:xfrm>
          <a:prstGeom prst="rect">
            <a:avLst/>
          </a:prstGeom>
          <a:solidFill>
            <a:srgbClr val="EF4444"/>
          </a:solidFill>
          <a:ln w="12700">
            <a:solidFill>
              <a:srgbClr val="EF4444"/>
            </a:solidFill>
            <a:prstDash val="solid"/>
          </a:ln>
        </p:spPr>
      </p:sp>
      <p:sp>
        <p:nvSpPr>
          <p:cNvPr id="11" name="Text 8"/>
          <p:cNvSpPr/>
          <p:nvPr/>
        </p:nvSpPr>
        <p:spPr>
          <a:xfrm>
            <a:off x="548640" y="1975104"/>
            <a:ext cx="2468880" cy="292608"/>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Mobile Phone Records</a:t>
            </a:r>
            <a:endParaRPr lang="en-US" sz="1300" dirty="0"/>
          </a:p>
        </p:txBody>
      </p:sp>
      <p:sp>
        <p:nvSpPr>
          <p:cNvPr id="12" name="Text 9"/>
          <p:cNvSpPr/>
          <p:nvPr/>
        </p:nvSpPr>
        <p:spPr>
          <a:xfrm>
            <a:off x="548640" y="2286000"/>
            <a:ext cx="2468880" cy="37947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Cell tower data placed Barry George near the scene at 11:30 AM.</a:t>
            </a:r>
            <a:endParaRPr lang="en-US" sz="1100" dirty="0"/>
          </a:p>
        </p:txBody>
      </p:sp>
      <p:sp>
        <p:nvSpPr>
          <p:cNvPr id="13" name="Text 10"/>
          <p:cNvSpPr/>
          <p:nvPr/>
        </p:nvSpPr>
        <p:spPr>
          <a:xfrm>
            <a:off x="548640" y="2665476"/>
            <a:ext cx="2468880" cy="37947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Phone activity log built a precise timeline of movements.</a:t>
            </a:r>
            <a:endParaRPr lang="en-US" sz="1100" dirty="0"/>
          </a:p>
        </p:txBody>
      </p:sp>
      <p:sp>
        <p:nvSpPr>
          <p:cNvPr id="14" name="Shape 11"/>
          <p:cNvSpPr/>
          <p:nvPr/>
        </p:nvSpPr>
        <p:spPr>
          <a:xfrm>
            <a:off x="3246120" y="1883664"/>
            <a:ext cx="2697480" cy="1234440"/>
          </a:xfrm>
          <a:prstGeom prst="rect">
            <a:avLst/>
          </a:prstGeom>
          <a:solidFill>
            <a:srgbClr val="1E293B"/>
          </a:solidFill>
          <a:ln w="6350">
            <a:solidFill>
              <a:srgbClr val="1A2332"/>
            </a:solidFill>
            <a:prstDash val="solid"/>
          </a:ln>
        </p:spPr>
      </p:sp>
      <p:sp>
        <p:nvSpPr>
          <p:cNvPr id="15" name="Shape 12"/>
          <p:cNvSpPr/>
          <p:nvPr/>
        </p:nvSpPr>
        <p:spPr>
          <a:xfrm>
            <a:off x="3246120" y="1883664"/>
            <a:ext cx="64008" cy="1234440"/>
          </a:xfrm>
          <a:prstGeom prst="rect">
            <a:avLst/>
          </a:prstGeom>
          <a:solidFill>
            <a:srgbClr val="F59E0B"/>
          </a:solidFill>
          <a:ln w="12700">
            <a:solidFill>
              <a:srgbClr val="F59E0B"/>
            </a:solidFill>
            <a:prstDash val="solid"/>
          </a:ln>
        </p:spPr>
      </p:sp>
      <p:sp>
        <p:nvSpPr>
          <p:cNvPr id="16" name="Text 13"/>
          <p:cNvSpPr/>
          <p:nvPr/>
        </p:nvSpPr>
        <p:spPr>
          <a:xfrm>
            <a:off x="3383280" y="1975104"/>
            <a:ext cx="2468880" cy="292608"/>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Computer Forensics</a:t>
            </a:r>
            <a:endParaRPr lang="en-US" sz="1300" dirty="0"/>
          </a:p>
        </p:txBody>
      </p:sp>
      <p:sp>
        <p:nvSpPr>
          <p:cNvPr id="17" name="Text 14"/>
          <p:cNvSpPr/>
          <p:nvPr/>
        </p:nvSpPr>
        <p:spPr>
          <a:xfrm>
            <a:off x="3383280" y="2286000"/>
            <a:ext cx="2468880" cy="37947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Hundreds of celebrity photos stored on his hard drive.</a:t>
            </a:r>
            <a:endParaRPr lang="en-US" sz="1100" dirty="0"/>
          </a:p>
        </p:txBody>
      </p:sp>
      <p:sp>
        <p:nvSpPr>
          <p:cNvPr id="18" name="Text 15"/>
          <p:cNvSpPr/>
          <p:nvPr/>
        </p:nvSpPr>
        <p:spPr>
          <a:xfrm>
            <a:off x="3383280" y="2665476"/>
            <a:ext cx="2468880" cy="37947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File metadata revealed when images were downloaded — proving obsession.</a:t>
            </a:r>
            <a:endParaRPr lang="en-US" sz="1100" dirty="0"/>
          </a:p>
        </p:txBody>
      </p:sp>
      <p:sp>
        <p:nvSpPr>
          <p:cNvPr id="19" name="Shape 16"/>
          <p:cNvSpPr/>
          <p:nvPr/>
        </p:nvSpPr>
        <p:spPr>
          <a:xfrm>
            <a:off x="6035040" y="1883664"/>
            <a:ext cx="2697480" cy="1234440"/>
          </a:xfrm>
          <a:prstGeom prst="rect">
            <a:avLst/>
          </a:prstGeom>
          <a:solidFill>
            <a:srgbClr val="1E293B"/>
          </a:solidFill>
          <a:ln w="6350">
            <a:solidFill>
              <a:srgbClr val="1A2332"/>
            </a:solidFill>
            <a:prstDash val="solid"/>
          </a:ln>
        </p:spPr>
      </p:sp>
      <p:sp>
        <p:nvSpPr>
          <p:cNvPr id="20" name="Shape 17"/>
          <p:cNvSpPr/>
          <p:nvPr/>
        </p:nvSpPr>
        <p:spPr>
          <a:xfrm>
            <a:off x="6035040" y="1883664"/>
            <a:ext cx="64008" cy="1234440"/>
          </a:xfrm>
          <a:prstGeom prst="rect">
            <a:avLst/>
          </a:prstGeom>
          <a:solidFill>
            <a:srgbClr val="7C3AED"/>
          </a:solidFill>
          <a:ln w="12700">
            <a:solidFill>
              <a:srgbClr val="7C3AED"/>
            </a:solidFill>
            <a:prstDash val="solid"/>
          </a:ln>
        </p:spPr>
      </p:sp>
      <p:sp>
        <p:nvSpPr>
          <p:cNvPr id="21" name="Text 18"/>
          <p:cNvSpPr/>
          <p:nvPr/>
        </p:nvSpPr>
        <p:spPr>
          <a:xfrm>
            <a:off x="6172200" y="1975104"/>
            <a:ext cx="2468880" cy="292608"/>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Digital Evidence Analysis</a:t>
            </a:r>
            <a:endParaRPr lang="en-US" sz="1300" dirty="0"/>
          </a:p>
        </p:txBody>
      </p:sp>
      <p:sp>
        <p:nvSpPr>
          <p:cNvPr id="22" name="Text 19"/>
          <p:cNvSpPr/>
          <p:nvPr/>
        </p:nvSpPr>
        <p:spPr>
          <a:xfrm>
            <a:off x="6172200" y="2286000"/>
            <a:ext cx="2468880" cy="37947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Firearms residue cross-referenced against ammunition databases.</a:t>
            </a:r>
            <a:endParaRPr lang="en-US" sz="1100" dirty="0"/>
          </a:p>
        </p:txBody>
      </p:sp>
      <p:sp>
        <p:nvSpPr>
          <p:cNvPr id="23" name="Text 20"/>
          <p:cNvSpPr/>
          <p:nvPr/>
        </p:nvSpPr>
        <p:spPr>
          <a:xfrm>
            <a:off x="6172200" y="2665476"/>
            <a:ext cx="2468880" cy="37947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Digital records corroborated the physical forensic finding.</a:t>
            </a:r>
            <a:endParaRPr lang="en-US" sz="1100" dirty="0"/>
          </a:p>
        </p:txBody>
      </p:sp>
      <p:sp>
        <p:nvSpPr>
          <p:cNvPr id="24" name="Text 21"/>
          <p:cNvSpPr/>
          <p:nvPr/>
        </p:nvSpPr>
        <p:spPr>
          <a:xfrm>
            <a:off x="411480" y="3246120"/>
            <a:ext cx="8321040" cy="274320"/>
          </a:xfrm>
          <a:prstGeom prst="rect">
            <a:avLst/>
          </a:prstGeom>
          <a:noFill/>
          <a:ln/>
        </p:spPr>
        <p:txBody>
          <a:bodyPr wrap="square" rtlCol="0" anchor="ctr"/>
          <a:lstStyle/>
          <a:p>
            <a:pPr indent="0" marL="0">
              <a:buNone/>
            </a:pPr>
            <a:r>
              <a:rPr lang="en-US" sz="1200" b="1" i="1" dirty="0">
                <a:solidFill>
                  <a:srgbClr val="00D4FF"/>
                </a:solidFill>
                <a:latin typeface="Calibri" pitchFamily="34" charset="0"/>
                <a:ea typeface="Calibri" pitchFamily="34" charset="-122"/>
                <a:cs typeface="Calibri" pitchFamily="34" charset="-120"/>
              </a:rPr>
              <a:t>What the investigator asked:</a:t>
            </a:r>
            <a:endParaRPr lang="en-US" sz="1200" dirty="0"/>
          </a:p>
        </p:txBody>
      </p:sp>
      <p:sp>
        <p:nvSpPr>
          <p:cNvPr id="25" name="Text 22"/>
          <p:cNvSpPr/>
          <p:nvPr/>
        </p:nvSpPr>
        <p:spPr>
          <a:xfrm>
            <a:off x="502920" y="3547872"/>
            <a:ext cx="8229600" cy="640080"/>
          </a:xfrm>
          <a:prstGeom prst="rect">
            <a:avLst/>
          </a:prstGeom>
          <a:noFill/>
          <a:ln/>
        </p:spPr>
        <p:txBody>
          <a:bodyPr wrap="square" rtlCol="0" anchor="ctr"/>
          <a:lstStyle/>
          <a:p>
            <a:pPr marL="342900" indent="-342900">
              <a:buSzPct val="100000"/>
              <a:buChar char="•"/>
            </a:pPr>
            <a:r>
              <a:rPr lang="en-US" sz="1200" dirty="0">
                <a:solidFill>
                  <a:srgbClr val="E2E8F0"/>
                </a:solidFill>
                <a:latin typeface="Calibri" pitchFamily="34" charset="0"/>
                <a:ea typeface="Calibri" pitchFamily="34" charset="-122"/>
                <a:cs typeface="Calibri" pitchFamily="34" charset="-120"/>
              </a:rPr>
              <a:t>Where was his phone at 11:30 AM on 26 April?</a:t>
            </a:r>
            <a:endParaRPr lang="en-US" sz="1200" dirty="0"/>
          </a:p>
          <a:p>
            <a:pPr marL="342900" indent="-342900">
              <a:buSzPct val="100000"/>
              <a:buChar char="•"/>
            </a:pPr>
            <a:r>
              <a:rPr lang="en-US" sz="1200" dirty="0">
                <a:solidFill>
                  <a:srgbClr val="E2E8F0"/>
                </a:solidFill>
                <a:latin typeface="Calibri" pitchFamily="34" charset="0"/>
                <a:ea typeface="Calibri" pitchFamily="34" charset="-122"/>
                <a:cs typeface="Calibri" pitchFamily="34" charset="-120"/>
              </a:rPr>
              <a:t>What files existed on his computer, and when were they created?</a:t>
            </a:r>
            <a:endParaRPr lang="en-US" sz="1200" dirty="0"/>
          </a:p>
          <a:p>
            <a:pPr marL="342900" indent="-342900">
              <a:buSzPct val="100000"/>
              <a:buChar char="•"/>
            </a:pPr>
            <a:r>
              <a:rPr lang="en-US" sz="1200" dirty="0">
                <a:solidFill>
                  <a:srgbClr val="E2E8F0"/>
                </a:solidFill>
                <a:latin typeface="Calibri" pitchFamily="34" charset="0"/>
                <a:ea typeface="Calibri" pitchFamily="34" charset="-122"/>
                <a:cs typeface="Calibri" pitchFamily="34" charset="-120"/>
              </a:rPr>
              <a:t>What does the file metadata reveal about his behaviour?</a:t>
            </a:r>
            <a:endParaRPr lang="en-US" sz="1200" dirty="0"/>
          </a:p>
        </p:txBody>
      </p:sp>
      <p:sp>
        <p:nvSpPr>
          <p:cNvPr id="26" name="Shape 23"/>
          <p:cNvSpPr/>
          <p:nvPr/>
        </p:nvSpPr>
        <p:spPr>
          <a:xfrm>
            <a:off x="411480" y="4279392"/>
            <a:ext cx="8321040" cy="566928"/>
          </a:xfrm>
          <a:prstGeom prst="rect">
            <a:avLst/>
          </a:prstGeom>
          <a:solidFill>
            <a:srgbClr val="1E293B"/>
          </a:solidFill>
          <a:ln w="10160">
            <a:solidFill>
              <a:srgbClr val="00D4FF"/>
            </a:solidFill>
            <a:prstDash val="solid"/>
          </a:ln>
        </p:spPr>
      </p:sp>
      <p:sp>
        <p:nvSpPr>
          <p:cNvPr id="27" name="Shape 24"/>
          <p:cNvSpPr/>
          <p:nvPr/>
        </p:nvSpPr>
        <p:spPr>
          <a:xfrm>
            <a:off x="411480" y="4279392"/>
            <a:ext cx="64008" cy="566928"/>
          </a:xfrm>
          <a:prstGeom prst="rect">
            <a:avLst/>
          </a:prstGeom>
          <a:solidFill>
            <a:srgbClr val="00D4FF"/>
          </a:solidFill>
          <a:ln w="12700">
            <a:solidFill>
              <a:srgbClr val="00D4FF"/>
            </a:solidFill>
            <a:prstDash val="solid"/>
          </a:ln>
        </p:spPr>
      </p:sp>
      <p:sp>
        <p:nvSpPr>
          <p:cNvPr id="28" name="Text 25"/>
          <p:cNvSpPr/>
          <p:nvPr/>
        </p:nvSpPr>
        <p:spPr>
          <a:xfrm>
            <a:off x="548640" y="4315968"/>
            <a:ext cx="8092440" cy="493776"/>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Lesson: Digital evidence — phone records, files, metadata — can convict a murderer with no physical witnesses. Every device tells a story.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Text 1"/>
          <p:cNvSpPr/>
          <p:nvPr/>
        </p:nvSpPr>
        <p:spPr>
          <a:xfrm>
            <a:off x="411480" y="109728"/>
            <a:ext cx="8229600" cy="274320"/>
          </a:xfrm>
          <a:prstGeom prst="rect">
            <a:avLst/>
          </a:prstGeom>
          <a:noFill/>
          <a:ln/>
        </p:spPr>
        <p:txBody>
          <a:bodyPr wrap="square"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REAL CRIMES  ·  CASES 02 &amp; 03</a:t>
            </a:r>
            <a:endParaRPr lang="en-US" sz="1100" dirty="0"/>
          </a:p>
        </p:txBody>
      </p:sp>
      <p:sp>
        <p:nvSpPr>
          <p:cNvPr id="4" name="Shape 2"/>
          <p:cNvSpPr/>
          <p:nvPr/>
        </p:nvSpPr>
        <p:spPr>
          <a:xfrm>
            <a:off x="274320" y="475488"/>
            <a:ext cx="4160520" cy="4434840"/>
          </a:xfrm>
          <a:prstGeom prst="rect">
            <a:avLst/>
          </a:prstGeom>
          <a:solidFill>
            <a:srgbClr val="1E293B"/>
          </a:solidFill>
          <a:ln w="12700">
            <a:solidFill>
              <a:srgbClr val="F59E0B"/>
            </a:solidFill>
            <a:prstDash val="solid"/>
          </a:ln>
        </p:spPr>
      </p:sp>
      <p:sp>
        <p:nvSpPr>
          <p:cNvPr id="5" name="Shape 3"/>
          <p:cNvSpPr/>
          <p:nvPr/>
        </p:nvSpPr>
        <p:spPr>
          <a:xfrm>
            <a:off x="274320" y="475488"/>
            <a:ext cx="4160520" cy="457200"/>
          </a:xfrm>
          <a:prstGeom prst="rect">
            <a:avLst/>
          </a:prstGeom>
          <a:solidFill>
            <a:srgbClr val="F59E0B"/>
          </a:solidFill>
          <a:ln w="12700">
            <a:solidFill>
              <a:srgbClr val="F59E0B"/>
            </a:solidFill>
            <a:prstDash val="solid"/>
          </a:ln>
        </p:spPr>
      </p:sp>
      <p:sp>
        <p:nvSpPr>
          <p:cNvPr id="6" name="Text 4"/>
          <p:cNvSpPr/>
          <p:nvPr/>
        </p:nvSpPr>
        <p:spPr>
          <a:xfrm>
            <a:off x="347472" y="475488"/>
            <a:ext cx="4023360" cy="457200"/>
          </a:xfrm>
          <a:prstGeom prst="rect">
            <a:avLst/>
          </a:prstGeom>
          <a:noFill/>
          <a:ln/>
        </p:spPr>
        <p:txBody>
          <a:bodyPr wrap="square" lIns="50800" tIns="50800" rIns="50800" bIns="50800" rtlCol="0" anchor="ctr"/>
          <a:lstStyle/>
          <a:p>
            <a:pPr indent="0" marL="0">
              <a:buNone/>
            </a:pPr>
            <a:r>
              <a:rPr lang="en-US" sz="1600" b="1" dirty="0">
                <a:solidFill>
                  <a:srgbClr val="0D1B2A"/>
                </a:solidFill>
                <a:latin typeface="Calibri" pitchFamily="34" charset="0"/>
                <a:ea typeface="Calibri" pitchFamily="34" charset="-122"/>
                <a:cs typeface="Calibri" pitchFamily="34" charset="-120"/>
              </a:rPr>
              <a:t>Corporate Fraud</a:t>
            </a:r>
            <a:endParaRPr lang="en-US" sz="1600" dirty="0"/>
          </a:p>
        </p:txBody>
      </p:sp>
      <p:sp>
        <p:nvSpPr>
          <p:cNvPr id="7" name="Text 5"/>
          <p:cNvSpPr/>
          <p:nvPr/>
        </p:nvSpPr>
        <p:spPr>
          <a:xfrm>
            <a:off x="347472" y="1005840"/>
            <a:ext cx="3931920" cy="292608"/>
          </a:xfrm>
          <a:prstGeom prst="rect">
            <a:avLst/>
          </a:prstGeom>
          <a:noFill/>
          <a:ln/>
        </p:spPr>
        <p:txBody>
          <a:bodyPr wrap="square" rtlCol="0" anchor="ctr"/>
          <a:lstStyle/>
          <a:p>
            <a:pPr indent="0" marL="0">
              <a:buNone/>
            </a:pPr>
            <a:r>
              <a:rPr lang="en-US" sz="1300" b="1" i="1" dirty="0">
                <a:solidFill>
                  <a:srgbClr val="F59E0B"/>
                </a:solidFill>
                <a:latin typeface="Calibri" pitchFamily="34" charset="0"/>
                <a:ea typeface="Calibri" pitchFamily="34" charset="-122"/>
                <a:cs typeface="Calibri" pitchFamily="34" charset="-120"/>
              </a:rPr>
              <a:t>Enron Scandal — 2001</a:t>
            </a:r>
            <a:endParaRPr lang="en-US" sz="1300" dirty="0"/>
          </a:p>
        </p:txBody>
      </p:sp>
      <p:sp>
        <p:nvSpPr>
          <p:cNvPr id="8" name="Text 6"/>
          <p:cNvSpPr/>
          <p:nvPr/>
        </p:nvSpPr>
        <p:spPr>
          <a:xfrm>
            <a:off x="347472" y="1371600"/>
            <a:ext cx="3931920" cy="1417320"/>
          </a:xfrm>
          <a:prstGeom prst="rect">
            <a:avLst/>
          </a:prstGeom>
          <a:noFill/>
          <a:ln/>
        </p:spPr>
        <p:txBody>
          <a:bodyPr wrap="square" rtlCol="0" anchor="ctr"/>
          <a:lstStyle/>
          <a:p>
            <a:pPr indent="0" marL="0">
              <a:buNone/>
            </a:pPr>
            <a:r>
              <a:rPr lang="en-US" sz="1200" dirty="0">
                <a:solidFill>
                  <a:srgbClr val="E2E8F0"/>
                </a:solidFill>
                <a:latin typeface="Calibri" pitchFamily="34" charset="0"/>
                <a:ea typeface="Calibri" pitchFamily="34" charset="-122"/>
                <a:cs typeface="Calibri" pitchFamily="34" charset="-120"/>
              </a:rPr>
              <a:t>When Enron collapsed, investigators seized thousands of computers. Employees deleted emails and wiped hard drives. Forensic teams used undelete tools and email server forensics to recover over 200,000 deleted emails — proving executives knew of the fraud for years.</a:t>
            </a:r>
            <a:endParaRPr lang="en-US" sz="1200" dirty="0"/>
          </a:p>
        </p:txBody>
      </p:sp>
      <p:sp>
        <p:nvSpPr>
          <p:cNvPr id="9" name="Shape 7"/>
          <p:cNvSpPr/>
          <p:nvPr/>
        </p:nvSpPr>
        <p:spPr>
          <a:xfrm>
            <a:off x="347472" y="2852928"/>
            <a:ext cx="3931920" cy="658368"/>
          </a:xfrm>
          <a:prstGeom prst="rect">
            <a:avLst/>
          </a:prstGeom>
          <a:solidFill>
            <a:srgbClr val="1A2332"/>
          </a:solidFill>
          <a:ln w="6350">
            <a:solidFill>
              <a:srgbClr val="F59E0B"/>
            </a:solidFill>
            <a:prstDash val="solid"/>
          </a:ln>
        </p:spPr>
      </p:sp>
      <p:sp>
        <p:nvSpPr>
          <p:cNvPr id="10" name="Text 8"/>
          <p:cNvSpPr/>
          <p:nvPr/>
        </p:nvSpPr>
        <p:spPr>
          <a:xfrm>
            <a:off x="438912" y="2907792"/>
            <a:ext cx="3749040" cy="54864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Result: One recovered email convicted CFO Andrew Fastow. Sentenced to 6 years. The evidence was digital — and it never truly disappeared.</a:t>
            </a:r>
            <a:endParaRPr lang="en-US" sz="1200" dirty="0"/>
          </a:p>
        </p:txBody>
      </p:sp>
      <p:sp>
        <p:nvSpPr>
          <p:cNvPr id="11" name="Shape 9"/>
          <p:cNvSpPr/>
          <p:nvPr/>
        </p:nvSpPr>
        <p:spPr>
          <a:xfrm>
            <a:off x="4709160" y="475488"/>
            <a:ext cx="4160520" cy="4434840"/>
          </a:xfrm>
          <a:prstGeom prst="rect">
            <a:avLst/>
          </a:prstGeom>
          <a:solidFill>
            <a:srgbClr val="1E293B"/>
          </a:solidFill>
          <a:ln w="12700">
            <a:solidFill>
              <a:srgbClr val="EF4444"/>
            </a:solidFill>
            <a:prstDash val="solid"/>
          </a:ln>
        </p:spPr>
      </p:sp>
      <p:sp>
        <p:nvSpPr>
          <p:cNvPr id="12" name="Shape 10"/>
          <p:cNvSpPr/>
          <p:nvPr/>
        </p:nvSpPr>
        <p:spPr>
          <a:xfrm>
            <a:off x="4709160" y="475488"/>
            <a:ext cx="4160520" cy="457200"/>
          </a:xfrm>
          <a:prstGeom prst="rect">
            <a:avLst/>
          </a:prstGeom>
          <a:solidFill>
            <a:srgbClr val="EF4444"/>
          </a:solidFill>
          <a:ln w="12700">
            <a:solidFill>
              <a:srgbClr val="EF4444"/>
            </a:solidFill>
            <a:prstDash val="solid"/>
          </a:ln>
        </p:spPr>
      </p:sp>
      <p:sp>
        <p:nvSpPr>
          <p:cNvPr id="13" name="Text 11"/>
          <p:cNvSpPr/>
          <p:nvPr/>
        </p:nvSpPr>
        <p:spPr>
          <a:xfrm>
            <a:off x="4773168" y="475488"/>
            <a:ext cx="4023360" cy="457200"/>
          </a:xfrm>
          <a:prstGeom prst="rect">
            <a:avLst/>
          </a:prstGeom>
          <a:noFill/>
          <a:ln/>
        </p:spPr>
        <p:txBody>
          <a:bodyPr wrap="square" lIns="50800" tIns="50800" rIns="50800" bIns="5080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Global Ransomware</a:t>
            </a:r>
            <a:endParaRPr lang="en-US" sz="1600" dirty="0"/>
          </a:p>
        </p:txBody>
      </p:sp>
      <p:sp>
        <p:nvSpPr>
          <p:cNvPr id="14" name="Text 12"/>
          <p:cNvSpPr/>
          <p:nvPr/>
        </p:nvSpPr>
        <p:spPr>
          <a:xfrm>
            <a:off x="4773168" y="1005840"/>
            <a:ext cx="3931920" cy="292608"/>
          </a:xfrm>
          <a:prstGeom prst="rect">
            <a:avLst/>
          </a:prstGeom>
          <a:noFill/>
          <a:ln/>
        </p:spPr>
        <p:txBody>
          <a:bodyPr wrap="square" rtlCol="0" anchor="ctr"/>
          <a:lstStyle/>
          <a:p>
            <a:pPr indent="0" marL="0">
              <a:buNone/>
            </a:pPr>
            <a:r>
              <a:rPr lang="en-US" sz="1300" b="1" i="1" dirty="0">
                <a:solidFill>
                  <a:srgbClr val="EF4444"/>
                </a:solidFill>
                <a:latin typeface="Calibri" pitchFamily="34" charset="0"/>
                <a:ea typeface="Calibri" pitchFamily="34" charset="-122"/>
                <a:cs typeface="Calibri" pitchFamily="34" charset="-120"/>
              </a:rPr>
              <a:t>WannaCry — May 2017</a:t>
            </a:r>
            <a:endParaRPr lang="en-US" sz="1300" dirty="0"/>
          </a:p>
        </p:txBody>
      </p:sp>
      <p:sp>
        <p:nvSpPr>
          <p:cNvPr id="15" name="Text 13"/>
          <p:cNvSpPr/>
          <p:nvPr/>
        </p:nvSpPr>
        <p:spPr>
          <a:xfrm>
            <a:off x="4773168" y="1371600"/>
            <a:ext cx="3931920" cy="1417320"/>
          </a:xfrm>
          <a:prstGeom prst="rect">
            <a:avLst/>
          </a:prstGeom>
          <a:noFill/>
          <a:ln/>
        </p:spPr>
        <p:txBody>
          <a:bodyPr wrap="square" rtlCol="0" anchor="ctr"/>
          <a:lstStyle/>
          <a:p>
            <a:pPr indent="0" marL="0">
              <a:buNone/>
            </a:pPr>
            <a:r>
              <a:rPr lang="en-US" sz="1200" dirty="0">
                <a:solidFill>
                  <a:srgbClr val="E2E8F0"/>
                </a:solidFill>
                <a:latin typeface="Calibri" pitchFamily="34" charset="0"/>
                <a:ea typeface="Calibri" pitchFamily="34" charset="-122"/>
                <a:cs typeface="Calibri" pitchFamily="34" charset="-120"/>
              </a:rPr>
              <a:t>WannaCry infected 230,000 computers in 150 countries in a single day — including the UK NHS. Investigators forensically analysed infected systems, malware code, network traffic captures, and Bitcoin wallet transactions to trace the attack.</a:t>
            </a:r>
            <a:endParaRPr lang="en-US" sz="1200" dirty="0"/>
          </a:p>
        </p:txBody>
      </p:sp>
      <p:sp>
        <p:nvSpPr>
          <p:cNvPr id="16" name="Shape 14"/>
          <p:cNvSpPr/>
          <p:nvPr/>
        </p:nvSpPr>
        <p:spPr>
          <a:xfrm>
            <a:off x="4773168" y="2852928"/>
            <a:ext cx="3931920" cy="658368"/>
          </a:xfrm>
          <a:prstGeom prst="rect">
            <a:avLst/>
          </a:prstGeom>
          <a:solidFill>
            <a:srgbClr val="1A2332"/>
          </a:solidFill>
          <a:ln w="6350">
            <a:solidFill>
              <a:srgbClr val="EF4444"/>
            </a:solidFill>
            <a:prstDash val="solid"/>
          </a:ln>
        </p:spPr>
      </p:sp>
      <p:sp>
        <p:nvSpPr>
          <p:cNvPr id="17" name="Text 15"/>
          <p:cNvSpPr/>
          <p:nvPr/>
        </p:nvSpPr>
        <p:spPr>
          <a:xfrm>
            <a:off x="4864608" y="2907792"/>
            <a:ext cx="3749040" cy="548640"/>
          </a:xfrm>
          <a:prstGeom prst="rect">
            <a:avLst/>
          </a:prstGeom>
          <a:noFill/>
          <a:ln/>
        </p:spPr>
        <p:txBody>
          <a:bodyPr wrap="square"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Result: Code signature + Bitcoin transaction analysis attributed the attack to North Korea's Lazarus Group. Forensics across borders.</a:t>
            </a:r>
            <a:endParaRPr lang="en-US" sz="1200" dirty="0"/>
          </a:p>
        </p:txBody>
      </p:sp>
      <p:sp>
        <p:nvSpPr>
          <p:cNvPr id="18" name="Shape 16"/>
          <p:cNvSpPr/>
          <p:nvPr/>
        </p:nvSpPr>
        <p:spPr>
          <a:xfrm>
            <a:off x="274320" y="4315968"/>
            <a:ext cx="8595360" cy="594360"/>
          </a:xfrm>
          <a:prstGeom prst="rect">
            <a:avLst/>
          </a:prstGeom>
          <a:solidFill>
            <a:srgbClr val="0D1B2A"/>
          </a:solidFill>
          <a:ln w="12700">
            <a:solidFill>
              <a:srgbClr val="00D4FF"/>
            </a:solidFill>
            <a:prstDash val="solid"/>
          </a:ln>
        </p:spPr>
      </p:sp>
      <p:sp>
        <p:nvSpPr>
          <p:cNvPr id="19" name="Text 17"/>
          <p:cNvSpPr/>
          <p:nvPr/>
        </p:nvSpPr>
        <p:spPr>
          <a:xfrm>
            <a:off x="274320" y="4315968"/>
            <a:ext cx="8595360" cy="594360"/>
          </a:xfrm>
          <a:prstGeom prst="rect">
            <a:avLst/>
          </a:prstGeom>
          <a:noFill/>
          <a:ln/>
        </p:spPr>
        <p:txBody>
          <a:bodyPr wrap="square" rtlCol="0" anchor="ctr"/>
          <a:lstStyle/>
          <a:p>
            <a:pPr algn="ctr" indent="0" marL="0">
              <a:buNone/>
            </a:pPr>
            <a:r>
              <a:rPr lang="en-US" sz="1600" b="1" i="1" dirty="0">
                <a:solidFill>
                  <a:srgbClr val="00D4FF"/>
                </a:solidFill>
                <a:latin typeface="Calibri" pitchFamily="34" charset="0"/>
                <a:ea typeface="Calibri" pitchFamily="34" charset="-122"/>
                <a:cs typeface="Calibri" pitchFamily="34" charset="-120"/>
              </a:rPr>
              <a:t>"Where is the evidence — and has it been tampered with?"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w="12700">
            <a:solidFill>
              <a:srgbClr val="00D4FF"/>
            </a:solidFill>
            <a:prstDash val="solid"/>
          </a:ln>
        </p:spPr>
      </p:sp>
      <p:sp>
        <p:nvSpPr>
          <p:cNvPr id="3" name="Text 1"/>
          <p:cNvSpPr/>
          <p:nvPr/>
        </p:nvSpPr>
        <p:spPr>
          <a:xfrm>
            <a:off x="411480" y="128016"/>
            <a:ext cx="832104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Cyber Forensics?</a:t>
            </a:r>
            <a:endParaRPr lang="en-US" sz="2800" dirty="0"/>
          </a:p>
        </p:txBody>
      </p:sp>
      <p:sp>
        <p:nvSpPr>
          <p:cNvPr id="4" name="Text 2"/>
          <p:cNvSpPr/>
          <p:nvPr/>
        </p:nvSpPr>
        <p:spPr>
          <a:xfrm>
            <a:off x="411480" y="658368"/>
            <a:ext cx="8321040" cy="256032"/>
          </a:xfrm>
          <a:prstGeom prst="rect">
            <a:avLst/>
          </a:prstGeom>
          <a:noFill/>
          <a:ln/>
        </p:spPr>
        <p:txBody>
          <a:bodyPr wrap="square" lIns="0" tIns="0" rIns="0" bIns="0" rtlCol="0" anchor="ctr"/>
          <a:lstStyle/>
          <a:p>
            <a:pPr indent="0" marL="0">
              <a:buNone/>
            </a:pPr>
            <a:r>
              <a:rPr lang="en-US" sz="1200" dirty="0">
                <a:solidFill>
                  <a:srgbClr val="00D4FF"/>
                </a:solidFill>
                <a:latin typeface="Calibri" pitchFamily="34" charset="0"/>
                <a:ea typeface="Calibri" pitchFamily="34" charset="-122"/>
                <a:cs typeface="Calibri" pitchFamily="34" charset="-120"/>
              </a:rPr>
              <a:t>The science of finding, preserving and presenting digital evidence</a:t>
            </a:r>
            <a:endParaRPr lang="en-US" sz="1200" dirty="0"/>
          </a:p>
        </p:txBody>
      </p:sp>
      <p:sp>
        <p:nvSpPr>
          <p:cNvPr id="5" name="Shape 3"/>
          <p:cNvSpPr/>
          <p:nvPr/>
        </p:nvSpPr>
        <p:spPr>
          <a:xfrm>
            <a:off x="0" y="4956048"/>
            <a:ext cx="9144000" cy="182880"/>
          </a:xfrm>
          <a:prstGeom prst="rect">
            <a:avLst/>
          </a:prstGeom>
          <a:solidFill>
            <a:srgbClr val="1E293B"/>
          </a:solidFill>
          <a:ln w="12700">
            <a:solidFill>
              <a:srgbClr val="1E293B"/>
            </a:solidFill>
            <a:prstDash val="solid"/>
          </a:ln>
        </p:spPr>
      </p:sp>
      <p:sp>
        <p:nvSpPr>
          <p:cNvPr id="6" name="Text 4"/>
          <p:cNvSpPr/>
          <p:nvPr/>
        </p:nvSpPr>
        <p:spPr>
          <a:xfrm>
            <a:off x="0" y="4965192"/>
            <a:ext cx="9144000" cy="16459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Unit IV — Fundamentals of Cyber Forensics</a:t>
            </a:r>
            <a:endParaRPr lang="en-US" sz="900" dirty="0"/>
          </a:p>
        </p:txBody>
      </p:sp>
      <p:sp>
        <p:nvSpPr>
          <p:cNvPr id="7" name="Shape 5"/>
          <p:cNvSpPr/>
          <p:nvPr/>
        </p:nvSpPr>
        <p:spPr>
          <a:xfrm>
            <a:off x="411480" y="1051560"/>
            <a:ext cx="8321040" cy="822960"/>
          </a:xfrm>
          <a:prstGeom prst="rect">
            <a:avLst/>
          </a:prstGeom>
          <a:solidFill>
            <a:srgbClr val="0D1B2A"/>
          </a:solidFill>
          <a:ln w="12700">
            <a:solidFill>
              <a:srgbClr val="00D4FF"/>
            </a:solidFill>
            <a:prstDash val="solid"/>
          </a:ln>
        </p:spPr>
      </p:sp>
      <p:sp>
        <p:nvSpPr>
          <p:cNvPr id="8" name="Text 6"/>
          <p:cNvSpPr/>
          <p:nvPr/>
        </p:nvSpPr>
        <p:spPr>
          <a:xfrm>
            <a:off x="502920" y="1051560"/>
            <a:ext cx="8229600" cy="822960"/>
          </a:xfrm>
          <a:prstGeom prst="rect">
            <a:avLst/>
          </a:prstGeom>
          <a:noFill/>
          <a:ln/>
        </p:spPr>
        <p:txBody>
          <a:bodyPr wrap="square" rtlCol="0" anchor="ctr"/>
          <a:lstStyle/>
          <a:p>
            <a:pPr algn="ctr" indent="0" marL="0">
              <a:buNone/>
            </a:pPr>
            <a:r>
              <a:rPr lang="en-US" sz="1300" i="1" dirty="0">
                <a:solidFill>
                  <a:srgbClr val="E2E8F0"/>
                </a:solidFill>
                <a:latin typeface="Calibri" pitchFamily="34" charset="0"/>
                <a:ea typeface="Calibri" pitchFamily="34" charset="-122"/>
                <a:cs typeface="Calibri" pitchFamily="34" charset="-120"/>
              </a:rPr>
              <a:t>"Cyber Forensics is the application of scientific methods to identify, preserve, analyse, and present digital evidence in a legally acceptable manner."</a:t>
            </a:r>
            <a:endParaRPr lang="en-US" sz="1300" dirty="0"/>
          </a:p>
        </p:txBody>
      </p:sp>
      <p:sp>
        <p:nvSpPr>
          <p:cNvPr id="9" name="Shape 7"/>
          <p:cNvSpPr/>
          <p:nvPr/>
        </p:nvSpPr>
        <p:spPr>
          <a:xfrm>
            <a:off x="411480" y="1993392"/>
            <a:ext cx="2011680" cy="1234440"/>
          </a:xfrm>
          <a:prstGeom prst="rect">
            <a:avLst/>
          </a:prstGeom>
          <a:solidFill>
            <a:srgbClr val="1E293B"/>
          </a:solidFill>
          <a:ln w="12700">
            <a:solidFill>
              <a:srgbClr val="00D4FF"/>
            </a:solidFill>
            <a:prstDash val="solid"/>
          </a:ln>
        </p:spPr>
      </p:sp>
      <p:sp>
        <p:nvSpPr>
          <p:cNvPr id="10" name="Shape 8"/>
          <p:cNvSpPr/>
          <p:nvPr/>
        </p:nvSpPr>
        <p:spPr>
          <a:xfrm>
            <a:off x="411480" y="1993392"/>
            <a:ext cx="2011680" cy="384048"/>
          </a:xfrm>
          <a:prstGeom prst="rect">
            <a:avLst/>
          </a:prstGeom>
          <a:solidFill>
            <a:srgbClr val="00D4FF"/>
          </a:solidFill>
          <a:ln w="12700">
            <a:solidFill>
              <a:srgbClr val="00D4FF"/>
            </a:solidFill>
            <a:prstDash val="solid"/>
          </a:ln>
        </p:spPr>
      </p:sp>
      <p:sp>
        <p:nvSpPr>
          <p:cNvPr id="11" name="Text 9"/>
          <p:cNvSpPr/>
          <p:nvPr/>
        </p:nvSpPr>
        <p:spPr>
          <a:xfrm>
            <a:off x="411480" y="1993392"/>
            <a:ext cx="457200" cy="384048"/>
          </a:xfrm>
          <a:prstGeom prst="rect">
            <a:avLst/>
          </a:prstGeom>
          <a:noFill/>
          <a:ln/>
        </p:spPr>
        <p:txBody>
          <a:bodyPr wrap="square" lIns="0" tIns="0" rIns="0" bIns="0" rtlCol="0" anchor="ctr"/>
          <a:lstStyle/>
          <a:p>
            <a:pPr algn="ctr" indent="0" marL="0">
              <a:buNone/>
            </a:pPr>
            <a:r>
              <a:rPr lang="en-US" sz="2000" b="1" dirty="0">
                <a:solidFill>
                  <a:srgbClr val="0D1B2A"/>
                </a:solidFill>
                <a:latin typeface="Calibri" pitchFamily="34" charset="0"/>
                <a:ea typeface="Calibri" pitchFamily="34" charset="-122"/>
                <a:cs typeface="Calibri" pitchFamily="34" charset="-120"/>
              </a:rPr>
              <a:t>01</a:t>
            </a:r>
            <a:endParaRPr lang="en-US" sz="2000" dirty="0"/>
          </a:p>
        </p:txBody>
      </p:sp>
      <p:sp>
        <p:nvSpPr>
          <p:cNvPr id="12" name="Text 10"/>
          <p:cNvSpPr/>
          <p:nvPr/>
        </p:nvSpPr>
        <p:spPr>
          <a:xfrm>
            <a:off x="868680" y="1993392"/>
            <a:ext cx="1554480" cy="384048"/>
          </a:xfrm>
          <a:prstGeom prst="rect">
            <a:avLst/>
          </a:prstGeom>
          <a:noFill/>
          <a:ln/>
        </p:spPr>
        <p:txBody>
          <a:bodyPr wrap="square" lIns="50800" tIns="50800" rIns="50800" bIns="5080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IDENTIFY</a:t>
            </a:r>
            <a:endParaRPr lang="en-US" sz="1300" dirty="0"/>
          </a:p>
        </p:txBody>
      </p:sp>
      <p:sp>
        <p:nvSpPr>
          <p:cNvPr id="13" name="Text 11"/>
          <p:cNvSpPr/>
          <p:nvPr/>
        </p:nvSpPr>
        <p:spPr>
          <a:xfrm>
            <a:off x="502920" y="2414016"/>
            <a:ext cx="1828800" cy="76809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Find what digital evidence exists</a:t>
            </a:r>
            <a:endParaRPr lang="en-US" sz="1100" dirty="0"/>
          </a:p>
        </p:txBody>
      </p:sp>
      <p:sp>
        <p:nvSpPr>
          <p:cNvPr id="14" name="Shape 12"/>
          <p:cNvSpPr/>
          <p:nvPr/>
        </p:nvSpPr>
        <p:spPr>
          <a:xfrm>
            <a:off x="2514600" y="1993392"/>
            <a:ext cx="2011680" cy="1234440"/>
          </a:xfrm>
          <a:prstGeom prst="rect">
            <a:avLst/>
          </a:prstGeom>
          <a:solidFill>
            <a:srgbClr val="1E293B"/>
          </a:solidFill>
          <a:ln w="12700">
            <a:solidFill>
              <a:srgbClr val="7C3AED"/>
            </a:solidFill>
            <a:prstDash val="solid"/>
          </a:ln>
        </p:spPr>
      </p:sp>
      <p:sp>
        <p:nvSpPr>
          <p:cNvPr id="15" name="Shape 13"/>
          <p:cNvSpPr/>
          <p:nvPr/>
        </p:nvSpPr>
        <p:spPr>
          <a:xfrm>
            <a:off x="2514600" y="1993392"/>
            <a:ext cx="2011680" cy="384048"/>
          </a:xfrm>
          <a:prstGeom prst="rect">
            <a:avLst/>
          </a:prstGeom>
          <a:solidFill>
            <a:srgbClr val="7C3AED"/>
          </a:solidFill>
          <a:ln w="12700">
            <a:solidFill>
              <a:srgbClr val="7C3AED"/>
            </a:solidFill>
            <a:prstDash val="solid"/>
          </a:ln>
        </p:spPr>
      </p:sp>
      <p:sp>
        <p:nvSpPr>
          <p:cNvPr id="16" name="Text 14"/>
          <p:cNvSpPr/>
          <p:nvPr/>
        </p:nvSpPr>
        <p:spPr>
          <a:xfrm>
            <a:off x="2514600" y="1993392"/>
            <a:ext cx="457200" cy="384048"/>
          </a:xfrm>
          <a:prstGeom prst="rect">
            <a:avLst/>
          </a:prstGeom>
          <a:noFill/>
          <a:ln/>
        </p:spPr>
        <p:txBody>
          <a:bodyPr wrap="square" lIns="0" tIns="0" rIns="0" bIns="0" rtlCol="0" anchor="ctr"/>
          <a:lstStyle/>
          <a:p>
            <a:pPr algn="ctr" indent="0" marL="0">
              <a:buNone/>
            </a:pPr>
            <a:r>
              <a:rPr lang="en-US" sz="2000" b="1" dirty="0">
                <a:solidFill>
                  <a:srgbClr val="0D1B2A"/>
                </a:solidFill>
                <a:latin typeface="Calibri" pitchFamily="34" charset="0"/>
                <a:ea typeface="Calibri" pitchFamily="34" charset="-122"/>
                <a:cs typeface="Calibri" pitchFamily="34" charset="-120"/>
              </a:rPr>
              <a:t>02</a:t>
            </a:r>
            <a:endParaRPr lang="en-US" sz="2000" dirty="0"/>
          </a:p>
        </p:txBody>
      </p:sp>
      <p:sp>
        <p:nvSpPr>
          <p:cNvPr id="17" name="Text 15"/>
          <p:cNvSpPr/>
          <p:nvPr/>
        </p:nvSpPr>
        <p:spPr>
          <a:xfrm>
            <a:off x="2971800" y="1993392"/>
            <a:ext cx="1554480" cy="384048"/>
          </a:xfrm>
          <a:prstGeom prst="rect">
            <a:avLst/>
          </a:prstGeom>
          <a:noFill/>
          <a:ln/>
        </p:spPr>
        <p:txBody>
          <a:bodyPr wrap="square" lIns="50800" tIns="50800" rIns="50800" bIns="5080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PRESERVE</a:t>
            </a:r>
            <a:endParaRPr lang="en-US" sz="1300" dirty="0"/>
          </a:p>
        </p:txBody>
      </p:sp>
      <p:sp>
        <p:nvSpPr>
          <p:cNvPr id="18" name="Text 16"/>
          <p:cNvSpPr/>
          <p:nvPr/>
        </p:nvSpPr>
        <p:spPr>
          <a:xfrm>
            <a:off x="2606040" y="2414016"/>
            <a:ext cx="1828800" cy="76809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Image + hash. Never touch original.</a:t>
            </a:r>
            <a:endParaRPr lang="en-US" sz="1100" dirty="0"/>
          </a:p>
        </p:txBody>
      </p:sp>
      <p:sp>
        <p:nvSpPr>
          <p:cNvPr id="19" name="Shape 17"/>
          <p:cNvSpPr/>
          <p:nvPr/>
        </p:nvSpPr>
        <p:spPr>
          <a:xfrm>
            <a:off x="4617720" y="1993392"/>
            <a:ext cx="2011680" cy="1234440"/>
          </a:xfrm>
          <a:prstGeom prst="rect">
            <a:avLst/>
          </a:prstGeom>
          <a:solidFill>
            <a:srgbClr val="1E293B"/>
          </a:solidFill>
          <a:ln w="12700">
            <a:solidFill>
              <a:srgbClr val="10B981"/>
            </a:solidFill>
            <a:prstDash val="solid"/>
          </a:ln>
        </p:spPr>
      </p:sp>
      <p:sp>
        <p:nvSpPr>
          <p:cNvPr id="20" name="Shape 18"/>
          <p:cNvSpPr/>
          <p:nvPr/>
        </p:nvSpPr>
        <p:spPr>
          <a:xfrm>
            <a:off x="4617720" y="1993392"/>
            <a:ext cx="2011680" cy="384048"/>
          </a:xfrm>
          <a:prstGeom prst="rect">
            <a:avLst/>
          </a:prstGeom>
          <a:solidFill>
            <a:srgbClr val="10B981"/>
          </a:solidFill>
          <a:ln w="12700">
            <a:solidFill>
              <a:srgbClr val="10B981"/>
            </a:solidFill>
            <a:prstDash val="solid"/>
          </a:ln>
        </p:spPr>
      </p:sp>
      <p:sp>
        <p:nvSpPr>
          <p:cNvPr id="21" name="Text 19"/>
          <p:cNvSpPr/>
          <p:nvPr/>
        </p:nvSpPr>
        <p:spPr>
          <a:xfrm>
            <a:off x="4617720" y="1993392"/>
            <a:ext cx="457200" cy="384048"/>
          </a:xfrm>
          <a:prstGeom prst="rect">
            <a:avLst/>
          </a:prstGeom>
          <a:noFill/>
          <a:ln/>
        </p:spPr>
        <p:txBody>
          <a:bodyPr wrap="square" lIns="0" tIns="0" rIns="0" bIns="0" rtlCol="0" anchor="ctr"/>
          <a:lstStyle/>
          <a:p>
            <a:pPr algn="ctr" indent="0" marL="0">
              <a:buNone/>
            </a:pPr>
            <a:r>
              <a:rPr lang="en-US" sz="2000" b="1" dirty="0">
                <a:solidFill>
                  <a:srgbClr val="0D1B2A"/>
                </a:solidFill>
                <a:latin typeface="Calibri" pitchFamily="34" charset="0"/>
                <a:ea typeface="Calibri" pitchFamily="34" charset="-122"/>
                <a:cs typeface="Calibri" pitchFamily="34" charset="-120"/>
              </a:rPr>
              <a:t>03</a:t>
            </a:r>
            <a:endParaRPr lang="en-US" sz="2000" dirty="0"/>
          </a:p>
        </p:txBody>
      </p:sp>
      <p:sp>
        <p:nvSpPr>
          <p:cNvPr id="22" name="Text 20"/>
          <p:cNvSpPr/>
          <p:nvPr/>
        </p:nvSpPr>
        <p:spPr>
          <a:xfrm>
            <a:off x="5074920" y="1993392"/>
            <a:ext cx="1554480" cy="384048"/>
          </a:xfrm>
          <a:prstGeom prst="rect">
            <a:avLst/>
          </a:prstGeom>
          <a:noFill/>
          <a:ln/>
        </p:spPr>
        <p:txBody>
          <a:bodyPr wrap="square" lIns="50800" tIns="50800" rIns="50800" bIns="5080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ANALYSE</a:t>
            </a:r>
            <a:endParaRPr lang="en-US" sz="1300" dirty="0"/>
          </a:p>
        </p:txBody>
      </p:sp>
      <p:sp>
        <p:nvSpPr>
          <p:cNvPr id="23" name="Text 21"/>
          <p:cNvSpPr/>
          <p:nvPr/>
        </p:nvSpPr>
        <p:spPr>
          <a:xfrm>
            <a:off x="4709160" y="2414016"/>
            <a:ext cx="1828800" cy="76809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Use forensic tools on the copy only</a:t>
            </a:r>
            <a:endParaRPr lang="en-US" sz="1100" dirty="0"/>
          </a:p>
        </p:txBody>
      </p:sp>
      <p:sp>
        <p:nvSpPr>
          <p:cNvPr id="24" name="Shape 22"/>
          <p:cNvSpPr/>
          <p:nvPr/>
        </p:nvSpPr>
        <p:spPr>
          <a:xfrm>
            <a:off x="6720840" y="1993392"/>
            <a:ext cx="2011680" cy="1234440"/>
          </a:xfrm>
          <a:prstGeom prst="rect">
            <a:avLst/>
          </a:prstGeom>
          <a:solidFill>
            <a:srgbClr val="1E293B"/>
          </a:solidFill>
          <a:ln w="12700">
            <a:solidFill>
              <a:srgbClr val="F59E0B"/>
            </a:solidFill>
            <a:prstDash val="solid"/>
          </a:ln>
        </p:spPr>
      </p:sp>
      <p:sp>
        <p:nvSpPr>
          <p:cNvPr id="25" name="Shape 23"/>
          <p:cNvSpPr/>
          <p:nvPr/>
        </p:nvSpPr>
        <p:spPr>
          <a:xfrm>
            <a:off x="6720840" y="1993392"/>
            <a:ext cx="2011680" cy="384048"/>
          </a:xfrm>
          <a:prstGeom prst="rect">
            <a:avLst/>
          </a:prstGeom>
          <a:solidFill>
            <a:srgbClr val="F59E0B"/>
          </a:solidFill>
          <a:ln w="12700">
            <a:solidFill>
              <a:srgbClr val="F59E0B"/>
            </a:solidFill>
            <a:prstDash val="solid"/>
          </a:ln>
        </p:spPr>
      </p:sp>
      <p:sp>
        <p:nvSpPr>
          <p:cNvPr id="26" name="Text 24"/>
          <p:cNvSpPr/>
          <p:nvPr/>
        </p:nvSpPr>
        <p:spPr>
          <a:xfrm>
            <a:off x="6720840" y="1993392"/>
            <a:ext cx="457200" cy="384048"/>
          </a:xfrm>
          <a:prstGeom prst="rect">
            <a:avLst/>
          </a:prstGeom>
          <a:noFill/>
          <a:ln/>
        </p:spPr>
        <p:txBody>
          <a:bodyPr wrap="square" lIns="0" tIns="0" rIns="0" bIns="0" rtlCol="0" anchor="ctr"/>
          <a:lstStyle/>
          <a:p>
            <a:pPr algn="ctr" indent="0" marL="0">
              <a:buNone/>
            </a:pPr>
            <a:r>
              <a:rPr lang="en-US" sz="2000" b="1" dirty="0">
                <a:solidFill>
                  <a:srgbClr val="0D1B2A"/>
                </a:solidFill>
                <a:latin typeface="Calibri" pitchFamily="34" charset="0"/>
                <a:ea typeface="Calibri" pitchFamily="34" charset="-122"/>
                <a:cs typeface="Calibri" pitchFamily="34" charset="-120"/>
              </a:rPr>
              <a:t>04</a:t>
            </a:r>
            <a:endParaRPr lang="en-US" sz="2000" dirty="0"/>
          </a:p>
        </p:txBody>
      </p:sp>
      <p:sp>
        <p:nvSpPr>
          <p:cNvPr id="27" name="Text 25"/>
          <p:cNvSpPr/>
          <p:nvPr/>
        </p:nvSpPr>
        <p:spPr>
          <a:xfrm>
            <a:off x="7178040" y="1993392"/>
            <a:ext cx="1554480" cy="384048"/>
          </a:xfrm>
          <a:prstGeom prst="rect">
            <a:avLst/>
          </a:prstGeom>
          <a:noFill/>
          <a:ln/>
        </p:spPr>
        <p:txBody>
          <a:bodyPr wrap="square" lIns="50800" tIns="50800" rIns="50800" bIns="5080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PRESENT</a:t>
            </a:r>
            <a:endParaRPr lang="en-US" sz="1300" dirty="0"/>
          </a:p>
        </p:txBody>
      </p:sp>
      <p:sp>
        <p:nvSpPr>
          <p:cNvPr id="28" name="Text 26"/>
          <p:cNvSpPr/>
          <p:nvPr/>
        </p:nvSpPr>
        <p:spPr>
          <a:xfrm>
            <a:off x="6812280" y="2414016"/>
            <a:ext cx="1828800" cy="768096"/>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Write a court-admissible report</a:t>
            </a:r>
            <a:endParaRPr lang="en-US" sz="1100" dirty="0"/>
          </a:p>
        </p:txBody>
      </p:sp>
      <p:sp>
        <p:nvSpPr>
          <p:cNvPr id="29" name="Shape 27"/>
          <p:cNvSpPr/>
          <p:nvPr/>
        </p:nvSpPr>
        <p:spPr>
          <a:xfrm>
            <a:off x="411480" y="3337560"/>
            <a:ext cx="1371600" cy="731520"/>
          </a:xfrm>
          <a:prstGeom prst="rect">
            <a:avLst/>
          </a:prstGeom>
          <a:solidFill>
            <a:srgbClr val="1E293B"/>
          </a:solidFill>
          <a:ln w="6350">
            <a:solidFill>
              <a:srgbClr val="1A2332"/>
            </a:solidFill>
            <a:prstDash val="solid"/>
          </a:ln>
        </p:spPr>
      </p:sp>
      <p:pic>
        <p:nvPicPr>
          <p:cNvPr id="30" name="Image 0" descr="preencoded.png">    </p:cNvPr>
          <p:cNvPicPr>
            <a:picLocks noChangeAspect="1"/>
          </p:cNvPicPr>
          <p:nvPr/>
        </p:nvPicPr>
        <p:blipFill>
          <a:blip r:embed="rId1"/>
          <a:stretch>
            <a:fillRect/>
          </a:stretch>
        </p:blipFill>
        <p:spPr>
          <a:xfrm>
            <a:off x="502920" y="3447288"/>
            <a:ext cx="274320" cy="274320"/>
          </a:xfrm>
          <a:prstGeom prst="rect">
            <a:avLst/>
          </a:prstGeom>
        </p:spPr>
      </p:pic>
      <p:sp>
        <p:nvSpPr>
          <p:cNvPr id="31" name="Text 28"/>
          <p:cNvSpPr/>
          <p:nvPr/>
        </p:nvSpPr>
        <p:spPr>
          <a:xfrm>
            <a:off x="850392" y="3429000"/>
            <a:ext cx="914400" cy="320040"/>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Disk Forensics</a:t>
            </a:r>
            <a:endParaRPr lang="en-US" sz="1100" dirty="0"/>
          </a:p>
        </p:txBody>
      </p:sp>
      <p:sp>
        <p:nvSpPr>
          <p:cNvPr id="32" name="Text 29"/>
          <p:cNvSpPr/>
          <p:nvPr/>
        </p:nvSpPr>
        <p:spPr>
          <a:xfrm>
            <a:off x="502920" y="3758184"/>
            <a:ext cx="1207008"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Hard drives, SSDs, USB drives</a:t>
            </a:r>
            <a:endParaRPr lang="en-US" sz="1000" dirty="0"/>
          </a:p>
        </p:txBody>
      </p:sp>
      <p:sp>
        <p:nvSpPr>
          <p:cNvPr id="33" name="Shape 30"/>
          <p:cNvSpPr/>
          <p:nvPr/>
        </p:nvSpPr>
        <p:spPr>
          <a:xfrm>
            <a:off x="1874520" y="3337560"/>
            <a:ext cx="1371600" cy="731520"/>
          </a:xfrm>
          <a:prstGeom prst="rect">
            <a:avLst/>
          </a:prstGeom>
          <a:solidFill>
            <a:srgbClr val="1E293B"/>
          </a:solidFill>
          <a:ln w="6350">
            <a:solidFill>
              <a:srgbClr val="1A2332"/>
            </a:solidFill>
            <a:prstDash val="solid"/>
          </a:ln>
        </p:spPr>
      </p:sp>
      <p:pic>
        <p:nvPicPr>
          <p:cNvPr id="34" name="Image 1" descr="preencoded.png">    </p:cNvPr>
          <p:cNvPicPr>
            <a:picLocks noChangeAspect="1"/>
          </p:cNvPicPr>
          <p:nvPr/>
        </p:nvPicPr>
        <p:blipFill>
          <a:blip r:embed="rId2"/>
          <a:stretch>
            <a:fillRect/>
          </a:stretch>
        </p:blipFill>
        <p:spPr>
          <a:xfrm>
            <a:off x="1965960" y="3447288"/>
            <a:ext cx="274320" cy="274320"/>
          </a:xfrm>
          <a:prstGeom prst="rect">
            <a:avLst/>
          </a:prstGeom>
        </p:spPr>
      </p:pic>
      <p:sp>
        <p:nvSpPr>
          <p:cNvPr id="35" name="Text 31"/>
          <p:cNvSpPr/>
          <p:nvPr/>
        </p:nvSpPr>
        <p:spPr>
          <a:xfrm>
            <a:off x="2313432" y="3429000"/>
            <a:ext cx="914400" cy="320040"/>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Network Forensics</a:t>
            </a:r>
            <a:endParaRPr lang="en-US" sz="1100" dirty="0"/>
          </a:p>
        </p:txBody>
      </p:sp>
      <p:sp>
        <p:nvSpPr>
          <p:cNvPr id="36" name="Text 32"/>
          <p:cNvSpPr/>
          <p:nvPr/>
        </p:nvSpPr>
        <p:spPr>
          <a:xfrm>
            <a:off x="1965960" y="3758184"/>
            <a:ext cx="1207008"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Traffic captures, router logs</a:t>
            </a:r>
            <a:endParaRPr lang="en-US" sz="1000" dirty="0"/>
          </a:p>
        </p:txBody>
      </p:sp>
      <p:sp>
        <p:nvSpPr>
          <p:cNvPr id="37" name="Shape 33"/>
          <p:cNvSpPr/>
          <p:nvPr/>
        </p:nvSpPr>
        <p:spPr>
          <a:xfrm>
            <a:off x="3337560" y="3337560"/>
            <a:ext cx="1371600" cy="731520"/>
          </a:xfrm>
          <a:prstGeom prst="rect">
            <a:avLst/>
          </a:prstGeom>
          <a:solidFill>
            <a:srgbClr val="1E293B"/>
          </a:solidFill>
          <a:ln w="6350">
            <a:solidFill>
              <a:srgbClr val="1A2332"/>
            </a:solidFill>
            <a:prstDash val="solid"/>
          </a:ln>
        </p:spPr>
      </p:sp>
      <p:pic>
        <p:nvPicPr>
          <p:cNvPr id="38" name="Image 2" descr="preencoded.png">    </p:cNvPr>
          <p:cNvPicPr>
            <a:picLocks noChangeAspect="1"/>
          </p:cNvPicPr>
          <p:nvPr/>
        </p:nvPicPr>
        <p:blipFill>
          <a:blip r:embed="rId3"/>
          <a:stretch>
            <a:fillRect/>
          </a:stretch>
        </p:blipFill>
        <p:spPr>
          <a:xfrm>
            <a:off x="3429000" y="3447288"/>
            <a:ext cx="274320" cy="274320"/>
          </a:xfrm>
          <a:prstGeom prst="rect">
            <a:avLst/>
          </a:prstGeom>
        </p:spPr>
      </p:pic>
      <p:sp>
        <p:nvSpPr>
          <p:cNvPr id="39" name="Text 34"/>
          <p:cNvSpPr/>
          <p:nvPr/>
        </p:nvSpPr>
        <p:spPr>
          <a:xfrm>
            <a:off x="3776472" y="3429000"/>
            <a:ext cx="914400" cy="32004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Memory Forensics</a:t>
            </a:r>
            <a:endParaRPr lang="en-US" sz="1100" dirty="0"/>
          </a:p>
        </p:txBody>
      </p:sp>
      <p:sp>
        <p:nvSpPr>
          <p:cNvPr id="40" name="Text 35"/>
          <p:cNvSpPr/>
          <p:nvPr/>
        </p:nvSpPr>
        <p:spPr>
          <a:xfrm>
            <a:off x="3429000" y="3758184"/>
            <a:ext cx="1207008"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RAM — volatile data</a:t>
            </a:r>
            <a:endParaRPr lang="en-US" sz="1000" dirty="0"/>
          </a:p>
        </p:txBody>
      </p:sp>
      <p:sp>
        <p:nvSpPr>
          <p:cNvPr id="41" name="Shape 36"/>
          <p:cNvSpPr/>
          <p:nvPr/>
        </p:nvSpPr>
        <p:spPr>
          <a:xfrm>
            <a:off x="411480" y="4142232"/>
            <a:ext cx="1371600" cy="731520"/>
          </a:xfrm>
          <a:prstGeom prst="rect">
            <a:avLst/>
          </a:prstGeom>
          <a:solidFill>
            <a:srgbClr val="1E293B"/>
          </a:solidFill>
          <a:ln w="6350">
            <a:solidFill>
              <a:srgbClr val="1A2332"/>
            </a:solidFill>
            <a:prstDash val="solid"/>
          </a:ln>
        </p:spPr>
      </p:sp>
      <p:pic>
        <p:nvPicPr>
          <p:cNvPr id="42" name="Image 3" descr="preencoded.png">    </p:cNvPr>
          <p:cNvPicPr>
            <a:picLocks noChangeAspect="1"/>
          </p:cNvPicPr>
          <p:nvPr/>
        </p:nvPicPr>
        <p:blipFill>
          <a:blip r:embed="rId4"/>
          <a:stretch>
            <a:fillRect/>
          </a:stretch>
        </p:blipFill>
        <p:spPr>
          <a:xfrm>
            <a:off x="502920" y="4251960"/>
            <a:ext cx="274320" cy="274320"/>
          </a:xfrm>
          <a:prstGeom prst="rect">
            <a:avLst/>
          </a:prstGeom>
        </p:spPr>
      </p:pic>
      <p:sp>
        <p:nvSpPr>
          <p:cNvPr id="43" name="Text 37"/>
          <p:cNvSpPr/>
          <p:nvPr/>
        </p:nvSpPr>
        <p:spPr>
          <a:xfrm>
            <a:off x="850392" y="4233672"/>
            <a:ext cx="914400" cy="32004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Mobile Forensics</a:t>
            </a:r>
            <a:endParaRPr lang="en-US" sz="1100" dirty="0"/>
          </a:p>
        </p:txBody>
      </p:sp>
      <p:sp>
        <p:nvSpPr>
          <p:cNvPr id="44" name="Text 38"/>
          <p:cNvSpPr/>
          <p:nvPr/>
        </p:nvSpPr>
        <p:spPr>
          <a:xfrm>
            <a:off x="502920" y="4562856"/>
            <a:ext cx="1207008"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Phones and tablets</a:t>
            </a:r>
            <a:endParaRPr lang="en-US" sz="1000" dirty="0"/>
          </a:p>
        </p:txBody>
      </p:sp>
      <p:sp>
        <p:nvSpPr>
          <p:cNvPr id="45" name="Shape 39"/>
          <p:cNvSpPr/>
          <p:nvPr/>
        </p:nvSpPr>
        <p:spPr>
          <a:xfrm>
            <a:off x="1874520" y="4142232"/>
            <a:ext cx="1371600" cy="731520"/>
          </a:xfrm>
          <a:prstGeom prst="rect">
            <a:avLst/>
          </a:prstGeom>
          <a:solidFill>
            <a:srgbClr val="1E293B"/>
          </a:solidFill>
          <a:ln w="6350">
            <a:solidFill>
              <a:srgbClr val="1A2332"/>
            </a:solidFill>
            <a:prstDash val="solid"/>
          </a:ln>
        </p:spPr>
      </p:sp>
      <p:pic>
        <p:nvPicPr>
          <p:cNvPr id="46" name="Image 4" descr="preencoded.png">    </p:cNvPr>
          <p:cNvPicPr>
            <a:picLocks noChangeAspect="1"/>
          </p:cNvPicPr>
          <p:nvPr/>
        </p:nvPicPr>
        <p:blipFill>
          <a:blip r:embed="rId5"/>
          <a:stretch>
            <a:fillRect/>
          </a:stretch>
        </p:blipFill>
        <p:spPr>
          <a:xfrm>
            <a:off x="1965960" y="4251960"/>
            <a:ext cx="274320" cy="274320"/>
          </a:xfrm>
          <a:prstGeom prst="rect">
            <a:avLst/>
          </a:prstGeom>
        </p:spPr>
      </p:pic>
      <p:sp>
        <p:nvSpPr>
          <p:cNvPr id="47" name="Text 40"/>
          <p:cNvSpPr/>
          <p:nvPr/>
        </p:nvSpPr>
        <p:spPr>
          <a:xfrm>
            <a:off x="2313432" y="4233672"/>
            <a:ext cx="914400" cy="320040"/>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Malware Forensics</a:t>
            </a:r>
            <a:endParaRPr lang="en-US" sz="1100" dirty="0"/>
          </a:p>
        </p:txBody>
      </p:sp>
      <p:sp>
        <p:nvSpPr>
          <p:cNvPr id="48" name="Text 41"/>
          <p:cNvSpPr/>
          <p:nvPr/>
        </p:nvSpPr>
        <p:spPr>
          <a:xfrm>
            <a:off x="1965960" y="4562856"/>
            <a:ext cx="1207008"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Reverse engineer malicious code</a:t>
            </a:r>
            <a:endParaRPr lang="en-US" sz="1000" dirty="0"/>
          </a:p>
        </p:txBody>
      </p:sp>
      <p:sp>
        <p:nvSpPr>
          <p:cNvPr id="49" name="Shape 42"/>
          <p:cNvSpPr/>
          <p:nvPr/>
        </p:nvSpPr>
        <p:spPr>
          <a:xfrm>
            <a:off x="3337560" y="4142232"/>
            <a:ext cx="1371600" cy="731520"/>
          </a:xfrm>
          <a:prstGeom prst="rect">
            <a:avLst/>
          </a:prstGeom>
          <a:solidFill>
            <a:srgbClr val="1E293B"/>
          </a:solidFill>
          <a:ln w="6350">
            <a:solidFill>
              <a:srgbClr val="1A2332"/>
            </a:solidFill>
            <a:prstDash val="solid"/>
          </a:ln>
        </p:spPr>
      </p:sp>
      <p:pic>
        <p:nvPicPr>
          <p:cNvPr id="50" name="Image 5" descr="preencoded.png">    </p:cNvPr>
          <p:cNvPicPr>
            <a:picLocks noChangeAspect="1"/>
          </p:cNvPicPr>
          <p:nvPr/>
        </p:nvPicPr>
        <p:blipFill>
          <a:blip r:embed="rId6"/>
          <a:stretch>
            <a:fillRect/>
          </a:stretch>
        </p:blipFill>
        <p:spPr>
          <a:xfrm>
            <a:off x="3429000" y="4251960"/>
            <a:ext cx="274320" cy="274320"/>
          </a:xfrm>
          <a:prstGeom prst="rect">
            <a:avLst/>
          </a:prstGeom>
        </p:spPr>
      </p:pic>
      <p:sp>
        <p:nvSpPr>
          <p:cNvPr id="51" name="Text 43"/>
          <p:cNvSpPr/>
          <p:nvPr/>
        </p:nvSpPr>
        <p:spPr>
          <a:xfrm>
            <a:off x="3776472" y="4233672"/>
            <a:ext cx="914400" cy="320040"/>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Legal Context</a:t>
            </a:r>
            <a:endParaRPr lang="en-US" sz="1100" dirty="0"/>
          </a:p>
        </p:txBody>
      </p:sp>
      <p:sp>
        <p:nvSpPr>
          <p:cNvPr id="52" name="Text 44"/>
          <p:cNvSpPr/>
          <p:nvPr/>
        </p:nvSpPr>
        <p:spPr>
          <a:xfrm>
            <a:off x="3429000" y="4562856"/>
            <a:ext cx="1207008"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Admissibility and chain of custody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w="12700">
            <a:solidFill>
              <a:srgbClr val="00D4FF"/>
            </a:solidFill>
            <a:prstDash val="solid"/>
          </a:ln>
        </p:spPr>
      </p:sp>
      <p:sp>
        <p:nvSpPr>
          <p:cNvPr id="3" name="Text 1"/>
          <p:cNvSpPr/>
          <p:nvPr/>
        </p:nvSpPr>
        <p:spPr>
          <a:xfrm>
            <a:off x="411480" y="128016"/>
            <a:ext cx="832104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Storage Fundamentals</a:t>
            </a:r>
            <a:endParaRPr lang="en-US" sz="2800" dirty="0"/>
          </a:p>
        </p:txBody>
      </p:sp>
      <p:sp>
        <p:nvSpPr>
          <p:cNvPr id="4" name="Text 2"/>
          <p:cNvSpPr/>
          <p:nvPr/>
        </p:nvSpPr>
        <p:spPr>
          <a:xfrm>
            <a:off x="411480" y="658368"/>
            <a:ext cx="8321040" cy="256032"/>
          </a:xfrm>
          <a:prstGeom prst="rect">
            <a:avLst/>
          </a:prstGeom>
          <a:noFill/>
          <a:ln/>
        </p:spPr>
        <p:txBody>
          <a:bodyPr wrap="square" lIns="0" tIns="0" rIns="0" bIns="0" rtlCol="0" anchor="ctr"/>
          <a:lstStyle/>
          <a:p>
            <a:pPr indent="0" marL="0">
              <a:buNone/>
            </a:pPr>
            <a:r>
              <a:rPr lang="en-US" sz="1200" dirty="0">
                <a:solidFill>
                  <a:srgbClr val="00D4FF"/>
                </a:solidFill>
                <a:latin typeface="Calibri" pitchFamily="34" charset="0"/>
                <a:ea typeface="Calibri" pitchFamily="34" charset="-122"/>
                <a:cs typeface="Calibri" pitchFamily="34" charset="-120"/>
              </a:rPr>
              <a:t>How computers physically store data — and why that matters for forensics</a:t>
            </a:r>
            <a:endParaRPr lang="en-US" sz="1200" dirty="0"/>
          </a:p>
        </p:txBody>
      </p:sp>
      <p:sp>
        <p:nvSpPr>
          <p:cNvPr id="5" name="Shape 3"/>
          <p:cNvSpPr/>
          <p:nvPr/>
        </p:nvSpPr>
        <p:spPr>
          <a:xfrm>
            <a:off x="0" y="4956048"/>
            <a:ext cx="9144000" cy="182880"/>
          </a:xfrm>
          <a:prstGeom prst="rect">
            <a:avLst/>
          </a:prstGeom>
          <a:solidFill>
            <a:srgbClr val="1E293B"/>
          </a:solidFill>
          <a:ln w="12700">
            <a:solidFill>
              <a:srgbClr val="1E293B"/>
            </a:solidFill>
            <a:prstDash val="solid"/>
          </a:ln>
        </p:spPr>
      </p:sp>
      <p:sp>
        <p:nvSpPr>
          <p:cNvPr id="6" name="Text 4"/>
          <p:cNvSpPr/>
          <p:nvPr/>
        </p:nvSpPr>
        <p:spPr>
          <a:xfrm>
            <a:off x="0" y="4965192"/>
            <a:ext cx="9144000" cy="16459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Unit IV — Fundamentals of Cyber Forensics</a:t>
            </a:r>
            <a:endParaRPr lang="en-US" sz="900" dirty="0"/>
          </a:p>
        </p:txBody>
      </p:sp>
      <p:sp>
        <p:nvSpPr>
          <p:cNvPr id="7" name="Shape 5"/>
          <p:cNvSpPr/>
          <p:nvPr/>
        </p:nvSpPr>
        <p:spPr>
          <a:xfrm>
            <a:off x="411480" y="1005840"/>
            <a:ext cx="4069080" cy="3429000"/>
          </a:xfrm>
          <a:prstGeom prst="rect">
            <a:avLst/>
          </a:prstGeom>
          <a:solidFill>
            <a:srgbClr val="1E293B"/>
          </a:solidFill>
          <a:ln w="12700">
            <a:solidFill>
              <a:srgbClr val="00D4FF"/>
            </a:solidFill>
            <a:prstDash val="solid"/>
          </a:ln>
        </p:spPr>
      </p:sp>
      <p:sp>
        <p:nvSpPr>
          <p:cNvPr id="8" name="Shape 6"/>
          <p:cNvSpPr/>
          <p:nvPr/>
        </p:nvSpPr>
        <p:spPr>
          <a:xfrm>
            <a:off x="411480" y="1005840"/>
            <a:ext cx="4069080" cy="384048"/>
          </a:xfrm>
          <a:prstGeom prst="rect">
            <a:avLst/>
          </a:prstGeom>
          <a:solidFill>
            <a:srgbClr val="00D4FF"/>
          </a:solidFill>
          <a:ln w="12700">
            <a:solidFill>
              <a:srgbClr val="00D4FF"/>
            </a:solidFill>
            <a:prstDash val="solid"/>
          </a:ln>
        </p:spPr>
      </p:sp>
      <p:pic>
        <p:nvPicPr>
          <p:cNvPr id="9" name="Image 0" descr="preencoded.png">    </p:cNvPr>
          <p:cNvPicPr>
            <a:picLocks noChangeAspect="1"/>
          </p:cNvPicPr>
          <p:nvPr/>
        </p:nvPicPr>
        <p:blipFill>
          <a:blip r:embed="rId1"/>
          <a:stretch>
            <a:fillRect/>
          </a:stretch>
        </p:blipFill>
        <p:spPr>
          <a:xfrm>
            <a:off x="457200" y="1024128"/>
            <a:ext cx="320040" cy="320040"/>
          </a:xfrm>
          <a:prstGeom prst="rect">
            <a:avLst/>
          </a:prstGeom>
        </p:spPr>
      </p:pic>
      <p:sp>
        <p:nvSpPr>
          <p:cNvPr id="10" name="Text 7"/>
          <p:cNvSpPr/>
          <p:nvPr/>
        </p:nvSpPr>
        <p:spPr>
          <a:xfrm>
            <a:off x="841248" y="1024128"/>
            <a:ext cx="3566160" cy="347472"/>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HDD Anatomy</a:t>
            </a:r>
            <a:endParaRPr lang="en-US" sz="1400" dirty="0"/>
          </a:p>
        </p:txBody>
      </p:sp>
      <p:sp>
        <p:nvSpPr>
          <p:cNvPr id="11" name="Shape 8"/>
          <p:cNvSpPr/>
          <p:nvPr/>
        </p:nvSpPr>
        <p:spPr>
          <a:xfrm>
            <a:off x="502920" y="1481328"/>
            <a:ext cx="822960" cy="329184"/>
          </a:xfrm>
          <a:prstGeom prst="rect">
            <a:avLst/>
          </a:prstGeom>
          <a:solidFill>
            <a:srgbClr val="00D4FF"/>
          </a:solidFill>
          <a:ln w="12700">
            <a:solidFill>
              <a:srgbClr val="00D4FF"/>
            </a:solidFill>
            <a:prstDash val="solid"/>
          </a:ln>
        </p:spPr>
      </p:sp>
      <p:sp>
        <p:nvSpPr>
          <p:cNvPr id="12" name="Text 9"/>
          <p:cNvSpPr/>
          <p:nvPr/>
        </p:nvSpPr>
        <p:spPr>
          <a:xfrm>
            <a:off x="502920" y="1481328"/>
            <a:ext cx="822960" cy="329184"/>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Platter</a:t>
            </a:r>
            <a:endParaRPr lang="en-US" sz="1100" dirty="0"/>
          </a:p>
        </p:txBody>
      </p:sp>
      <p:sp>
        <p:nvSpPr>
          <p:cNvPr id="13" name="Text 10"/>
          <p:cNvSpPr/>
          <p:nvPr/>
        </p:nvSpPr>
        <p:spPr>
          <a:xfrm>
            <a:off x="1389888" y="1481328"/>
            <a:ext cx="2926080" cy="329184"/>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Spinning magnetic disk (1–5 per drive)</a:t>
            </a:r>
            <a:endParaRPr lang="en-US" sz="1100" dirty="0"/>
          </a:p>
        </p:txBody>
      </p:sp>
      <p:sp>
        <p:nvSpPr>
          <p:cNvPr id="14" name="Shape 11"/>
          <p:cNvSpPr/>
          <p:nvPr/>
        </p:nvSpPr>
        <p:spPr>
          <a:xfrm>
            <a:off x="502920" y="1965960"/>
            <a:ext cx="822960" cy="329184"/>
          </a:xfrm>
          <a:prstGeom prst="rect">
            <a:avLst/>
          </a:prstGeom>
          <a:solidFill>
            <a:srgbClr val="00D4FF"/>
          </a:solidFill>
          <a:ln w="12700">
            <a:solidFill>
              <a:srgbClr val="00D4FF"/>
            </a:solidFill>
            <a:prstDash val="solid"/>
          </a:ln>
        </p:spPr>
      </p:sp>
      <p:sp>
        <p:nvSpPr>
          <p:cNvPr id="15" name="Text 12"/>
          <p:cNvSpPr/>
          <p:nvPr/>
        </p:nvSpPr>
        <p:spPr>
          <a:xfrm>
            <a:off x="502920" y="1965960"/>
            <a:ext cx="822960" cy="329184"/>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Track</a:t>
            </a:r>
            <a:endParaRPr lang="en-US" sz="1100" dirty="0"/>
          </a:p>
        </p:txBody>
      </p:sp>
      <p:sp>
        <p:nvSpPr>
          <p:cNvPr id="16" name="Text 13"/>
          <p:cNvSpPr/>
          <p:nvPr/>
        </p:nvSpPr>
        <p:spPr>
          <a:xfrm>
            <a:off x="1389888" y="1965960"/>
            <a:ext cx="2926080" cy="329184"/>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Concentric ring on platter</a:t>
            </a:r>
            <a:endParaRPr lang="en-US" sz="1100" dirty="0"/>
          </a:p>
        </p:txBody>
      </p:sp>
      <p:sp>
        <p:nvSpPr>
          <p:cNvPr id="17" name="Shape 14"/>
          <p:cNvSpPr/>
          <p:nvPr/>
        </p:nvSpPr>
        <p:spPr>
          <a:xfrm>
            <a:off x="502920" y="2450592"/>
            <a:ext cx="822960" cy="329184"/>
          </a:xfrm>
          <a:prstGeom prst="rect">
            <a:avLst/>
          </a:prstGeom>
          <a:solidFill>
            <a:srgbClr val="00D4FF"/>
          </a:solidFill>
          <a:ln w="12700">
            <a:solidFill>
              <a:srgbClr val="00D4FF"/>
            </a:solidFill>
            <a:prstDash val="solid"/>
          </a:ln>
        </p:spPr>
      </p:sp>
      <p:sp>
        <p:nvSpPr>
          <p:cNvPr id="18" name="Text 15"/>
          <p:cNvSpPr/>
          <p:nvPr/>
        </p:nvSpPr>
        <p:spPr>
          <a:xfrm>
            <a:off x="502920" y="2450592"/>
            <a:ext cx="822960" cy="329184"/>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Sector</a:t>
            </a:r>
            <a:endParaRPr lang="en-US" sz="1100" dirty="0"/>
          </a:p>
        </p:txBody>
      </p:sp>
      <p:sp>
        <p:nvSpPr>
          <p:cNvPr id="19" name="Text 16"/>
          <p:cNvSpPr/>
          <p:nvPr/>
        </p:nvSpPr>
        <p:spPr>
          <a:xfrm>
            <a:off x="1389888" y="2450592"/>
            <a:ext cx="2926080" cy="329184"/>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512 bytes — smallest addressable unit</a:t>
            </a:r>
            <a:endParaRPr lang="en-US" sz="1100" dirty="0"/>
          </a:p>
        </p:txBody>
      </p:sp>
      <p:sp>
        <p:nvSpPr>
          <p:cNvPr id="20" name="Shape 17"/>
          <p:cNvSpPr/>
          <p:nvPr/>
        </p:nvSpPr>
        <p:spPr>
          <a:xfrm>
            <a:off x="502920" y="2935224"/>
            <a:ext cx="822960" cy="329184"/>
          </a:xfrm>
          <a:prstGeom prst="rect">
            <a:avLst/>
          </a:prstGeom>
          <a:solidFill>
            <a:srgbClr val="00D4FF"/>
          </a:solidFill>
          <a:ln w="12700">
            <a:solidFill>
              <a:srgbClr val="00D4FF"/>
            </a:solidFill>
            <a:prstDash val="solid"/>
          </a:ln>
        </p:spPr>
      </p:sp>
      <p:sp>
        <p:nvSpPr>
          <p:cNvPr id="21" name="Text 18"/>
          <p:cNvSpPr/>
          <p:nvPr/>
        </p:nvSpPr>
        <p:spPr>
          <a:xfrm>
            <a:off x="502920" y="2935224"/>
            <a:ext cx="822960" cy="329184"/>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Cluster</a:t>
            </a:r>
            <a:endParaRPr lang="en-US" sz="1100" dirty="0"/>
          </a:p>
        </p:txBody>
      </p:sp>
      <p:sp>
        <p:nvSpPr>
          <p:cNvPr id="22" name="Text 19"/>
          <p:cNvSpPr/>
          <p:nvPr/>
        </p:nvSpPr>
        <p:spPr>
          <a:xfrm>
            <a:off x="1389888" y="2935224"/>
            <a:ext cx="2926080" cy="329184"/>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Group of sectors — OS allocation unit</a:t>
            </a:r>
            <a:endParaRPr lang="en-US" sz="1100" dirty="0"/>
          </a:p>
        </p:txBody>
      </p:sp>
      <p:sp>
        <p:nvSpPr>
          <p:cNvPr id="23" name="Shape 20"/>
          <p:cNvSpPr/>
          <p:nvPr/>
        </p:nvSpPr>
        <p:spPr>
          <a:xfrm>
            <a:off x="502920" y="3419856"/>
            <a:ext cx="822960" cy="329184"/>
          </a:xfrm>
          <a:prstGeom prst="rect">
            <a:avLst/>
          </a:prstGeom>
          <a:solidFill>
            <a:srgbClr val="00D4FF"/>
          </a:solidFill>
          <a:ln w="12700">
            <a:solidFill>
              <a:srgbClr val="00D4FF"/>
            </a:solidFill>
            <a:prstDash val="solid"/>
          </a:ln>
        </p:spPr>
      </p:sp>
      <p:sp>
        <p:nvSpPr>
          <p:cNvPr id="24" name="Text 21"/>
          <p:cNvSpPr/>
          <p:nvPr/>
        </p:nvSpPr>
        <p:spPr>
          <a:xfrm>
            <a:off x="502920" y="3419856"/>
            <a:ext cx="822960" cy="329184"/>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Cylinder</a:t>
            </a:r>
            <a:endParaRPr lang="en-US" sz="1100" dirty="0"/>
          </a:p>
        </p:txBody>
      </p:sp>
      <p:sp>
        <p:nvSpPr>
          <p:cNvPr id="25" name="Text 22"/>
          <p:cNvSpPr/>
          <p:nvPr/>
        </p:nvSpPr>
        <p:spPr>
          <a:xfrm>
            <a:off x="1389888" y="3419856"/>
            <a:ext cx="2926080" cy="329184"/>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Same track number across all platters</a:t>
            </a:r>
            <a:endParaRPr lang="en-US" sz="1100" dirty="0"/>
          </a:p>
        </p:txBody>
      </p:sp>
      <p:sp>
        <p:nvSpPr>
          <p:cNvPr id="26" name="Shape 23"/>
          <p:cNvSpPr/>
          <p:nvPr/>
        </p:nvSpPr>
        <p:spPr>
          <a:xfrm>
            <a:off x="4663440" y="1005840"/>
            <a:ext cx="4069080" cy="1737360"/>
          </a:xfrm>
          <a:prstGeom prst="rect">
            <a:avLst/>
          </a:prstGeom>
          <a:solidFill>
            <a:srgbClr val="1E293B"/>
          </a:solidFill>
          <a:ln w="12700">
            <a:solidFill>
              <a:srgbClr val="EF4444"/>
            </a:solidFill>
            <a:prstDash val="solid"/>
          </a:ln>
        </p:spPr>
      </p:sp>
      <p:sp>
        <p:nvSpPr>
          <p:cNvPr id="27" name="Shape 24"/>
          <p:cNvSpPr/>
          <p:nvPr/>
        </p:nvSpPr>
        <p:spPr>
          <a:xfrm>
            <a:off x="4663440" y="1005840"/>
            <a:ext cx="4069080" cy="384048"/>
          </a:xfrm>
          <a:prstGeom prst="rect">
            <a:avLst/>
          </a:prstGeom>
          <a:solidFill>
            <a:srgbClr val="EF4444"/>
          </a:solidFill>
          <a:ln w="12700">
            <a:solidFill>
              <a:srgbClr val="EF4444"/>
            </a:solidFill>
            <a:prstDash val="solid"/>
          </a:ln>
        </p:spPr>
      </p:sp>
      <p:sp>
        <p:nvSpPr>
          <p:cNvPr id="28" name="Text 25"/>
          <p:cNvSpPr/>
          <p:nvPr/>
        </p:nvSpPr>
        <p:spPr>
          <a:xfrm>
            <a:off x="4736592" y="1024128"/>
            <a:ext cx="393192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SSD vs HDD — Forensics Perspective</a:t>
            </a:r>
            <a:endParaRPr lang="en-US" sz="1300" dirty="0"/>
          </a:p>
        </p:txBody>
      </p:sp>
      <p:sp>
        <p:nvSpPr>
          <p:cNvPr id="29" name="Text 26"/>
          <p:cNvSpPr/>
          <p:nvPr/>
        </p:nvSpPr>
        <p:spPr>
          <a:xfrm>
            <a:off x="4736592" y="1481328"/>
            <a:ext cx="146304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Data after delete</a:t>
            </a:r>
            <a:endParaRPr lang="en-US" sz="1000" dirty="0"/>
          </a:p>
        </p:txBody>
      </p:sp>
      <p:sp>
        <p:nvSpPr>
          <p:cNvPr id="30" name="Text 27"/>
          <p:cNvSpPr/>
          <p:nvPr/>
        </p:nvSpPr>
        <p:spPr>
          <a:xfrm>
            <a:off x="6236208" y="1481328"/>
            <a:ext cx="1188720" cy="347472"/>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Stays in sectors</a:t>
            </a:r>
            <a:endParaRPr lang="en-US" sz="1000" dirty="0"/>
          </a:p>
        </p:txBody>
      </p:sp>
      <p:sp>
        <p:nvSpPr>
          <p:cNvPr id="31" name="Text 28"/>
          <p:cNvSpPr/>
          <p:nvPr/>
        </p:nvSpPr>
        <p:spPr>
          <a:xfrm>
            <a:off x="7461504" y="1481328"/>
            <a:ext cx="1188720" cy="347472"/>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TRIM may erase immediately</a:t>
            </a:r>
            <a:endParaRPr lang="en-US" sz="1000" dirty="0"/>
          </a:p>
        </p:txBody>
      </p:sp>
      <p:sp>
        <p:nvSpPr>
          <p:cNvPr id="32" name="Text 29"/>
          <p:cNvSpPr/>
          <p:nvPr/>
        </p:nvSpPr>
        <p:spPr>
          <a:xfrm>
            <a:off x="4736592" y="1883664"/>
            <a:ext cx="146304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Recovery ease</a:t>
            </a:r>
            <a:endParaRPr lang="en-US" sz="1000" dirty="0"/>
          </a:p>
        </p:txBody>
      </p:sp>
      <p:sp>
        <p:nvSpPr>
          <p:cNvPr id="33" name="Text 30"/>
          <p:cNvSpPr/>
          <p:nvPr/>
        </p:nvSpPr>
        <p:spPr>
          <a:xfrm>
            <a:off x="6236208" y="1883664"/>
            <a:ext cx="1188720" cy="347472"/>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High  ✓</a:t>
            </a:r>
            <a:endParaRPr lang="en-US" sz="1000" dirty="0"/>
          </a:p>
        </p:txBody>
      </p:sp>
      <p:sp>
        <p:nvSpPr>
          <p:cNvPr id="34" name="Text 31"/>
          <p:cNvSpPr/>
          <p:nvPr/>
        </p:nvSpPr>
        <p:spPr>
          <a:xfrm>
            <a:off x="7461504" y="1883664"/>
            <a:ext cx="1188720" cy="347472"/>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Low  ✗</a:t>
            </a:r>
            <a:endParaRPr lang="en-US" sz="1000" dirty="0"/>
          </a:p>
        </p:txBody>
      </p:sp>
      <p:sp>
        <p:nvSpPr>
          <p:cNvPr id="35" name="Text 32"/>
          <p:cNvSpPr/>
          <p:nvPr/>
        </p:nvSpPr>
        <p:spPr>
          <a:xfrm>
            <a:off x="4736592" y="2286000"/>
            <a:ext cx="146304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Data carving</a:t>
            </a:r>
            <a:endParaRPr lang="en-US" sz="1000" dirty="0"/>
          </a:p>
        </p:txBody>
      </p:sp>
      <p:sp>
        <p:nvSpPr>
          <p:cNvPr id="36" name="Text 33"/>
          <p:cNvSpPr/>
          <p:nvPr/>
        </p:nvSpPr>
        <p:spPr>
          <a:xfrm>
            <a:off x="6236208" y="2286000"/>
            <a:ext cx="1188720" cy="347472"/>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Very effective</a:t>
            </a:r>
            <a:endParaRPr lang="en-US" sz="1000" dirty="0"/>
          </a:p>
        </p:txBody>
      </p:sp>
      <p:sp>
        <p:nvSpPr>
          <p:cNvPr id="37" name="Text 34"/>
          <p:cNvSpPr/>
          <p:nvPr/>
        </p:nvSpPr>
        <p:spPr>
          <a:xfrm>
            <a:off x="7461504" y="2286000"/>
            <a:ext cx="1188720" cy="347472"/>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Less effective</a:t>
            </a:r>
            <a:endParaRPr lang="en-US" sz="1000" dirty="0"/>
          </a:p>
        </p:txBody>
      </p:sp>
      <p:sp>
        <p:nvSpPr>
          <p:cNvPr id="38" name="Shape 35"/>
          <p:cNvSpPr/>
          <p:nvPr/>
        </p:nvSpPr>
        <p:spPr>
          <a:xfrm>
            <a:off x="4663440" y="2880360"/>
            <a:ext cx="4069080" cy="1554480"/>
          </a:xfrm>
          <a:prstGeom prst="rect">
            <a:avLst/>
          </a:prstGeom>
          <a:solidFill>
            <a:srgbClr val="1E293B"/>
          </a:solidFill>
          <a:ln w="12700">
            <a:solidFill>
              <a:srgbClr val="10B981"/>
            </a:solidFill>
            <a:prstDash val="solid"/>
          </a:ln>
        </p:spPr>
      </p:sp>
      <p:sp>
        <p:nvSpPr>
          <p:cNvPr id="39" name="Shape 36"/>
          <p:cNvSpPr/>
          <p:nvPr/>
        </p:nvSpPr>
        <p:spPr>
          <a:xfrm>
            <a:off x="4663440" y="2880360"/>
            <a:ext cx="4069080" cy="365760"/>
          </a:xfrm>
          <a:prstGeom prst="rect">
            <a:avLst/>
          </a:prstGeom>
          <a:solidFill>
            <a:srgbClr val="10B981"/>
          </a:solidFill>
          <a:ln w="12700">
            <a:solidFill>
              <a:srgbClr val="10B981"/>
            </a:solidFill>
            <a:prstDash val="solid"/>
          </a:ln>
        </p:spPr>
      </p:sp>
      <p:sp>
        <p:nvSpPr>
          <p:cNvPr id="40" name="Text 37"/>
          <p:cNvSpPr/>
          <p:nvPr/>
        </p:nvSpPr>
        <p:spPr>
          <a:xfrm>
            <a:off x="4736592" y="2898648"/>
            <a:ext cx="3931920" cy="329184"/>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Storage Units</a:t>
            </a:r>
            <a:endParaRPr lang="en-US" sz="1300" dirty="0"/>
          </a:p>
        </p:txBody>
      </p:sp>
      <p:sp>
        <p:nvSpPr>
          <p:cNvPr id="41" name="Shape 38"/>
          <p:cNvSpPr/>
          <p:nvPr/>
        </p:nvSpPr>
        <p:spPr>
          <a:xfrm>
            <a:off x="4736592" y="3337560"/>
            <a:ext cx="457200" cy="292608"/>
          </a:xfrm>
          <a:prstGeom prst="rect">
            <a:avLst/>
          </a:prstGeom>
          <a:solidFill>
            <a:srgbClr val="10B981"/>
          </a:solidFill>
          <a:ln w="12700">
            <a:solidFill>
              <a:srgbClr val="10B981"/>
            </a:solidFill>
            <a:prstDash val="solid"/>
          </a:ln>
        </p:spPr>
      </p:sp>
      <p:sp>
        <p:nvSpPr>
          <p:cNvPr id="42" name="Text 39"/>
          <p:cNvSpPr/>
          <p:nvPr/>
        </p:nvSpPr>
        <p:spPr>
          <a:xfrm>
            <a:off x="4736592" y="3337560"/>
            <a:ext cx="457200" cy="292608"/>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Bit</a:t>
            </a:r>
            <a:endParaRPr lang="en-US" sz="1100" dirty="0"/>
          </a:p>
        </p:txBody>
      </p:sp>
      <p:sp>
        <p:nvSpPr>
          <p:cNvPr id="43" name="Text 40"/>
          <p:cNvSpPr/>
          <p:nvPr/>
        </p:nvSpPr>
        <p:spPr>
          <a:xfrm>
            <a:off x="5239512" y="3337560"/>
            <a:ext cx="141732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0 or 1</a:t>
            </a:r>
            <a:endParaRPr lang="en-US" sz="1100" dirty="0"/>
          </a:p>
        </p:txBody>
      </p:sp>
      <p:sp>
        <p:nvSpPr>
          <p:cNvPr id="44" name="Shape 41"/>
          <p:cNvSpPr/>
          <p:nvPr/>
        </p:nvSpPr>
        <p:spPr>
          <a:xfrm>
            <a:off x="6748272" y="3337560"/>
            <a:ext cx="457200" cy="292608"/>
          </a:xfrm>
          <a:prstGeom prst="rect">
            <a:avLst/>
          </a:prstGeom>
          <a:solidFill>
            <a:srgbClr val="10B981"/>
          </a:solidFill>
          <a:ln w="12700">
            <a:solidFill>
              <a:srgbClr val="10B981"/>
            </a:solidFill>
            <a:prstDash val="solid"/>
          </a:ln>
        </p:spPr>
      </p:sp>
      <p:sp>
        <p:nvSpPr>
          <p:cNvPr id="45" name="Text 42"/>
          <p:cNvSpPr/>
          <p:nvPr/>
        </p:nvSpPr>
        <p:spPr>
          <a:xfrm>
            <a:off x="6748272" y="3337560"/>
            <a:ext cx="457200" cy="292608"/>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Byte</a:t>
            </a:r>
            <a:endParaRPr lang="en-US" sz="1100" dirty="0"/>
          </a:p>
        </p:txBody>
      </p:sp>
      <p:sp>
        <p:nvSpPr>
          <p:cNvPr id="46" name="Text 43"/>
          <p:cNvSpPr/>
          <p:nvPr/>
        </p:nvSpPr>
        <p:spPr>
          <a:xfrm>
            <a:off x="7251192" y="3337560"/>
            <a:ext cx="141732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8 bits</a:t>
            </a:r>
            <a:endParaRPr lang="en-US" sz="1100" dirty="0"/>
          </a:p>
        </p:txBody>
      </p:sp>
      <p:sp>
        <p:nvSpPr>
          <p:cNvPr id="47" name="Shape 44"/>
          <p:cNvSpPr/>
          <p:nvPr/>
        </p:nvSpPr>
        <p:spPr>
          <a:xfrm>
            <a:off x="4736592" y="3703320"/>
            <a:ext cx="457200" cy="292608"/>
          </a:xfrm>
          <a:prstGeom prst="rect">
            <a:avLst/>
          </a:prstGeom>
          <a:solidFill>
            <a:srgbClr val="10B981"/>
          </a:solidFill>
          <a:ln w="12700">
            <a:solidFill>
              <a:srgbClr val="10B981"/>
            </a:solidFill>
            <a:prstDash val="solid"/>
          </a:ln>
        </p:spPr>
      </p:sp>
      <p:sp>
        <p:nvSpPr>
          <p:cNvPr id="48" name="Text 45"/>
          <p:cNvSpPr/>
          <p:nvPr/>
        </p:nvSpPr>
        <p:spPr>
          <a:xfrm>
            <a:off x="4736592" y="3703320"/>
            <a:ext cx="457200" cy="292608"/>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KB</a:t>
            </a:r>
            <a:endParaRPr lang="en-US" sz="1100" dirty="0"/>
          </a:p>
        </p:txBody>
      </p:sp>
      <p:sp>
        <p:nvSpPr>
          <p:cNvPr id="49" name="Text 46"/>
          <p:cNvSpPr/>
          <p:nvPr/>
        </p:nvSpPr>
        <p:spPr>
          <a:xfrm>
            <a:off x="5239512" y="3703320"/>
            <a:ext cx="141732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1,024 bytes</a:t>
            </a:r>
            <a:endParaRPr lang="en-US" sz="1100" dirty="0"/>
          </a:p>
        </p:txBody>
      </p:sp>
      <p:sp>
        <p:nvSpPr>
          <p:cNvPr id="50" name="Shape 47"/>
          <p:cNvSpPr/>
          <p:nvPr/>
        </p:nvSpPr>
        <p:spPr>
          <a:xfrm>
            <a:off x="6748272" y="3703320"/>
            <a:ext cx="457200" cy="292608"/>
          </a:xfrm>
          <a:prstGeom prst="rect">
            <a:avLst/>
          </a:prstGeom>
          <a:solidFill>
            <a:srgbClr val="10B981"/>
          </a:solidFill>
          <a:ln w="12700">
            <a:solidFill>
              <a:srgbClr val="10B981"/>
            </a:solidFill>
            <a:prstDash val="solid"/>
          </a:ln>
        </p:spPr>
      </p:sp>
      <p:sp>
        <p:nvSpPr>
          <p:cNvPr id="51" name="Text 48"/>
          <p:cNvSpPr/>
          <p:nvPr/>
        </p:nvSpPr>
        <p:spPr>
          <a:xfrm>
            <a:off x="6748272" y="3703320"/>
            <a:ext cx="457200" cy="292608"/>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MB</a:t>
            </a:r>
            <a:endParaRPr lang="en-US" sz="1100" dirty="0"/>
          </a:p>
        </p:txBody>
      </p:sp>
      <p:sp>
        <p:nvSpPr>
          <p:cNvPr id="52" name="Text 49"/>
          <p:cNvSpPr/>
          <p:nvPr/>
        </p:nvSpPr>
        <p:spPr>
          <a:xfrm>
            <a:off x="7251192" y="3703320"/>
            <a:ext cx="141732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1,024 KB</a:t>
            </a:r>
            <a:endParaRPr lang="en-US" sz="1100" dirty="0"/>
          </a:p>
        </p:txBody>
      </p:sp>
      <p:sp>
        <p:nvSpPr>
          <p:cNvPr id="53" name="Shape 50"/>
          <p:cNvSpPr/>
          <p:nvPr/>
        </p:nvSpPr>
        <p:spPr>
          <a:xfrm>
            <a:off x="4736592" y="4069080"/>
            <a:ext cx="457200" cy="292608"/>
          </a:xfrm>
          <a:prstGeom prst="rect">
            <a:avLst/>
          </a:prstGeom>
          <a:solidFill>
            <a:srgbClr val="10B981"/>
          </a:solidFill>
          <a:ln w="12700">
            <a:solidFill>
              <a:srgbClr val="10B981"/>
            </a:solidFill>
            <a:prstDash val="solid"/>
          </a:ln>
        </p:spPr>
      </p:sp>
      <p:sp>
        <p:nvSpPr>
          <p:cNvPr id="54" name="Text 51"/>
          <p:cNvSpPr/>
          <p:nvPr/>
        </p:nvSpPr>
        <p:spPr>
          <a:xfrm>
            <a:off x="4736592" y="4069080"/>
            <a:ext cx="457200" cy="292608"/>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GB</a:t>
            </a:r>
            <a:endParaRPr lang="en-US" sz="1100" dirty="0"/>
          </a:p>
        </p:txBody>
      </p:sp>
      <p:sp>
        <p:nvSpPr>
          <p:cNvPr id="55" name="Text 52"/>
          <p:cNvSpPr/>
          <p:nvPr/>
        </p:nvSpPr>
        <p:spPr>
          <a:xfrm>
            <a:off x="5239512" y="4069080"/>
            <a:ext cx="141732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1,024 MB</a:t>
            </a:r>
            <a:endParaRPr lang="en-US" sz="1100" dirty="0"/>
          </a:p>
        </p:txBody>
      </p:sp>
      <p:sp>
        <p:nvSpPr>
          <p:cNvPr id="56" name="Shape 53"/>
          <p:cNvSpPr/>
          <p:nvPr/>
        </p:nvSpPr>
        <p:spPr>
          <a:xfrm>
            <a:off x="6748272" y="4069080"/>
            <a:ext cx="457200" cy="292608"/>
          </a:xfrm>
          <a:prstGeom prst="rect">
            <a:avLst/>
          </a:prstGeom>
          <a:solidFill>
            <a:srgbClr val="10B981"/>
          </a:solidFill>
          <a:ln w="12700">
            <a:solidFill>
              <a:srgbClr val="10B981"/>
            </a:solidFill>
            <a:prstDash val="solid"/>
          </a:ln>
        </p:spPr>
      </p:sp>
      <p:sp>
        <p:nvSpPr>
          <p:cNvPr id="57" name="Text 54"/>
          <p:cNvSpPr/>
          <p:nvPr/>
        </p:nvSpPr>
        <p:spPr>
          <a:xfrm>
            <a:off x="6748272" y="4069080"/>
            <a:ext cx="457200" cy="292608"/>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TB</a:t>
            </a:r>
            <a:endParaRPr lang="en-US" sz="1100" dirty="0"/>
          </a:p>
        </p:txBody>
      </p:sp>
      <p:sp>
        <p:nvSpPr>
          <p:cNvPr id="58" name="Text 55"/>
          <p:cNvSpPr/>
          <p:nvPr/>
        </p:nvSpPr>
        <p:spPr>
          <a:xfrm>
            <a:off x="7251192" y="4069080"/>
            <a:ext cx="1417320" cy="29260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1,024 GB</a:t>
            </a:r>
            <a:endParaRPr lang="en-US" sz="1100" dirty="0"/>
          </a:p>
        </p:txBody>
      </p:sp>
      <p:pic>
        <p:nvPicPr>
          <p:cNvPr id="59" name="Image 1" descr="preencoded.png">    </p:cNvPr>
          <p:cNvPicPr>
            <a:picLocks noChangeAspect="1"/>
          </p:cNvPicPr>
          <p:nvPr/>
        </p:nvPicPr>
        <p:blipFill>
          <a:blip r:embed="rId2"/>
          <a:stretch>
            <a:fillRect/>
          </a:stretch>
        </p:blipFill>
        <p:spPr>
          <a:xfrm>
            <a:off x="411480" y="4572000"/>
            <a:ext cx="292608" cy="292608"/>
          </a:xfrm>
          <a:prstGeom prst="rect">
            <a:avLst/>
          </a:prstGeom>
        </p:spPr>
      </p:pic>
      <p:sp>
        <p:nvSpPr>
          <p:cNvPr id="60" name="Shape 56"/>
          <p:cNvSpPr/>
          <p:nvPr/>
        </p:nvSpPr>
        <p:spPr>
          <a:xfrm>
            <a:off x="411480" y="4526280"/>
            <a:ext cx="8321040" cy="347472"/>
          </a:xfrm>
          <a:prstGeom prst="rect">
            <a:avLst/>
          </a:prstGeom>
          <a:solidFill>
            <a:srgbClr val="1A2332"/>
          </a:solidFill>
          <a:ln w="6350">
            <a:solidFill>
              <a:srgbClr val="F59E0B"/>
            </a:solidFill>
            <a:prstDash val="solid"/>
          </a:ln>
        </p:spPr>
      </p:sp>
      <p:sp>
        <p:nvSpPr>
          <p:cNvPr id="61" name="Text 57"/>
          <p:cNvSpPr/>
          <p:nvPr/>
        </p:nvSpPr>
        <p:spPr>
          <a:xfrm>
            <a:off x="749808" y="4544568"/>
            <a:ext cx="7909560" cy="310896"/>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SSD TRIM: When a file is deleted on SSD, OS immediately erases those blocks — evidence may be gone before you even try to recover it. Image SSD drives immediately after seizure!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w="12700">
            <a:solidFill>
              <a:srgbClr val="00D4FF"/>
            </a:solidFill>
            <a:prstDash val="solid"/>
          </a:ln>
        </p:spPr>
      </p:sp>
      <p:sp>
        <p:nvSpPr>
          <p:cNvPr id="3" name="Text 1"/>
          <p:cNvSpPr/>
          <p:nvPr/>
        </p:nvSpPr>
        <p:spPr>
          <a:xfrm>
            <a:off x="411480" y="128016"/>
            <a:ext cx="832104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File System Concepts</a:t>
            </a:r>
            <a:endParaRPr lang="en-US" sz="2800" dirty="0"/>
          </a:p>
        </p:txBody>
      </p:sp>
      <p:sp>
        <p:nvSpPr>
          <p:cNvPr id="4" name="Text 2"/>
          <p:cNvSpPr/>
          <p:nvPr/>
        </p:nvSpPr>
        <p:spPr>
          <a:xfrm>
            <a:off x="411480" y="658368"/>
            <a:ext cx="8321040" cy="256032"/>
          </a:xfrm>
          <a:prstGeom prst="rect">
            <a:avLst/>
          </a:prstGeom>
          <a:noFill/>
          <a:ln/>
        </p:spPr>
        <p:txBody>
          <a:bodyPr wrap="square" lIns="0" tIns="0" rIns="0" bIns="0" rtlCol="0" anchor="ctr"/>
          <a:lstStyle/>
          <a:p>
            <a:pPr indent="0" marL="0">
              <a:buNone/>
            </a:pPr>
            <a:r>
              <a:rPr lang="en-US" sz="1200" dirty="0">
                <a:solidFill>
                  <a:srgbClr val="00D4FF"/>
                </a:solidFill>
                <a:latin typeface="Calibri" pitchFamily="34" charset="0"/>
                <a:ea typeface="Calibri" pitchFamily="34" charset="-122"/>
                <a:cs typeface="Calibri" pitchFamily="34" charset="-120"/>
              </a:rPr>
              <a:t>How the OS organises files — and the forensic gold hidden inside</a:t>
            </a:r>
            <a:endParaRPr lang="en-US" sz="1200" dirty="0"/>
          </a:p>
        </p:txBody>
      </p:sp>
      <p:sp>
        <p:nvSpPr>
          <p:cNvPr id="5" name="Shape 3"/>
          <p:cNvSpPr/>
          <p:nvPr/>
        </p:nvSpPr>
        <p:spPr>
          <a:xfrm>
            <a:off x="0" y="4956048"/>
            <a:ext cx="9144000" cy="182880"/>
          </a:xfrm>
          <a:prstGeom prst="rect">
            <a:avLst/>
          </a:prstGeom>
          <a:solidFill>
            <a:srgbClr val="1E293B"/>
          </a:solidFill>
          <a:ln w="12700">
            <a:solidFill>
              <a:srgbClr val="1E293B"/>
            </a:solidFill>
            <a:prstDash val="solid"/>
          </a:ln>
        </p:spPr>
      </p:sp>
      <p:sp>
        <p:nvSpPr>
          <p:cNvPr id="6" name="Text 4"/>
          <p:cNvSpPr/>
          <p:nvPr/>
        </p:nvSpPr>
        <p:spPr>
          <a:xfrm>
            <a:off x="0" y="4965192"/>
            <a:ext cx="9144000" cy="16459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Unit IV — Fundamentals of Cyber Forensics</a:t>
            </a:r>
            <a:endParaRPr lang="en-US" sz="900" dirty="0"/>
          </a:p>
        </p:txBody>
      </p:sp>
      <p:sp>
        <p:nvSpPr>
          <p:cNvPr id="7" name="Shape 5"/>
          <p:cNvSpPr/>
          <p:nvPr/>
        </p:nvSpPr>
        <p:spPr>
          <a:xfrm>
            <a:off x="411480" y="1005840"/>
            <a:ext cx="8321040" cy="621792"/>
          </a:xfrm>
          <a:prstGeom prst="rect">
            <a:avLst/>
          </a:prstGeom>
          <a:solidFill>
            <a:srgbClr val="0D1B2A"/>
          </a:solidFill>
          <a:ln w="10160">
            <a:solidFill>
              <a:srgbClr val="F59E0B"/>
            </a:solidFill>
            <a:prstDash val="solid"/>
          </a:ln>
        </p:spPr>
      </p:sp>
      <p:sp>
        <p:nvSpPr>
          <p:cNvPr id="8" name="Text 6"/>
          <p:cNvSpPr/>
          <p:nvPr/>
        </p:nvSpPr>
        <p:spPr>
          <a:xfrm>
            <a:off x="548640" y="1042416"/>
            <a:ext cx="8092440" cy="548640"/>
          </a:xfrm>
          <a:prstGeom prst="rect">
            <a:avLst/>
          </a:prstGeom>
          <a:noFill/>
          <a:ln/>
        </p:spPr>
        <p:txBody>
          <a:bodyPr wrap="square"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Analogy:  File system = Library catalog.  Deleting a file = erasing the catalog card — the book is still on the shelf!</a:t>
            </a:r>
            <a:endParaRPr lang="en-US" sz="1300" dirty="0"/>
          </a:p>
        </p:txBody>
      </p:sp>
      <p:sp>
        <p:nvSpPr>
          <p:cNvPr id="9" name="Shape 7"/>
          <p:cNvSpPr/>
          <p:nvPr/>
        </p:nvSpPr>
        <p:spPr>
          <a:xfrm>
            <a:off x="411480" y="1737360"/>
            <a:ext cx="8321040" cy="347472"/>
          </a:xfrm>
          <a:prstGeom prst="rect">
            <a:avLst/>
          </a:prstGeom>
          <a:solidFill>
            <a:srgbClr val="0D1B2A"/>
          </a:solidFill>
          <a:ln w="12700">
            <a:solidFill>
              <a:srgbClr val="0D1B2A"/>
            </a:solidFill>
            <a:prstDash val="solid"/>
          </a:ln>
        </p:spPr>
      </p:sp>
      <p:sp>
        <p:nvSpPr>
          <p:cNvPr id="10" name="Text 8"/>
          <p:cNvSpPr/>
          <p:nvPr/>
        </p:nvSpPr>
        <p:spPr>
          <a:xfrm>
            <a:off x="502920" y="1755648"/>
            <a:ext cx="13258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File System</a:t>
            </a:r>
            <a:endParaRPr lang="en-US" sz="1100" dirty="0"/>
          </a:p>
        </p:txBody>
      </p:sp>
      <p:sp>
        <p:nvSpPr>
          <p:cNvPr id="11" name="Text 9"/>
          <p:cNvSpPr/>
          <p:nvPr/>
        </p:nvSpPr>
        <p:spPr>
          <a:xfrm>
            <a:off x="1920240" y="1755648"/>
            <a:ext cx="123444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OS</a:t>
            </a:r>
            <a:endParaRPr lang="en-US" sz="1100" dirty="0"/>
          </a:p>
        </p:txBody>
      </p:sp>
      <p:sp>
        <p:nvSpPr>
          <p:cNvPr id="12" name="Text 10"/>
          <p:cNvSpPr/>
          <p:nvPr/>
        </p:nvSpPr>
        <p:spPr>
          <a:xfrm>
            <a:off x="3246120" y="1755648"/>
            <a:ext cx="539496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Forensic Significance</a:t>
            </a:r>
            <a:endParaRPr lang="en-US" sz="1100" dirty="0"/>
          </a:p>
        </p:txBody>
      </p:sp>
      <p:sp>
        <p:nvSpPr>
          <p:cNvPr id="13" name="Shape 11"/>
          <p:cNvSpPr/>
          <p:nvPr/>
        </p:nvSpPr>
        <p:spPr>
          <a:xfrm>
            <a:off x="411480" y="2148840"/>
            <a:ext cx="8321040" cy="384048"/>
          </a:xfrm>
          <a:prstGeom prst="rect">
            <a:avLst/>
          </a:prstGeom>
          <a:solidFill>
            <a:srgbClr val="1E293B"/>
          </a:solidFill>
          <a:ln w="3810">
            <a:solidFill>
              <a:srgbClr val="1A2332"/>
            </a:solidFill>
            <a:prstDash val="solid"/>
          </a:ln>
        </p:spPr>
      </p:sp>
      <p:sp>
        <p:nvSpPr>
          <p:cNvPr id="14" name="Text 12"/>
          <p:cNvSpPr/>
          <p:nvPr/>
        </p:nvSpPr>
        <p:spPr>
          <a:xfrm>
            <a:off x="502920" y="2148840"/>
            <a:ext cx="1325880" cy="38404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FAT32</a:t>
            </a:r>
            <a:endParaRPr lang="en-US" sz="1200" dirty="0"/>
          </a:p>
        </p:txBody>
      </p:sp>
      <p:sp>
        <p:nvSpPr>
          <p:cNvPr id="15" name="Text 13"/>
          <p:cNvSpPr/>
          <p:nvPr/>
        </p:nvSpPr>
        <p:spPr>
          <a:xfrm>
            <a:off x="1920240" y="2148840"/>
            <a:ext cx="123444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Windows / USB</a:t>
            </a:r>
            <a:endParaRPr lang="en-US" sz="1100" dirty="0"/>
          </a:p>
        </p:txBody>
      </p:sp>
      <p:sp>
        <p:nvSpPr>
          <p:cNvPr id="16" name="Text 14"/>
          <p:cNvSpPr/>
          <p:nvPr/>
        </p:nvSpPr>
        <p:spPr>
          <a:xfrm>
            <a:off x="3246120" y="2148840"/>
            <a:ext cx="5394960"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FAT chain, 0xE5 deleted marker, minimal metadata</a:t>
            </a:r>
            <a:endParaRPr lang="en-US" sz="1100" dirty="0"/>
          </a:p>
        </p:txBody>
      </p:sp>
      <p:sp>
        <p:nvSpPr>
          <p:cNvPr id="17" name="Shape 15"/>
          <p:cNvSpPr/>
          <p:nvPr/>
        </p:nvSpPr>
        <p:spPr>
          <a:xfrm>
            <a:off x="411480" y="2569464"/>
            <a:ext cx="8321040" cy="384048"/>
          </a:xfrm>
          <a:prstGeom prst="rect">
            <a:avLst/>
          </a:prstGeom>
          <a:solidFill>
            <a:srgbClr val="1A2332"/>
          </a:solidFill>
          <a:ln w="3810">
            <a:solidFill>
              <a:srgbClr val="1A2332"/>
            </a:solidFill>
            <a:prstDash val="solid"/>
          </a:ln>
        </p:spPr>
      </p:sp>
      <p:sp>
        <p:nvSpPr>
          <p:cNvPr id="18" name="Text 16"/>
          <p:cNvSpPr/>
          <p:nvPr/>
        </p:nvSpPr>
        <p:spPr>
          <a:xfrm>
            <a:off x="502920" y="2569464"/>
            <a:ext cx="1325880" cy="384048"/>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NTFS</a:t>
            </a:r>
            <a:endParaRPr lang="en-US" sz="1200" dirty="0"/>
          </a:p>
        </p:txBody>
      </p:sp>
      <p:sp>
        <p:nvSpPr>
          <p:cNvPr id="19" name="Text 17"/>
          <p:cNvSpPr/>
          <p:nvPr/>
        </p:nvSpPr>
        <p:spPr>
          <a:xfrm>
            <a:off x="1920240" y="2569464"/>
            <a:ext cx="123444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Windows modern</a:t>
            </a:r>
            <a:endParaRPr lang="en-US" sz="1100" dirty="0"/>
          </a:p>
        </p:txBody>
      </p:sp>
      <p:sp>
        <p:nvSpPr>
          <p:cNvPr id="20" name="Text 18"/>
          <p:cNvSpPr/>
          <p:nvPr/>
        </p:nvSpPr>
        <p:spPr>
          <a:xfrm>
            <a:off x="3246120" y="2569464"/>
            <a:ext cx="5394960"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MFT keeps full metadata even after deletion  ⭐</a:t>
            </a:r>
            <a:endParaRPr lang="en-US" sz="1100" dirty="0"/>
          </a:p>
        </p:txBody>
      </p:sp>
      <p:sp>
        <p:nvSpPr>
          <p:cNvPr id="21" name="Shape 19"/>
          <p:cNvSpPr/>
          <p:nvPr/>
        </p:nvSpPr>
        <p:spPr>
          <a:xfrm>
            <a:off x="411480" y="2990088"/>
            <a:ext cx="8321040" cy="384048"/>
          </a:xfrm>
          <a:prstGeom prst="rect">
            <a:avLst/>
          </a:prstGeom>
          <a:solidFill>
            <a:srgbClr val="1E293B"/>
          </a:solidFill>
          <a:ln w="3810">
            <a:solidFill>
              <a:srgbClr val="1A2332"/>
            </a:solidFill>
            <a:prstDash val="solid"/>
          </a:ln>
        </p:spPr>
      </p:sp>
      <p:sp>
        <p:nvSpPr>
          <p:cNvPr id="22" name="Text 20"/>
          <p:cNvSpPr/>
          <p:nvPr/>
        </p:nvSpPr>
        <p:spPr>
          <a:xfrm>
            <a:off x="502920" y="2990088"/>
            <a:ext cx="1325880" cy="384048"/>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ext4</a:t>
            </a:r>
            <a:endParaRPr lang="en-US" sz="1200" dirty="0"/>
          </a:p>
        </p:txBody>
      </p:sp>
      <p:sp>
        <p:nvSpPr>
          <p:cNvPr id="23" name="Text 21"/>
          <p:cNvSpPr/>
          <p:nvPr/>
        </p:nvSpPr>
        <p:spPr>
          <a:xfrm>
            <a:off x="1920240" y="2990088"/>
            <a:ext cx="123444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Linux</a:t>
            </a:r>
            <a:endParaRPr lang="en-US" sz="1100" dirty="0"/>
          </a:p>
        </p:txBody>
      </p:sp>
      <p:sp>
        <p:nvSpPr>
          <p:cNvPr id="24" name="Text 22"/>
          <p:cNvSpPr/>
          <p:nvPr/>
        </p:nvSpPr>
        <p:spPr>
          <a:xfrm>
            <a:off x="3246120" y="2990088"/>
            <a:ext cx="5394960"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Journal + inodes, block pointers may be zeroed</a:t>
            </a:r>
            <a:endParaRPr lang="en-US" sz="1100" dirty="0"/>
          </a:p>
        </p:txBody>
      </p:sp>
      <p:sp>
        <p:nvSpPr>
          <p:cNvPr id="25" name="Shape 23"/>
          <p:cNvSpPr/>
          <p:nvPr/>
        </p:nvSpPr>
        <p:spPr>
          <a:xfrm>
            <a:off x="411480" y="3410712"/>
            <a:ext cx="8321040" cy="384048"/>
          </a:xfrm>
          <a:prstGeom prst="rect">
            <a:avLst/>
          </a:prstGeom>
          <a:solidFill>
            <a:srgbClr val="1A2332"/>
          </a:solidFill>
          <a:ln w="3810">
            <a:solidFill>
              <a:srgbClr val="1A2332"/>
            </a:solidFill>
            <a:prstDash val="solid"/>
          </a:ln>
        </p:spPr>
      </p:sp>
      <p:sp>
        <p:nvSpPr>
          <p:cNvPr id="26" name="Text 24"/>
          <p:cNvSpPr/>
          <p:nvPr/>
        </p:nvSpPr>
        <p:spPr>
          <a:xfrm>
            <a:off x="502920" y="3410712"/>
            <a:ext cx="1325880" cy="384048"/>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APFS</a:t>
            </a:r>
            <a:endParaRPr lang="en-US" sz="1200" dirty="0"/>
          </a:p>
        </p:txBody>
      </p:sp>
      <p:sp>
        <p:nvSpPr>
          <p:cNvPr id="27" name="Text 25"/>
          <p:cNvSpPr/>
          <p:nvPr/>
        </p:nvSpPr>
        <p:spPr>
          <a:xfrm>
            <a:off x="1920240" y="3410712"/>
            <a:ext cx="1234440" cy="38404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macOS</a:t>
            </a:r>
            <a:endParaRPr lang="en-US" sz="1100" dirty="0"/>
          </a:p>
        </p:txBody>
      </p:sp>
      <p:sp>
        <p:nvSpPr>
          <p:cNvPr id="28" name="Text 26"/>
          <p:cNvSpPr/>
          <p:nvPr/>
        </p:nvSpPr>
        <p:spPr>
          <a:xfrm>
            <a:off x="3246120" y="3410712"/>
            <a:ext cx="5394960"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Snapshots allow recovery of older file versions</a:t>
            </a:r>
            <a:endParaRPr lang="en-US" sz="1100" dirty="0"/>
          </a:p>
        </p:txBody>
      </p:sp>
      <p:sp>
        <p:nvSpPr>
          <p:cNvPr id="29" name="Shape 27"/>
          <p:cNvSpPr/>
          <p:nvPr/>
        </p:nvSpPr>
        <p:spPr>
          <a:xfrm>
            <a:off x="411480" y="3840480"/>
            <a:ext cx="4846320" cy="1097280"/>
          </a:xfrm>
          <a:prstGeom prst="rect">
            <a:avLst/>
          </a:prstGeom>
          <a:solidFill>
            <a:srgbClr val="1E293B"/>
          </a:solidFill>
          <a:ln w="12700">
            <a:solidFill>
              <a:srgbClr val="00D4FF"/>
            </a:solidFill>
            <a:prstDash val="solid"/>
          </a:ln>
        </p:spPr>
      </p:sp>
      <p:sp>
        <p:nvSpPr>
          <p:cNvPr id="30" name="Shape 28"/>
          <p:cNvSpPr/>
          <p:nvPr/>
        </p:nvSpPr>
        <p:spPr>
          <a:xfrm>
            <a:off x="411480" y="3840480"/>
            <a:ext cx="64008" cy="1097280"/>
          </a:xfrm>
          <a:prstGeom prst="rect">
            <a:avLst/>
          </a:prstGeom>
          <a:solidFill>
            <a:srgbClr val="00D4FF"/>
          </a:solidFill>
          <a:ln w="12700">
            <a:solidFill>
              <a:srgbClr val="00D4FF"/>
            </a:solidFill>
            <a:prstDash val="solid"/>
          </a:ln>
        </p:spPr>
      </p:sp>
      <p:sp>
        <p:nvSpPr>
          <p:cNvPr id="31" name="Text 29"/>
          <p:cNvSpPr/>
          <p:nvPr/>
        </p:nvSpPr>
        <p:spPr>
          <a:xfrm>
            <a:off x="548640" y="3877056"/>
            <a:ext cx="4663440" cy="292608"/>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NTFS MFT — forensic gold mine</a:t>
            </a:r>
            <a:endParaRPr lang="en-US" sz="1300" dirty="0"/>
          </a:p>
        </p:txBody>
      </p:sp>
      <p:sp>
        <p:nvSpPr>
          <p:cNvPr id="32" name="Text 30"/>
          <p:cNvSpPr/>
          <p:nvPr/>
        </p:nvSpPr>
        <p:spPr>
          <a:xfrm>
            <a:off x="548640" y="4206240"/>
            <a:ext cx="4663440" cy="676656"/>
          </a:xfrm>
          <a:prstGeom prst="rect">
            <a:avLst/>
          </a:prstGeom>
          <a:noFill/>
          <a:ln/>
        </p:spPr>
        <p:txBody>
          <a:bodyPr wrap="square" rtlCol="0" anchor="ctr"/>
          <a:lstStyle/>
          <a:p>
            <a:pPr marL="342900" indent="-342900">
              <a:buSzPct val="100000"/>
              <a:buChar char="•"/>
            </a:pPr>
            <a:r>
              <a:rPr lang="en-US" sz="1100" dirty="0">
                <a:solidFill>
                  <a:srgbClr val="E2E8F0"/>
                </a:solidFill>
                <a:latin typeface="Calibri" pitchFamily="34" charset="0"/>
                <a:ea typeface="Calibri" pitchFamily="34" charset="-122"/>
                <a:cs typeface="Calibri" pitchFamily="34" charset="-120"/>
              </a:rPr>
              <a:t>Every file has a 1KB MFT entry storing: name, timestamps, permissions, data location</a:t>
            </a:r>
            <a:endParaRPr lang="en-US" sz="1100" dirty="0"/>
          </a:p>
          <a:p>
            <a:pPr marL="342900" indent="-342900">
              <a:buSzPct val="100000"/>
              <a:buChar char="•"/>
            </a:pPr>
            <a:r>
              <a:rPr lang="en-US" sz="1100" dirty="0">
                <a:solidFill>
                  <a:srgbClr val="E2E8F0"/>
                </a:solidFill>
                <a:latin typeface="Calibri" pitchFamily="34" charset="0"/>
                <a:ea typeface="Calibri" pitchFamily="34" charset="-122"/>
                <a:cs typeface="Calibri" pitchFamily="34" charset="-120"/>
              </a:rPr>
              <a:t>MFT entry stays even after file deletion — only 'in-use' flag is flipped</a:t>
            </a:r>
            <a:endParaRPr lang="en-US" sz="1100" dirty="0"/>
          </a:p>
        </p:txBody>
      </p:sp>
      <p:sp>
        <p:nvSpPr>
          <p:cNvPr id="33" name="Shape 31"/>
          <p:cNvSpPr/>
          <p:nvPr/>
        </p:nvSpPr>
        <p:spPr>
          <a:xfrm>
            <a:off x="5440680" y="3840480"/>
            <a:ext cx="3291840" cy="1097280"/>
          </a:xfrm>
          <a:prstGeom prst="rect">
            <a:avLst/>
          </a:prstGeom>
          <a:solidFill>
            <a:srgbClr val="1E293B"/>
          </a:solidFill>
          <a:ln w="12700">
            <a:solidFill>
              <a:srgbClr val="7C3AED"/>
            </a:solidFill>
            <a:prstDash val="solid"/>
          </a:ln>
        </p:spPr>
      </p:sp>
      <p:sp>
        <p:nvSpPr>
          <p:cNvPr id="34" name="Shape 32"/>
          <p:cNvSpPr/>
          <p:nvPr/>
        </p:nvSpPr>
        <p:spPr>
          <a:xfrm>
            <a:off x="5440680" y="3840480"/>
            <a:ext cx="64008" cy="1097280"/>
          </a:xfrm>
          <a:prstGeom prst="rect">
            <a:avLst/>
          </a:prstGeom>
          <a:solidFill>
            <a:srgbClr val="7C3AED"/>
          </a:solidFill>
          <a:ln w="12700">
            <a:solidFill>
              <a:srgbClr val="7C3AED"/>
            </a:solidFill>
            <a:prstDash val="solid"/>
          </a:ln>
        </p:spPr>
      </p:sp>
      <p:sp>
        <p:nvSpPr>
          <p:cNvPr id="35" name="Text 33"/>
          <p:cNvSpPr/>
          <p:nvPr/>
        </p:nvSpPr>
        <p:spPr>
          <a:xfrm>
            <a:off x="5577840" y="3877056"/>
            <a:ext cx="3063240" cy="292608"/>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MACE Timestamps</a:t>
            </a:r>
            <a:endParaRPr lang="en-US" sz="1300" dirty="0"/>
          </a:p>
        </p:txBody>
      </p:sp>
      <p:sp>
        <p:nvSpPr>
          <p:cNvPr id="36" name="Shape 34"/>
          <p:cNvSpPr/>
          <p:nvPr/>
        </p:nvSpPr>
        <p:spPr>
          <a:xfrm>
            <a:off x="5577840" y="4224528"/>
            <a:ext cx="182880" cy="155448"/>
          </a:xfrm>
          <a:prstGeom prst="rect">
            <a:avLst/>
          </a:prstGeom>
          <a:solidFill>
            <a:srgbClr val="7C3AED"/>
          </a:solidFill>
          <a:ln w="12700">
            <a:solidFill>
              <a:srgbClr val="7C3AED"/>
            </a:solidFill>
            <a:prstDash val="solid"/>
          </a:ln>
        </p:spPr>
      </p:sp>
      <p:sp>
        <p:nvSpPr>
          <p:cNvPr id="37" name="Text 35"/>
          <p:cNvSpPr/>
          <p:nvPr/>
        </p:nvSpPr>
        <p:spPr>
          <a:xfrm>
            <a:off x="5577840" y="4224528"/>
            <a:ext cx="182880"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
            </a:r>
            <a:endParaRPr lang="en-US" sz="900" dirty="0"/>
          </a:p>
        </p:txBody>
      </p:sp>
      <p:sp>
        <p:nvSpPr>
          <p:cNvPr id="38" name="Text 36"/>
          <p:cNvSpPr/>
          <p:nvPr/>
        </p:nvSpPr>
        <p:spPr>
          <a:xfrm>
            <a:off x="5806440" y="4224528"/>
            <a:ext cx="2834640" cy="155448"/>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Modified: File content changed</a:t>
            </a:r>
            <a:endParaRPr lang="en-US" sz="1000" dirty="0"/>
          </a:p>
        </p:txBody>
      </p:sp>
      <p:sp>
        <p:nvSpPr>
          <p:cNvPr id="39" name="Shape 37"/>
          <p:cNvSpPr/>
          <p:nvPr/>
        </p:nvSpPr>
        <p:spPr>
          <a:xfrm>
            <a:off x="5577840" y="4398264"/>
            <a:ext cx="182880" cy="155448"/>
          </a:xfrm>
          <a:prstGeom prst="rect">
            <a:avLst/>
          </a:prstGeom>
          <a:solidFill>
            <a:srgbClr val="7C3AED"/>
          </a:solidFill>
          <a:ln w="12700">
            <a:solidFill>
              <a:srgbClr val="7C3AED"/>
            </a:solidFill>
            <a:prstDash val="solid"/>
          </a:ln>
        </p:spPr>
      </p:sp>
      <p:sp>
        <p:nvSpPr>
          <p:cNvPr id="40" name="Text 38"/>
          <p:cNvSpPr/>
          <p:nvPr/>
        </p:nvSpPr>
        <p:spPr>
          <a:xfrm>
            <a:off x="5577840" y="4398264"/>
            <a:ext cx="182880"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1" name="Text 39"/>
          <p:cNvSpPr/>
          <p:nvPr/>
        </p:nvSpPr>
        <p:spPr>
          <a:xfrm>
            <a:off x="5806440" y="4398264"/>
            <a:ext cx="2834640" cy="155448"/>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Accessed: File opened/read</a:t>
            </a:r>
            <a:endParaRPr lang="en-US" sz="1000" dirty="0"/>
          </a:p>
        </p:txBody>
      </p:sp>
      <p:sp>
        <p:nvSpPr>
          <p:cNvPr id="42" name="Shape 40"/>
          <p:cNvSpPr/>
          <p:nvPr/>
        </p:nvSpPr>
        <p:spPr>
          <a:xfrm>
            <a:off x="5577840" y="4572000"/>
            <a:ext cx="182880" cy="155448"/>
          </a:xfrm>
          <a:prstGeom prst="rect">
            <a:avLst/>
          </a:prstGeom>
          <a:solidFill>
            <a:srgbClr val="7C3AED"/>
          </a:solidFill>
          <a:ln w="12700">
            <a:solidFill>
              <a:srgbClr val="7C3AED"/>
            </a:solidFill>
            <a:prstDash val="solid"/>
          </a:ln>
        </p:spPr>
      </p:sp>
      <p:sp>
        <p:nvSpPr>
          <p:cNvPr id="43" name="Text 41"/>
          <p:cNvSpPr/>
          <p:nvPr/>
        </p:nvSpPr>
        <p:spPr>
          <a:xfrm>
            <a:off x="5577840" y="4572000"/>
            <a:ext cx="182880"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4" name="Text 42"/>
          <p:cNvSpPr/>
          <p:nvPr/>
        </p:nvSpPr>
        <p:spPr>
          <a:xfrm>
            <a:off x="5806440" y="4572000"/>
            <a:ext cx="2834640" cy="155448"/>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Changed: MFT entry changed</a:t>
            </a:r>
            <a:endParaRPr lang="en-US" sz="1000" dirty="0"/>
          </a:p>
        </p:txBody>
      </p:sp>
      <p:sp>
        <p:nvSpPr>
          <p:cNvPr id="45" name="Shape 43"/>
          <p:cNvSpPr/>
          <p:nvPr/>
        </p:nvSpPr>
        <p:spPr>
          <a:xfrm>
            <a:off x="5577840" y="4745736"/>
            <a:ext cx="182880" cy="155448"/>
          </a:xfrm>
          <a:prstGeom prst="rect">
            <a:avLst/>
          </a:prstGeom>
          <a:solidFill>
            <a:srgbClr val="7C3AED"/>
          </a:solidFill>
          <a:ln w="12700">
            <a:solidFill>
              <a:srgbClr val="7C3AED"/>
            </a:solidFill>
            <a:prstDash val="solid"/>
          </a:ln>
        </p:spPr>
      </p:sp>
      <p:sp>
        <p:nvSpPr>
          <p:cNvPr id="46" name="Text 44"/>
          <p:cNvSpPr/>
          <p:nvPr/>
        </p:nvSpPr>
        <p:spPr>
          <a:xfrm>
            <a:off x="5577840" y="4745736"/>
            <a:ext cx="182880"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a:t>
            </a:r>
            <a:endParaRPr lang="en-US" sz="900" dirty="0"/>
          </a:p>
        </p:txBody>
      </p:sp>
      <p:sp>
        <p:nvSpPr>
          <p:cNvPr id="47" name="Text 45"/>
          <p:cNvSpPr/>
          <p:nvPr/>
        </p:nvSpPr>
        <p:spPr>
          <a:xfrm>
            <a:off x="5806440" y="4745736"/>
            <a:ext cx="2834640" cy="155448"/>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Entry: Metadata changed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w="12700">
            <a:solidFill>
              <a:srgbClr val="00D4FF"/>
            </a:solidFill>
            <a:prstDash val="solid"/>
          </a:ln>
        </p:spPr>
      </p:sp>
      <p:sp>
        <p:nvSpPr>
          <p:cNvPr id="3" name="Text 1"/>
          <p:cNvSpPr/>
          <p:nvPr/>
        </p:nvSpPr>
        <p:spPr>
          <a:xfrm>
            <a:off x="411480" y="128016"/>
            <a:ext cx="832104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Why Deleted Does Not Mean Gone</a:t>
            </a:r>
            <a:endParaRPr lang="en-US" sz="2800" dirty="0"/>
          </a:p>
        </p:txBody>
      </p:sp>
      <p:sp>
        <p:nvSpPr>
          <p:cNvPr id="4" name="Text 2"/>
          <p:cNvSpPr/>
          <p:nvPr/>
        </p:nvSpPr>
        <p:spPr>
          <a:xfrm>
            <a:off x="411480" y="658368"/>
            <a:ext cx="8321040" cy="256032"/>
          </a:xfrm>
          <a:prstGeom prst="rect">
            <a:avLst/>
          </a:prstGeom>
          <a:noFill/>
          <a:ln/>
        </p:spPr>
        <p:txBody>
          <a:bodyPr wrap="square" lIns="0" tIns="0" rIns="0" bIns="0" rtlCol="0" anchor="ctr"/>
          <a:lstStyle/>
          <a:p>
            <a:pPr indent="0" marL="0">
              <a:buNone/>
            </a:pPr>
            <a:r>
              <a:rPr lang="en-US" sz="1200" dirty="0">
                <a:solidFill>
                  <a:srgbClr val="00D4FF"/>
                </a:solidFill>
                <a:latin typeface="Calibri" pitchFamily="34" charset="0"/>
                <a:ea typeface="Calibri" pitchFamily="34" charset="-122"/>
                <a:cs typeface="Calibri" pitchFamily="34" charset="-120"/>
              </a:rPr>
              <a:t>The most important concept in digital forensics</a:t>
            </a:r>
            <a:endParaRPr lang="en-US" sz="1200" dirty="0"/>
          </a:p>
        </p:txBody>
      </p:sp>
      <p:sp>
        <p:nvSpPr>
          <p:cNvPr id="5" name="Shape 3"/>
          <p:cNvSpPr/>
          <p:nvPr/>
        </p:nvSpPr>
        <p:spPr>
          <a:xfrm>
            <a:off x="0" y="4956048"/>
            <a:ext cx="9144000" cy="182880"/>
          </a:xfrm>
          <a:prstGeom prst="rect">
            <a:avLst/>
          </a:prstGeom>
          <a:solidFill>
            <a:srgbClr val="1E293B"/>
          </a:solidFill>
          <a:ln w="12700">
            <a:solidFill>
              <a:srgbClr val="1E293B"/>
            </a:solidFill>
            <a:prstDash val="solid"/>
          </a:ln>
        </p:spPr>
      </p:sp>
      <p:sp>
        <p:nvSpPr>
          <p:cNvPr id="6" name="Text 4"/>
          <p:cNvSpPr/>
          <p:nvPr/>
        </p:nvSpPr>
        <p:spPr>
          <a:xfrm>
            <a:off x="0" y="4965192"/>
            <a:ext cx="9144000" cy="16459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Unit IV — Fundamentals of Cyber Forensics</a:t>
            </a:r>
            <a:endParaRPr lang="en-US" sz="900" dirty="0"/>
          </a:p>
        </p:txBody>
      </p:sp>
      <p:sp>
        <p:nvSpPr>
          <p:cNvPr id="7" name="Shape 5"/>
          <p:cNvSpPr/>
          <p:nvPr/>
        </p:nvSpPr>
        <p:spPr>
          <a:xfrm>
            <a:off x="411480" y="1005840"/>
            <a:ext cx="8321040" cy="713232"/>
          </a:xfrm>
          <a:prstGeom prst="rect">
            <a:avLst/>
          </a:prstGeom>
          <a:solidFill>
            <a:srgbClr val="0D1B2A"/>
          </a:solidFill>
          <a:ln w="12700">
            <a:solidFill>
              <a:srgbClr val="00D4FF"/>
            </a:solidFill>
            <a:prstDash val="solid"/>
          </a:ln>
        </p:spPr>
      </p:sp>
      <p:sp>
        <p:nvSpPr>
          <p:cNvPr id="8" name="Text 6"/>
          <p:cNvSpPr/>
          <p:nvPr/>
        </p:nvSpPr>
        <p:spPr>
          <a:xfrm>
            <a:off x="502920" y="1005840"/>
            <a:ext cx="8229600" cy="713232"/>
          </a:xfrm>
          <a:prstGeom prst="rect">
            <a:avLst/>
          </a:prstGeom>
          <a:noFill/>
          <a:ln/>
        </p:spPr>
        <p:txBody>
          <a:bodyPr wrap="square" rtlCol="0" anchor="ctr"/>
          <a:lstStyle/>
          <a:p>
            <a:pPr algn="ctr" indent="0" marL="0">
              <a:buNone/>
            </a:pPr>
            <a:r>
              <a:rPr lang="en-US" sz="1800" b="1" i="1" dirty="0">
                <a:solidFill>
                  <a:srgbClr val="00D4FF"/>
                </a:solidFill>
                <a:latin typeface="Calibri" pitchFamily="34" charset="0"/>
                <a:ea typeface="Calibri" pitchFamily="34" charset="-122"/>
                <a:cs typeface="Calibri" pitchFamily="34" charset="-120"/>
              </a:rPr>
              <a:t>"Deleting a file removes the pointer — not the data."</a:t>
            </a:r>
            <a:endParaRPr lang="en-US" sz="1800" dirty="0"/>
          </a:p>
        </p:txBody>
      </p:sp>
      <p:sp>
        <p:nvSpPr>
          <p:cNvPr id="9" name="Shape 7"/>
          <p:cNvSpPr/>
          <p:nvPr/>
        </p:nvSpPr>
        <p:spPr>
          <a:xfrm>
            <a:off x="411480" y="1828800"/>
            <a:ext cx="2697480" cy="1737360"/>
          </a:xfrm>
          <a:prstGeom prst="rect">
            <a:avLst/>
          </a:prstGeom>
          <a:solidFill>
            <a:srgbClr val="1E293B"/>
          </a:solidFill>
          <a:ln w="12700">
            <a:solidFill>
              <a:srgbClr val="F59E0B"/>
            </a:solidFill>
            <a:prstDash val="solid"/>
          </a:ln>
        </p:spPr>
      </p:sp>
      <p:sp>
        <p:nvSpPr>
          <p:cNvPr id="10" name="Shape 8"/>
          <p:cNvSpPr/>
          <p:nvPr/>
        </p:nvSpPr>
        <p:spPr>
          <a:xfrm>
            <a:off x="411480" y="1828800"/>
            <a:ext cx="2697480" cy="384048"/>
          </a:xfrm>
          <a:prstGeom prst="rect">
            <a:avLst/>
          </a:prstGeom>
          <a:solidFill>
            <a:srgbClr val="F59E0B"/>
          </a:solidFill>
          <a:ln w="12700">
            <a:solidFill>
              <a:srgbClr val="F59E0B"/>
            </a:solidFill>
            <a:prstDash val="solid"/>
          </a:ln>
        </p:spPr>
      </p:sp>
      <p:sp>
        <p:nvSpPr>
          <p:cNvPr id="11" name="Text 9"/>
          <p:cNvSpPr/>
          <p:nvPr/>
        </p:nvSpPr>
        <p:spPr>
          <a:xfrm>
            <a:off x="411480" y="1828800"/>
            <a:ext cx="2697480" cy="384048"/>
          </a:xfrm>
          <a:prstGeom prst="rect">
            <a:avLst/>
          </a:prstGeom>
          <a:noFill/>
          <a:ln/>
        </p:spPr>
        <p:txBody>
          <a:bodyPr wrap="square" rtlCol="0" anchor="ctr"/>
          <a:lstStyle/>
          <a:p>
            <a:pPr algn="ctr" indent="0" marL="0">
              <a:buNone/>
            </a:pPr>
            <a:r>
              <a:rPr lang="en-US" sz="1800" b="1" dirty="0">
                <a:solidFill>
                  <a:srgbClr val="0D1B2A"/>
                </a:solidFill>
                <a:latin typeface="Calibri" pitchFamily="34" charset="0"/>
                <a:ea typeface="Calibri" pitchFamily="34" charset="-122"/>
                <a:cs typeface="Calibri" pitchFamily="34" charset="-120"/>
              </a:rPr>
              <a:t>FAT32</a:t>
            </a:r>
            <a:endParaRPr lang="en-US" sz="1800" dirty="0"/>
          </a:p>
        </p:txBody>
      </p:sp>
      <p:sp>
        <p:nvSpPr>
          <p:cNvPr id="12" name="Text 10"/>
          <p:cNvSpPr/>
          <p:nvPr/>
        </p:nvSpPr>
        <p:spPr>
          <a:xfrm>
            <a:off x="521208" y="228600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1. First byte of filename → 0xE5</a:t>
            </a:r>
            <a:endParaRPr lang="en-US" sz="1100" dirty="0"/>
          </a:p>
        </p:txBody>
      </p:sp>
      <p:sp>
        <p:nvSpPr>
          <p:cNvPr id="13" name="Text 11"/>
          <p:cNvSpPr/>
          <p:nvPr/>
        </p:nvSpPr>
        <p:spPr>
          <a:xfrm>
            <a:off x="521208" y="269748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2. FAT table entries → set to 0x00</a:t>
            </a:r>
            <a:endParaRPr lang="en-US" sz="1100" dirty="0"/>
          </a:p>
        </p:txBody>
      </p:sp>
      <p:sp>
        <p:nvSpPr>
          <p:cNvPr id="14" name="Text 12"/>
          <p:cNvSpPr/>
          <p:nvPr/>
        </p:nvSpPr>
        <p:spPr>
          <a:xfrm>
            <a:off x="521208" y="310896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3. Data clusters: UNTOUCHED ✓</a:t>
            </a:r>
            <a:endParaRPr lang="en-US" sz="1100" dirty="0"/>
          </a:p>
        </p:txBody>
      </p:sp>
      <p:sp>
        <p:nvSpPr>
          <p:cNvPr id="15" name="Shape 13"/>
          <p:cNvSpPr/>
          <p:nvPr/>
        </p:nvSpPr>
        <p:spPr>
          <a:xfrm>
            <a:off x="3227832" y="1828800"/>
            <a:ext cx="2697480" cy="1737360"/>
          </a:xfrm>
          <a:prstGeom prst="rect">
            <a:avLst/>
          </a:prstGeom>
          <a:solidFill>
            <a:srgbClr val="1E293B"/>
          </a:solidFill>
          <a:ln w="12700">
            <a:solidFill>
              <a:srgbClr val="00D4FF"/>
            </a:solidFill>
            <a:prstDash val="solid"/>
          </a:ln>
        </p:spPr>
      </p:sp>
      <p:sp>
        <p:nvSpPr>
          <p:cNvPr id="16" name="Shape 14"/>
          <p:cNvSpPr/>
          <p:nvPr/>
        </p:nvSpPr>
        <p:spPr>
          <a:xfrm>
            <a:off x="3227832" y="1828800"/>
            <a:ext cx="2697480" cy="384048"/>
          </a:xfrm>
          <a:prstGeom prst="rect">
            <a:avLst/>
          </a:prstGeom>
          <a:solidFill>
            <a:srgbClr val="00D4FF"/>
          </a:solidFill>
          <a:ln w="12700">
            <a:solidFill>
              <a:srgbClr val="00D4FF"/>
            </a:solidFill>
            <a:prstDash val="solid"/>
          </a:ln>
        </p:spPr>
      </p:sp>
      <p:sp>
        <p:nvSpPr>
          <p:cNvPr id="17" name="Text 15"/>
          <p:cNvSpPr/>
          <p:nvPr/>
        </p:nvSpPr>
        <p:spPr>
          <a:xfrm>
            <a:off x="3227832" y="1828800"/>
            <a:ext cx="2697480" cy="384048"/>
          </a:xfrm>
          <a:prstGeom prst="rect">
            <a:avLst/>
          </a:prstGeom>
          <a:noFill/>
          <a:ln/>
        </p:spPr>
        <p:txBody>
          <a:bodyPr wrap="square" rtlCol="0" anchor="ctr"/>
          <a:lstStyle/>
          <a:p>
            <a:pPr algn="ctr" indent="0" marL="0">
              <a:buNone/>
            </a:pPr>
            <a:r>
              <a:rPr lang="en-US" sz="1800" b="1" dirty="0">
                <a:solidFill>
                  <a:srgbClr val="0D1B2A"/>
                </a:solidFill>
                <a:latin typeface="Calibri" pitchFamily="34" charset="0"/>
                <a:ea typeface="Calibri" pitchFamily="34" charset="-122"/>
                <a:cs typeface="Calibri" pitchFamily="34" charset="-120"/>
              </a:rPr>
              <a:t>NTFS</a:t>
            </a:r>
            <a:endParaRPr lang="en-US" sz="1800" dirty="0"/>
          </a:p>
        </p:txBody>
      </p:sp>
      <p:sp>
        <p:nvSpPr>
          <p:cNvPr id="18" name="Text 16"/>
          <p:cNvSpPr/>
          <p:nvPr/>
        </p:nvSpPr>
        <p:spPr>
          <a:xfrm>
            <a:off x="3337560" y="228600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1. MFT entry flagged 'not in use'</a:t>
            </a:r>
            <a:endParaRPr lang="en-US" sz="1100" dirty="0"/>
          </a:p>
        </p:txBody>
      </p:sp>
      <p:sp>
        <p:nvSpPr>
          <p:cNvPr id="19" name="Text 17"/>
          <p:cNvSpPr/>
          <p:nvPr/>
        </p:nvSpPr>
        <p:spPr>
          <a:xfrm>
            <a:off x="3337560" y="269748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2. $Bitmap marks clusters free</a:t>
            </a:r>
            <a:endParaRPr lang="en-US" sz="1100" dirty="0"/>
          </a:p>
        </p:txBody>
      </p:sp>
      <p:sp>
        <p:nvSpPr>
          <p:cNvPr id="20" name="Text 18"/>
          <p:cNvSpPr/>
          <p:nvPr/>
        </p:nvSpPr>
        <p:spPr>
          <a:xfrm>
            <a:off x="3337560" y="310896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3. Data clusters: UNTOUCHED ✓</a:t>
            </a:r>
            <a:endParaRPr lang="en-US" sz="1100" dirty="0"/>
          </a:p>
        </p:txBody>
      </p:sp>
      <p:sp>
        <p:nvSpPr>
          <p:cNvPr id="21" name="Shape 19"/>
          <p:cNvSpPr/>
          <p:nvPr/>
        </p:nvSpPr>
        <p:spPr>
          <a:xfrm>
            <a:off x="6044184" y="1828800"/>
            <a:ext cx="2697480" cy="1737360"/>
          </a:xfrm>
          <a:prstGeom prst="rect">
            <a:avLst/>
          </a:prstGeom>
          <a:solidFill>
            <a:srgbClr val="1E293B"/>
          </a:solidFill>
          <a:ln w="12700">
            <a:solidFill>
              <a:srgbClr val="7C3AED"/>
            </a:solidFill>
            <a:prstDash val="solid"/>
          </a:ln>
        </p:spPr>
      </p:sp>
      <p:sp>
        <p:nvSpPr>
          <p:cNvPr id="22" name="Shape 20"/>
          <p:cNvSpPr/>
          <p:nvPr/>
        </p:nvSpPr>
        <p:spPr>
          <a:xfrm>
            <a:off x="6044184" y="1828800"/>
            <a:ext cx="2697480" cy="384048"/>
          </a:xfrm>
          <a:prstGeom prst="rect">
            <a:avLst/>
          </a:prstGeom>
          <a:solidFill>
            <a:srgbClr val="7C3AED"/>
          </a:solidFill>
          <a:ln w="12700">
            <a:solidFill>
              <a:srgbClr val="7C3AED"/>
            </a:solidFill>
            <a:prstDash val="solid"/>
          </a:ln>
        </p:spPr>
      </p:sp>
      <p:sp>
        <p:nvSpPr>
          <p:cNvPr id="23" name="Text 21"/>
          <p:cNvSpPr/>
          <p:nvPr/>
        </p:nvSpPr>
        <p:spPr>
          <a:xfrm>
            <a:off x="6044184" y="1828800"/>
            <a:ext cx="2697480" cy="384048"/>
          </a:xfrm>
          <a:prstGeom prst="rect">
            <a:avLst/>
          </a:prstGeom>
          <a:noFill/>
          <a:ln/>
        </p:spPr>
        <p:txBody>
          <a:bodyPr wrap="square" rtlCol="0" anchor="ctr"/>
          <a:lstStyle/>
          <a:p>
            <a:pPr algn="ctr" indent="0" marL="0">
              <a:buNone/>
            </a:pPr>
            <a:r>
              <a:rPr lang="en-US" sz="1800" b="1" dirty="0">
                <a:solidFill>
                  <a:srgbClr val="0D1B2A"/>
                </a:solidFill>
                <a:latin typeface="Calibri" pitchFamily="34" charset="0"/>
                <a:ea typeface="Calibri" pitchFamily="34" charset="-122"/>
                <a:cs typeface="Calibri" pitchFamily="34" charset="-120"/>
              </a:rPr>
              <a:t>ext4</a:t>
            </a:r>
            <a:endParaRPr lang="en-US" sz="1800" dirty="0"/>
          </a:p>
        </p:txBody>
      </p:sp>
      <p:sp>
        <p:nvSpPr>
          <p:cNvPr id="24" name="Text 22"/>
          <p:cNvSpPr/>
          <p:nvPr/>
        </p:nvSpPr>
        <p:spPr>
          <a:xfrm>
            <a:off x="6153912" y="228600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1. Directory entry removed</a:t>
            </a:r>
            <a:endParaRPr lang="en-US" sz="1100" dirty="0"/>
          </a:p>
        </p:txBody>
      </p:sp>
      <p:sp>
        <p:nvSpPr>
          <p:cNvPr id="25" name="Text 23"/>
          <p:cNvSpPr/>
          <p:nvPr/>
        </p:nvSpPr>
        <p:spPr>
          <a:xfrm>
            <a:off x="6153912" y="269748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2. Inode nlink count → 0</a:t>
            </a:r>
            <a:endParaRPr lang="en-US" sz="1100" dirty="0"/>
          </a:p>
        </p:txBody>
      </p:sp>
      <p:sp>
        <p:nvSpPr>
          <p:cNvPr id="26" name="Text 24"/>
          <p:cNvSpPr/>
          <p:nvPr/>
        </p:nvSpPr>
        <p:spPr>
          <a:xfrm>
            <a:off x="6153912" y="3108960"/>
            <a:ext cx="2487168" cy="38404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3. Block pointers may be zeroed ⚠</a:t>
            </a:r>
            <a:endParaRPr lang="en-US" sz="1100" dirty="0"/>
          </a:p>
        </p:txBody>
      </p:sp>
      <p:sp>
        <p:nvSpPr>
          <p:cNvPr id="27" name="Text 25"/>
          <p:cNvSpPr/>
          <p:nvPr/>
        </p:nvSpPr>
        <p:spPr>
          <a:xfrm>
            <a:off x="411480" y="3703320"/>
            <a:ext cx="8321040" cy="292608"/>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Recovery Tools</a:t>
            </a:r>
            <a:endParaRPr lang="en-US" sz="1400" dirty="0"/>
          </a:p>
        </p:txBody>
      </p:sp>
      <p:sp>
        <p:nvSpPr>
          <p:cNvPr id="28" name="Shape 26"/>
          <p:cNvSpPr/>
          <p:nvPr/>
        </p:nvSpPr>
        <p:spPr>
          <a:xfrm>
            <a:off x="411480" y="4041648"/>
            <a:ext cx="2697480" cy="402336"/>
          </a:xfrm>
          <a:prstGeom prst="rect">
            <a:avLst/>
          </a:prstGeom>
          <a:solidFill>
            <a:srgbClr val="1E293B"/>
          </a:solidFill>
          <a:ln w="3810">
            <a:solidFill>
              <a:srgbClr val="1A2332"/>
            </a:solidFill>
            <a:prstDash val="solid"/>
          </a:ln>
        </p:spPr>
      </p:sp>
      <p:sp>
        <p:nvSpPr>
          <p:cNvPr id="29" name="Shape 27"/>
          <p:cNvSpPr/>
          <p:nvPr/>
        </p:nvSpPr>
        <p:spPr>
          <a:xfrm>
            <a:off x="411480" y="4041648"/>
            <a:ext cx="54864" cy="402336"/>
          </a:xfrm>
          <a:prstGeom prst="rect">
            <a:avLst/>
          </a:prstGeom>
          <a:solidFill>
            <a:srgbClr val="00D4FF"/>
          </a:solidFill>
          <a:ln w="12700">
            <a:solidFill>
              <a:srgbClr val="00D4FF"/>
            </a:solidFill>
            <a:prstDash val="solid"/>
          </a:ln>
        </p:spPr>
      </p:sp>
      <p:sp>
        <p:nvSpPr>
          <p:cNvPr id="30" name="Text 28"/>
          <p:cNvSpPr/>
          <p:nvPr/>
        </p:nvSpPr>
        <p:spPr>
          <a:xfrm>
            <a:off x="539496" y="4041648"/>
            <a:ext cx="822960" cy="402336"/>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fls + icat</a:t>
            </a:r>
            <a:endParaRPr lang="en-US" sz="1100" dirty="0"/>
          </a:p>
        </p:txBody>
      </p:sp>
      <p:sp>
        <p:nvSpPr>
          <p:cNvPr id="31" name="Text 29"/>
          <p:cNvSpPr/>
          <p:nvPr/>
        </p:nvSpPr>
        <p:spPr>
          <a:xfrm>
            <a:off x="1399032" y="4041648"/>
            <a:ext cx="1636776" cy="40233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Sleuth Kit — list &amp; extract deleted files by inode</a:t>
            </a:r>
            <a:endParaRPr lang="en-US" sz="1000" dirty="0"/>
          </a:p>
        </p:txBody>
      </p:sp>
      <p:sp>
        <p:nvSpPr>
          <p:cNvPr id="32" name="Shape 30"/>
          <p:cNvSpPr/>
          <p:nvPr/>
        </p:nvSpPr>
        <p:spPr>
          <a:xfrm>
            <a:off x="3227832" y="4041648"/>
            <a:ext cx="2697480" cy="402336"/>
          </a:xfrm>
          <a:prstGeom prst="rect">
            <a:avLst/>
          </a:prstGeom>
          <a:solidFill>
            <a:srgbClr val="1E293B"/>
          </a:solidFill>
          <a:ln w="3810">
            <a:solidFill>
              <a:srgbClr val="1A2332"/>
            </a:solidFill>
            <a:prstDash val="solid"/>
          </a:ln>
        </p:spPr>
      </p:sp>
      <p:sp>
        <p:nvSpPr>
          <p:cNvPr id="33" name="Shape 31"/>
          <p:cNvSpPr/>
          <p:nvPr/>
        </p:nvSpPr>
        <p:spPr>
          <a:xfrm>
            <a:off x="3227832" y="4041648"/>
            <a:ext cx="54864" cy="402336"/>
          </a:xfrm>
          <a:prstGeom prst="rect">
            <a:avLst/>
          </a:prstGeom>
          <a:solidFill>
            <a:srgbClr val="10B981"/>
          </a:solidFill>
          <a:ln w="12700">
            <a:solidFill>
              <a:srgbClr val="10B981"/>
            </a:solidFill>
            <a:prstDash val="solid"/>
          </a:ln>
        </p:spPr>
      </p:sp>
      <p:sp>
        <p:nvSpPr>
          <p:cNvPr id="34" name="Text 32"/>
          <p:cNvSpPr/>
          <p:nvPr/>
        </p:nvSpPr>
        <p:spPr>
          <a:xfrm>
            <a:off x="3355848" y="4041648"/>
            <a:ext cx="822960" cy="402336"/>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testdisk</a:t>
            </a:r>
            <a:endParaRPr lang="en-US" sz="1100" dirty="0"/>
          </a:p>
        </p:txBody>
      </p:sp>
      <p:sp>
        <p:nvSpPr>
          <p:cNvPr id="35" name="Text 33"/>
          <p:cNvSpPr/>
          <p:nvPr/>
        </p:nvSpPr>
        <p:spPr>
          <a:xfrm>
            <a:off x="4215384" y="4041648"/>
            <a:ext cx="1636776" cy="40233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Interactive — menu-driven, preserves filenames</a:t>
            </a:r>
            <a:endParaRPr lang="en-US" sz="1000" dirty="0"/>
          </a:p>
        </p:txBody>
      </p:sp>
      <p:sp>
        <p:nvSpPr>
          <p:cNvPr id="36" name="Shape 34"/>
          <p:cNvSpPr/>
          <p:nvPr/>
        </p:nvSpPr>
        <p:spPr>
          <a:xfrm>
            <a:off x="6044184" y="4041648"/>
            <a:ext cx="2697480" cy="402336"/>
          </a:xfrm>
          <a:prstGeom prst="rect">
            <a:avLst/>
          </a:prstGeom>
          <a:solidFill>
            <a:srgbClr val="1E293B"/>
          </a:solidFill>
          <a:ln w="3810">
            <a:solidFill>
              <a:srgbClr val="1A2332"/>
            </a:solidFill>
            <a:prstDash val="solid"/>
          </a:ln>
        </p:spPr>
      </p:sp>
      <p:sp>
        <p:nvSpPr>
          <p:cNvPr id="37" name="Shape 35"/>
          <p:cNvSpPr/>
          <p:nvPr/>
        </p:nvSpPr>
        <p:spPr>
          <a:xfrm>
            <a:off x="6044184" y="4041648"/>
            <a:ext cx="54864" cy="402336"/>
          </a:xfrm>
          <a:prstGeom prst="rect">
            <a:avLst/>
          </a:prstGeom>
          <a:solidFill>
            <a:srgbClr val="F59E0B"/>
          </a:solidFill>
          <a:ln w="12700">
            <a:solidFill>
              <a:srgbClr val="F59E0B"/>
            </a:solidFill>
            <a:prstDash val="solid"/>
          </a:ln>
        </p:spPr>
      </p:sp>
      <p:sp>
        <p:nvSpPr>
          <p:cNvPr id="38" name="Text 36"/>
          <p:cNvSpPr/>
          <p:nvPr/>
        </p:nvSpPr>
        <p:spPr>
          <a:xfrm>
            <a:off x="6172200" y="4041648"/>
            <a:ext cx="822960" cy="402336"/>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photorec</a:t>
            </a:r>
            <a:endParaRPr lang="en-US" sz="1100" dirty="0"/>
          </a:p>
        </p:txBody>
      </p:sp>
      <p:sp>
        <p:nvSpPr>
          <p:cNvPr id="39" name="Text 37"/>
          <p:cNvSpPr/>
          <p:nvPr/>
        </p:nvSpPr>
        <p:spPr>
          <a:xfrm>
            <a:off x="7031736" y="4041648"/>
            <a:ext cx="1636776" cy="40233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Carving — scans raw bytes for magic byte signatures</a:t>
            </a:r>
            <a:endParaRPr lang="en-US" sz="1000" dirty="0"/>
          </a:p>
        </p:txBody>
      </p:sp>
      <p:sp>
        <p:nvSpPr>
          <p:cNvPr id="40" name="Shape 38"/>
          <p:cNvSpPr/>
          <p:nvPr/>
        </p:nvSpPr>
        <p:spPr>
          <a:xfrm>
            <a:off x="411480" y="4517136"/>
            <a:ext cx="2697480" cy="402336"/>
          </a:xfrm>
          <a:prstGeom prst="rect">
            <a:avLst/>
          </a:prstGeom>
          <a:solidFill>
            <a:srgbClr val="1E293B"/>
          </a:solidFill>
          <a:ln w="3810">
            <a:solidFill>
              <a:srgbClr val="1A2332"/>
            </a:solidFill>
            <a:prstDash val="solid"/>
          </a:ln>
        </p:spPr>
      </p:sp>
      <p:sp>
        <p:nvSpPr>
          <p:cNvPr id="41" name="Shape 39"/>
          <p:cNvSpPr/>
          <p:nvPr/>
        </p:nvSpPr>
        <p:spPr>
          <a:xfrm>
            <a:off x="411480" y="4517136"/>
            <a:ext cx="54864" cy="402336"/>
          </a:xfrm>
          <a:prstGeom prst="rect">
            <a:avLst/>
          </a:prstGeom>
          <a:solidFill>
            <a:srgbClr val="00D4FF"/>
          </a:solidFill>
          <a:ln w="12700">
            <a:solidFill>
              <a:srgbClr val="00D4FF"/>
            </a:solidFill>
            <a:prstDash val="solid"/>
          </a:ln>
        </p:spPr>
      </p:sp>
      <p:sp>
        <p:nvSpPr>
          <p:cNvPr id="42" name="Text 40"/>
          <p:cNvSpPr/>
          <p:nvPr/>
        </p:nvSpPr>
        <p:spPr>
          <a:xfrm>
            <a:off x="539496" y="4517136"/>
            <a:ext cx="822960" cy="402336"/>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ntfsundelete</a:t>
            </a:r>
            <a:endParaRPr lang="en-US" sz="1100" dirty="0"/>
          </a:p>
        </p:txBody>
      </p:sp>
      <p:sp>
        <p:nvSpPr>
          <p:cNvPr id="43" name="Text 41"/>
          <p:cNvSpPr/>
          <p:nvPr/>
        </p:nvSpPr>
        <p:spPr>
          <a:xfrm>
            <a:off x="1399032" y="4517136"/>
            <a:ext cx="1636776" cy="40233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NTFS-specific — shows recovery completeness %</a:t>
            </a:r>
            <a:endParaRPr lang="en-US" sz="1000" dirty="0"/>
          </a:p>
        </p:txBody>
      </p:sp>
      <p:sp>
        <p:nvSpPr>
          <p:cNvPr id="44" name="Shape 42"/>
          <p:cNvSpPr/>
          <p:nvPr/>
        </p:nvSpPr>
        <p:spPr>
          <a:xfrm>
            <a:off x="3227832" y="4517136"/>
            <a:ext cx="2697480" cy="402336"/>
          </a:xfrm>
          <a:prstGeom prst="rect">
            <a:avLst/>
          </a:prstGeom>
          <a:solidFill>
            <a:srgbClr val="1E293B"/>
          </a:solidFill>
          <a:ln w="3810">
            <a:solidFill>
              <a:srgbClr val="1A2332"/>
            </a:solidFill>
            <a:prstDash val="solid"/>
          </a:ln>
        </p:spPr>
      </p:sp>
      <p:sp>
        <p:nvSpPr>
          <p:cNvPr id="45" name="Shape 43"/>
          <p:cNvSpPr/>
          <p:nvPr/>
        </p:nvSpPr>
        <p:spPr>
          <a:xfrm>
            <a:off x="3227832" y="4517136"/>
            <a:ext cx="54864" cy="402336"/>
          </a:xfrm>
          <a:prstGeom prst="rect">
            <a:avLst/>
          </a:prstGeom>
          <a:solidFill>
            <a:srgbClr val="7C3AED"/>
          </a:solidFill>
          <a:ln w="12700">
            <a:solidFill>
              <a:srgbClr val="7C3AED"/>
            </a:solidFill>
            <a:prstDash val="solid"/>
          </a:ln>
        </p:spPr>
      </p:sp>
      <p:sp>
        <p:nvSpPr>
          <p:cNvPr id="46" name="Text 44"/>
          <p:cNvSpPr/>
          <p:nvPr/>
        </p:nvSpPr>
        <p:spPr>
          <a:xfrm>
            <a:off x="3355848" y="4517136"/>
            <a:ext cx="822960" cy="402336"/>
          </a:xfrm>
          <a:prstGeom prst="rect">
            <a:avLst/>
          </a:prstGeom>
          <a:noFill/>
          <a:ln/>
        </p:spPr>
        <p:txBody>
          <a:bodyPr wrap="square" lIns="0" tIns="0" rIns="0" bIns="0" rtlCol="0" anchor="ctr"/>
          <a:lstStyle/>
          <a:p>
            <a:pPr indent="0" marL="0">
              <a:buNone/>
            </a:pPr>
            <a:r>
              <a:rPr lang="en-US" sz="1100" b="1" dirty="0">
                <a:solidFill>
                  <a:srgbClr val="7C3AED"/>
                </a:solidFill>
                <a:latin typeface="Consolas" pitchFamily="34" charset="0"/>
                <a:ea typeface="Consolas" pitchFamily="34" charset="-122"/>
                <a:cs typeface="Consolas" pitchFamily="34" charset="-120"/>
              </a:rPr>
              <a:t>extundelete</a:t>
            </a:r>
            <a:endParaRPr lang="en-US" sz="1100" dirty="0"/>
          </a:p>
        </p:txBody>
      </p:sp>
      <p:sp>
        <p:nvSpPr>
          <p:cNvPr id="47" name="Text 45"/>
          <p:cNvSpPr/>
          <p:nvPr/>
        </p:nvSpPr>
        <p:spPr>
          <a:xfrm>
            <a:off x="4215384" y="4517136"/>
            <a:ext cx="1636776" cy="40233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ext4 — journal-aware deleted file recovery</a:t>
            </a:r>
            <a:endParaRPr lang="en-US" sz="1000" dirty="0"/>
          </a:p>
        </p:txBody>
      </p:sp>
      <p:sp>
        <p:nvSpPr>
          <p:cNvPr id="48" name="Shape 46"/>
          <p:cNvSpPr/>
          <p:nvPr/>
        </p:nvSpPr>
        <p:spPr>
          <a:xfrm>
            <a:off x="6044184" y="4517136"/>
            <a:ext cx="2697480" cy="402336"/>
          </a:xfrm>
          <a:prstGeom prst="rect">
            <a:avLst/>
          </a:prstGeom>
          <a:solidFill>
            <a:srgbClr val="1E293B"/>
          </a:solidFill>
          <a:ln w="3810">
            <a:solidFill>
              <a:srgbClr val="1A2332"/>
            </a:solidFill>
            <a:prstDash val="solid"/>
          </a:ln>
        </p:spPr>
      </p:sp>
      <p:sp>
        <p:nvSpPr>
          <p:cNvPr id="49" name="Shape 47"/>
          <p:cNvSpPr/>
          <p:nvPr/>
        </p:nvSpPr>
        <p:spPr>
          <a:xfrm>
            <a:off x="6044184" y="4517136"/>
            <a:ext cx="54864" cy="402336"/>
          </a:xfrm>
          <a:prstGeom prst="rect">
            <a:avLst/>
          </a:prstGeom>
          <a:solidFill>
            <a:srgbClr val="0F766E"/>
          </a:solidFill>
          <a:ln w="12700">
            <a:solidFill>
              <a:srgbClr val="0F766E"/>
            </a:solidFill>
            <a:prstDash val="solid"/>
          </a:ln>
        </p:spPr>
      </p:sp>
      <p:sp>
        <p:nvSpPr>
          <p:cNvPr id="50" name="Text 48"/>
          <p:cNvSpPr/>
          <p:nvPr/>
        </p:nvSpPr>
        <p:spPr>
          <a:xfrm>
            <a:off x="6172200" y="4517136"/>
            <a:ext cx="822960" cy="402336"/>
          </a:xfrm>
          <a:prstGeom prst="rect">
            <a:avLst/>
          </a:prstGeom>
          <a:noFill/>
          <a:ln/>
        </p:spPr>
        <p:txBody>
          <a:bodyPr wrap="square" lIns="0" tIns="0" rIns="0" bIns="0" rtlCol="0" anchor="ctr"/>
          <a:lstStyle/>
          <a:p>
            <a:pPr indent="0" marL="0">
              <a:buNone/>
            </a:pPr>
            <a:r>
              <a:rPr lang="en-US" sz="1100" b="1" dirty="0">
                <a:solidFill>
                  <a:srgbClr val="0F766E"/>
                </a:solidFill>
                <a:latin typeface="Consolas" pitchFamily="34" charset="0"/>
                <a:ea typeface="Consolas" pitchFamily="34" charset="-122"/>
                <a:cs typeface="Consolas" pitchFamily="34" charset="-120"/>
              </a:rPr>
              <a:t>autopsy</a:t>
            </a:r>
            <a:endParaRPr lang="en-US" sz="1100" dirty="0"/>
          </a:p>
        </p:txBody>
      </p:sp>
      <p:sp>
        <p:nvSpPr>
          <p:cNvPr id="51" name="Text 49"/>
          <p:cNvSpPr/>
          <p:nvPr/>
        </p:nvSpPr>
        <p:spPr>
          <a:xfrm>
            <a:off x="7031736" y="4517136"/>
            <a:ext cx="1636776" cy="40233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GUI suite — browse, recover, timeline, search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w="12700">
            <a:solidFill>
              <a:srgbClr val="00D4FF"/>
            </a:solidFill>
            <a:prstDash val="solid"/>
          </a:ln>
        </p:spPr>
      </p:sp>
      <p:sp>
        <p:nvSpPr>
          <p:cNvPr id="3" name="Text 1"/>
          <p:cNvSpPr/>
          <p:nvPr/>
        </p:nvSpPr>
        <p:spPr>
          <a:xfrm>
            <a:off x="411480" y="128016"/>
            <a:ext cx="832104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Data Carving &amp; Formatted Partition Recovery</a:t>
            </a:r>
            <a:endParaRPr lang="en-US" sz="2800" dirty="0"/>
          </a:p>
        </p:txBody>
      </p:sp>
      <p:sp>
        <p:nvSpPr>
          <p:cNvPr id="4" name="Text 2"/>
          <p:cNvSpPr/>
          <p:nvPr/>
        </p:nvSpPr>
        <p:spPr>
          <a:xfrm>
            <a:off x="411480" y="658368"/>
            <a:ext cx="8321040" cy="256032"/>
          </a:xfrm>
          <a:prstGeom prst="rect">
            <a:avLst/>
          </a:prstGeom>
          <a:noFill/>
          <a:ln/>
        </p:spPr>
        <p:txBody>
          <a:bodyPr wrap="square" lIns="0" tIns="0" rIns="0" bIns="0" rtlCol="0" anchor="ctr"/>
          <a:lstStyle/>
          <a:p>
            <a:pPr indent="0" marL="0">
              <a:buNone/>
            </a:pPr>
            <a:r>
              <a:rPr lang="en-US" sz="1200" dirty="0">
                <a:solidFill>
                  <a:srgbClr val="00D4FF"/>
                </a:solidFill>
                <a:latin typeface="Calibri" pitchFamily="34" charset="0"/>
                <a:ea typeface="Calibri" pitchFamily="34" charset="-122"/>
                <a:cs typeface="Calibri" pitchFamily="34" charset="-120"/>
              </a:rPr>
              <a:t>Last-resort techniques when the file system is gone</a:t>
            </a:r>
            <a:endParaRPr lang="en-US" sz="1200" dirty="0"/>
          </a:p>
        </p:txBody>
      </p:sp>
      <p:sp>
        <p:nvSpPr>
          <p:cNvPr id="5" name="Shape 3"/>
          <p:cNvSpPr/>
          <p:nvPr/>
        </p:nvSpPr>
        <p:spPr>
          <a:xfrm>
            <a:off x="0" y="4956048"/>
            <a:ext cx="9144000" cy="182880"/>
          </a:xfrm>
          <a:prstGeom prst="rect">
            <a:avLst/>
          </a:prstGeom>
          <a:solidFill>
            <a:srgbClr val="1E293B"/>
          </a:solidFill>
          <a:ln w="12700">
            <a:solidFill>
              <a:srgbClr val="1E293B"/>
            </a:solidFill>
            <a:prstDash val="solid"/>
          </a:ln>
        </p:spPr>
      </p:sp>
      <p:sp>
        <p:nvSpPr>
          <p:cNvPr id="6" name="Text 4"/>
          <p:cNvSpPr/>
          <p:nvPr/>
        </p:nvSpPr>
        <p:spPr>
          <a:xfrm>
            <a:off x="0" y="4965192"/>
            <a:ext cx="9144000" cy="16459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Unit IV — Fundamentals of Cyber Forensics</a:t>
            </a:r>
            <a:endParaRPr lang="en-US" sz="900" dirty="0"/>
          </a:p>
        </p:txBody>
      </p:sp>
      <p:sp>
        <p:nvSpPr>
          <p:cNvPr id="7" name="Shape 5"/>
          <p:cNvSpPr/>
          <p:nvPr/>
        </p:nvSpPr>
        <p:spPr>
          <a:xfrm>
            <a:off x="411480" y="1005840"/>
            <a:ext cx="4160520" cy="2359152"/>
          </a:xfrm>
          <a:prstGeom prst="rect">
            <a:avLst/>
          </a:prstGeom>
          <a:solidFill>
            <a:srgbClr val="1E293B"/>
          </a:solidFill>
          <a:ln w="12700">
            <a:solidFill>
              <a:srgbClr val="00D4FF"/>
            </a:solidFill>
            <a:prstDash val="solid"/>
          </a:ln>
        </p:spPr>
      </p:sp>
      <p:sp>
        <p:nvSpPr>
          <p:cNvPr id="8" name="Shape 6"/>
          <p:cNvSpPr/>
          <p:nvPr/>
        </p:nvSpPr>
        <p:spPr>
          <a:xfrm>
            <a:off x="411480" y="1005840"/>
            <a:ext cx="4160520" cy="384048"/>
          </a:xfrm>
          <a:prstGeom prst="rect">
            <a:avLst/>
          </a:prstGeom>
          <a:solidFill>
            <a:srgbClr val="00D4FF"/>
          </a:solidFill>
          <a:ln w="12700">
            <a:solidFill>
              <a:srgbClr val="00D4FF"/>
            </a:solidFill>
            <a:prstDash val="solid"/>
          </a:ln>
        </p:spPr>
      </p:sp>
      <p:pic>
        <p:nvPicPr>
          <p:cNvPr id="9" name="Image 0" descr="preencoded.png">    </p:cNvPr>
          <p:cNvPicPr>
            <a:picLocks noChangeAspect="1"/>
          </p:cNvPicPr>
          <p:nvPr/>
        </p:nvPicPr>
        <p:blipFill>
          <a:blip r:embed="rId1"/>
          <a:stretch>
            <a:fillRect/>
          </a:stretch>
        </p:blipFill>
        <p:spPr>
          <a:xfrm>
            <a:off x="475488" y="1042416"/>
            <a:ext cx="292608" cy="292608"/>
          </a:xfrm>
          <a:prstGeom prst="rect">
            <a:avLst/>
          </a:prstGeom>
        </p:spPr>
      </p:pic>
      <p:sp>
        <p:nvSpPr>
          <p:cNvPr id="10" name="Text 7"/>
          <p:cNvSpPr/>
          <p:nvPr/>
        </p:nvSpPr>
        <p:spPr>
          <a:xfrm>
            <a:off x="822960" y="1042416"/>
            <a:ext cx="3657600" cy="310896"/>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How Data Carving Works</a:t>
            </a:r>
            <a:endParaRPr lang="en-US" sz="1400" dirty="0"/>
          </a:p>
        </p:txBody>
      </p:sp>
      <p:sp>
        <p:nvSpPr>
          <p:cNvPr id="11" name="Shape 8"/>
          <p:cNvSpPr/>
          <p:nvPr/>
        </p:nvSpPr>
        <p:spPr>
          <a:xfrm>
            <a:off x="530352" y="1481328"/>
            <a:ext cx="256032" cy="256032"/>
          </a:xfrm>
          <a:prstGeom prst="rect">
            <a:avLst/>
          </a:prstGeom>
          <a:solidFill>
            <a:srgbClr val="00D4FF"/>
          </a:solidFill>
          <a:ln w="12700">
            <a:solidFill>
              <a:srgbClr val="00D4FF"/>
            </a:solidFill>
            <a:prstDash val="solid"/>
          </a:ln>
        </p:spPr>
      </p:sp>
      <p:sp>
        <p:nvSpPr>
          <p:cNvPr id="12" name="Text 9"/>
          <p:cNvSpPr/>
          <p:nvPr/>
        </p:nvSpPr>
        <p:spPr>
          <a:xfrm>
            <a:off x="530352" y="1481328"/>
            <a:ext cx="256032" cy="256032"/>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859536" y="1481328"/>
            <a:ext cx="361188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Scan disk image sector by sector</a:t>
            </a:r>
            <a:endParaRPr lang="en-US" sz="1100" dirty="0"/>
          </a:p>
        </p:txBody>
      </p:sp>
      <p:sp>
        <p:nvSpPr>
          <p:cNvPr id="14" name="Shape 11"/>
          <p:cNvSpPr/>
          <p:nvPr/>
        </p:nvSpPr>
        <p:spPr>
          <a:xfrm>
            <a:off x="530352" y="1847088"/>
            <a:ext cx="256032" cy="256032"/>
          </a:xfrm>
          <a:prstGeom prst="rect">
            <a:avLst/>
          </a:prstGeom>
          <a:solidFill>
            <a:srgbClr val="00D4FF"/>
          </a:solidFill>
          <a:ln w="12700">
            <a:solidFill>
              <a:srgbClr val="00D4FF"/>
            </a:solidFill>
            <a:prstDash val="solid"/>
          </a:ln>
        </p:spPr>
      </p:sp>
      <p:sp>
        <p:nvSpPr>
          <p:cNvPr id="15" name="Text 12"/>
          <p:cNvSpPr/>
          <p:nvPr/>
        </p:nvSpPr>
        <p:spPr>
          <a:xfrm>
            <a:off x="530352" y="1847088"/>
            <a:ext cx="256032" cy="256032"/>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859536" y="1847088"/>
            <a:ext cx="361188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Look for known file HEADERS (magic bytes)</a:t>
            </a:r>
            <a:endParaRPr lang="en-US" sz="1100" dirty="0"/>
          </a:p>
        </p:txBody>
      </p:sp>
      <p:sp>
        <p:nvSpPr>
          <p:cNvPr id="17" name="Shape 14"/>
          <p:cNvSpPr/>
          <p:nvPr/>
        </p:nvSpPr>
        <p:spPr>
          <a:xfrm>
            <a:off x="530352" y="2212848"/>
            <a:ext cx="256032" cy="256032"/>
          </a:xfrm>
          <a:prstGeom prst="rect">
            <a:avLst/>
          </a:prstGeom>
          <a:solidFill>
            <a:srgbClr val="00D4FF"/>
          </a:solidFill>
          <a:ln w="12700">
            <a:solidFill>
              <a:srgbClr val="00D4FF"/>
            </a:solidFill>
            <a:prstDash val="solid"/>
          </a:ln>
        </p:spPr>
      </p:sp>
      <p:sp>
        <p:nvSpPr>
          <p:cNvPr id="18" name="Text 15"/>
          <p:cNvSpPr/>
          <p:nvPr/>
        </p:nvSpPr>
        <p:spPr>
          <a:xfrm>
            <a:off x="530352" y="2212848"/>
            <a:ext cx="256032" cy="256032"/>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859536" y="2212848"/>
            <a:ext cx="361188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Read forward until matching FOOTER found</a:t>
            </a:r>
            <a:endParaRPr lang="en-US" sz="1100" dirty="0"/>
          </a:p>
        </p:txBody>
      </p:sp>
      <p:sp>
        <p:nvSpPr>
          <p:cNvPr id="20" name="Shape 17"/>
          <p:cNvSpPr/>
          <p:nvPr/>
        </p:nvSpPr>
        <p:spPr>
          <a:xfrm>
            <a:off x="530352" y="2578608"/>
            <a:ext cx="256032" cy="256032"/>
          </a:xfrm>
          <a:prstGeom prst="rect">
            <a:avLst/>
          </a:prstGeom>
          <a:solidFill>
            <a:srgbClr val="00D4FF"/>
          </a:solidFill>
          <a:ln w="12700">
            <a:solidFill>
              <a:srgbClr val="00D4FF"/>
            </a:solidFill>
            <a:prstDash val="solid"/>
          </a:ln>
        </p:spPr>
      </p:sp>
      <p:sp>
        <p:nvSpPr>
          <p:cNvPr id="21" name="Text 18"/>
          <p:cNvSpPr/>
          <p:nvPr/>
        </p:nvSpPr>
        <p:spPr>
          <a:xfrm>
            <a:off x="530352" y="2578608"/>
            <a:ext cx="256032" cy="256032"/>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859536" y="2578608"/>
            <a:ext cx="361188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Extract bytes between header &amp; footer</a:t>
            </a:r>
            <a:endParaRPr lang="en-US" sz="1100" dirty="0"/>
          </a:p>
        </p:txBody>
      </p:sp>
      <p:sp>
        <p:nvSpPr>
          <p:cNvPr id="23" name="Shape 20"/>
          <p:cNvSpPr/>
          <p:nvPr/>
        </p:nvSpPr>
        <p:spPr>
          <a:xfrm>
            <a:off x="530352" y="2944368"/>
            <a:ext cx="256032" cy="256032"/>
          </a:xfrm>
          <a:prstGeom prst="rect">
            <a:avLst/>
          </a:prstGeom>
          <a:solidFill>
            <a:srgbClr val="00D4FF"/>
          </a:solidFill>
          <a:ln w="12700">
            <a:solidFill>
              <a:srgbClr val="00D4FF"/>
            </a:solidFill>
            <a:prstDash val="solid"/>
          </a:ln>
        </p:spPr>
      </p:sp>
      <p:sp>
        <p:nvSpPr>
          <p:cNvPr id="24" name="Text 21"/>
          <p:cNvSpPr/>
          <p:nvPr/>
        </p:nvSpPr>
        <p:spPr>
          <a:xfrm>
            <a:off x="530352" y="2944368"/>
            <a:ext cx="256032" cy="256032"/>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5</a:t>
            </a:r>
            <a:endParaRPr lang="en-US" sz="1100" dirty="0"/>
          </a:p>
        </p:txBody>
      </p:sp>
      <p:sp>
        <p:nvSpPr>
          <p:cNvPr id="25" name="Text 22"/>
          <p:cNvSpPr/>
          <p:nvPr/>
        </p:nvSpPr>
        <p:spPr>
          <a:xfrm>
            <a:off x="859536" y="2944368"/>
            <a:ext cx="361188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Save as recovered file — no FS needed!</a:t>
            </a:r>
            <a:endParaRPr lang="en-US" sz="1100" dirty="0"/>
          </a:p>
        </p:txBody>
      </p:sp>
      <p:sp>
        <p:nvSpPr>
          <p:cNvPr id="26" name="Shape 23"/>
          <p:cNvSpPr/>
          <p:nvPr/>
        </p:nvSpPr>
        <p:spPr>
          <a:xfrm>
            <a:off x="4754880" y="1005840"/>
            <a:ext cx="3977640" cy="2359152"/>
          </a:xfrm>
          <a:prstGeom prst="rect">
            <a:avLst/>
          </a:prstGeom>
          <a:solidFill>
            <a:srgbClr val="1E293B"/>
          </a:solidFill>
          <a:ln w="12700">
            <a:solidFill>
              <a:srgbClr val="7C3AED"/>
            </a:solidFill>
            <a:prstDash val="solid"/>
          </a:ln>
        </p:spPr>
      </p:sp>
      <p:sp>
        <p:nvSpPr>
          <p:cNvPr id="27" name="Shape 24"/>
          <p:cNvSpPr/>
          <p:nvPr/>
        </p:nvSpPr>
        <p:spPr>
          <a:xfrm>
            <a:off x="4754880" y="1005840"/>
            <a:ext cx="3977640" cy="384048"/>
          </a:xfrm>
          <a:prstGeom prst="rect">
            <a:avLst/>
          </a:prstGeom>
          <a:solidFill>
            <a:srgbClr val="7C3AED"/>
          </a:solidFill>
          <a:ln w="12700">
            <a:solidFill>
              <a:srgbClr val="7C3AED"/>
            </a:solidFill>
            <a:prstDash val="solid"/>
          </a:ln>
        </p:spPr>
      </p:sp>
      <p:sp>
        <p:nvSpPr>
          <p:cNvPr id="28" name="Text 25"/>
          <p:cNvSpPr/>
          <p:nvPr/>
        </p:nvSpPr>
        <p:spPr>
          <a:xfrm>
            <a:off x="4828032" y="1042416"/>
            <a:ext cx="384048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File Signatures (Magic Bytes)</a:t>
            </a:r>
            <a:endParaRPr lang="en-US" sz="1400" dirty="0"/>
          </a:p>
        </p:txBody>
      </p:sp>
      <p:sp>
        <p:nvSpPr>
          <p:cNvPr id="29" name="Shape 26"/>
          <p:cNvSpPr/>
          <p:nvPr/>
        </p:nvSpPr>
        <p:spPr>
          <a:xfrm>
            <a:off x="4828032" y="1481328"/>
            <a:ext cx="502920" cy="274320"/>
          </a:xfrm>
          <a:prstGeom prst="rect">
            <a:avLst/>
          </a:prstGeom>
          <a:solidFill>
            <a:srgbClr val="7C3AED"/>
          </a:solidFill>
          <a:ln w="12700">
            <a:solidFill>
              <a:srgbClr val="7C3AED"/>
            </a:solidFill>
            <a:prstDash val="solid"/>
          </a:ln>
        </p:spPr>
      </p:sp>
      <p:sp>
        <p:nvSpPr>
          <p:cNvPr id="30" name="Text 27"/>
          <p:cNvSpPr/>
          <p:nvPr/>
        </p:nvSpPr>
        <p:spPr>
          <a:xfrm>
            <a:off x="4828032" y="1481328"/>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JPEG</a:t>
            </a:r>
            <a:endParaRPr lang="en-US" sz="1000" dirty="0"/>
          </a:p>
        </p:txBody>
      </p:sp>
      <p:sp>
        <p:nvSpPr>
          <p:cNvPr id="31" name="Text 28"/>
          <p:cNvSpPr/>
          <p:nvPr/>
        </p:nvSpPr>
        <p:spPr>
          <a:xfrm>
            <a:off x="5376672" y="1481328"/>
            <a:ext cx="2011680" cy="274320"/>
          </a:xfrm>
          <a:prstGeom prst="rect">
            <a:avLst/>
          </a:prstGeom>
          <a:noFill/>
          <a:ln/>
        </p:spPr>
        <p:txBody>
          <a:bodyPr wrap="square" lIns="0" tIns="0" rIns="0" bIns="0" rtlCol="0" anchor="ctr"/>
          <a:lstStyle/>
          <a:p>
            <a:pPr indent="0" marL="0">
              <a:buNone/>
            </a:pPr>
            <a:r>
              <a:rPr lang="en-US" sz="1000" dirty="0">
                <a:solidFill>
                  <a:srgbClr val="00D4FF"/>
                </a:solidFill>
                <a:latin typeface="Consolas" pitchFamily="34" charset="0"/>
                <a:ea typeface="Consolas" pitchFamily="34" charset="-122"/>
                <a:cs typeface="Consolas" pitchFamily="34" charset="-120"/>
              </a:rPr>
              <a:t>Header: FF D8 FF</a:t>
            </a:r>
            <a:endParaRPr lang="en-US" sz="1000" dirty="0"/>
          </a:p>
        </p:txBody>
      </p:sp>
      <p:sp>
        <p:nvSpPr>
          <p:cNvPr id="32" name="Text 29"/>
          <p:cNvSpPr/>
          <p:nvPr/>
        </p:nvSpPr>
        <p:spPr>
          <a:xfrm>
            <a:off x="7424928" y="1481328"/>
            <a:ext cx="123444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Footer: FF D9</a:t>
            </a:r>
            <a:endParaRPr lang="en-US" sz="1000" dirty="0"/>
          </a:p>
        </p:txBody>
      </p:sp>
      <p:sp>
        <p:nvSpPr>
          <p:cNvPr id="33" name="Shape 30"/>
          <p:cNvSpPr/>
          <p:nvPr/>
        </p:nvSpPr>
        <p:spPr>
          <a:xfrm>
            <a:off x="4828032" y="1865376"/>
            <a:ext cx="502920" cy="274320"/>
          </a:xfrm>
          <a:prstGeom prst="rect">
            <a:avLst/>
          </a:prstGeom>
          <a:solidFill>
            <a:srgbClr val="7C3AED"/>
          </a:solidFill>
          <a:ln w="12700">
            <a:solidFill>
              <a:srgbClr val="7C3AED"/>
            </a:solidFill>
            <a:prstDash val="solid"/>
          </a:ln>
        </p:spPr>
      </p:sp>
      <p:sp>
        <p:nvSpPr>
          <p:cNvPr id="34" name="Text 31"/>
          <p:cNvSpPr/>
          <p:nvPr/>
        </p:nvSpPr>
        <p:spPr>
          <a:xfrm>
            <a:off x="4828032" y="1865376"/>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PDF</a:t>
            </a:r>
            <a:endParaRPr lang="en-US" sz="1000" dirty="0"/>
          </a:p>
        </p:txBody>
      </p:sp>
      <p:sp>
        <p:nvSpPr>
          <p:cNvPr id="35" name="Text 32"/>
          <p:cNvSpPr/>
          <p:nvPr/>
        </p:nvSpPr>
        <p:spPr>
          <a:xfrm>
            <a:off x="5376672" y="1865376"/>
            <a:ext cx="2011680" cy="274320"/>
          </a:xfrm>
          <a:prstGeom prst="rect">
            <a:avLst/>
          </a:prstGeom>
          <a:noFill/>
          <a:ln/>
        </p:spPr>
        <p:txBody>
          <a:bodyPr wrap="square" lIns="0" tIns="0" rIns="0" bIns="0" rtlCol="0" anchor="ctr"/>
          <a:lstStyle/>
          <a:p>
            <a:pPr indent="0" marL="0">
              <a:buNone/>
            </a:pPr>
            <a:r>
              <a:rPr lang="en-US" sz="1000" dirty="0">
                <a:solidFill>
                  <a:srgbClr val="00D4FF"/>
                </a:solidFill>
                <a:latin typeface="Consolas" pitchFamily="34" charset="0"/>
                <a:ea typeface="Consolas" pitchFamily="34" charset="-122"/>
                <a:cs typeface="Consolas" pitchFamily="34" charset="-120"/>
              </a:rPr>
              <a:t>Header: %PDF...</a:t>
            </a:r>
            <a:endParaRPr lang="en-US" sz="1000" dirty="0"/>
          </a:p>
        </p:txBody>
      </p:sp>
      <p:sp>
        <p:nvSpPr>
          <p:cNvPr id="36" name="Text 33"/>
          <p:cNvSpPr/>
          <p:nvPr/>
        </p:nvSpPr>
        <p:spPr>
          <a:xfrm>
            <a:off x="7424928" y="1865376"/>
            <a:ext cx="123444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Footer: %%EOF</a:t>
            </a:r>
            <a:endParaRPr lang="en-US" sz="1000" dirty="0"/>
          </a:p>
        </p:txBody>
      </p:sp>
      <p:sp>
        <p:nvSpPr>
          <p:cNvPr id="37" name="Shape 34"/>
          <p:cNvSpPr/>
          <p:nvPr/>
        </p:nvSpPr>
        <p:spPr>
          <a:xfrm>
            <a:off x="4828032" y="2249424"/>
            <a:ext cx="502920" cy="274320"/>
          </a:xfrm>
          <a:prstGeom prst="rect">
            <a:avLst/>
          </a:prstGeom>
          <a:solidFill>
            <a:srgbClr val="7C3AED"/>
          </a:solidFill>
          <a:ln w="12700">
            <a:solidFill>
              <a:srgbClr val="7C3AED"/>
            </a:solidFill>
            <a:prstDash val="solid"/>
          </a:ln>
        </p:spPr>
      </p:sp>
      <p:sp>
        <p:nvSpPr>
          <p:cNvPr id="38" name="Text 35"/>
          <p:cNvSpPr/>
          <p:nvPr/>
        </p:nvSpPr>
        <p:spPr>
          <a:xfrm>
            <a:off x="4828032" y="2249424"/>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ZIP/DOCX</a:t>
            </a:r>
            <a:endParaRPr lang="en-US" sz="1000" dirty="0"/>
          </a:p>
        </p:txBody>
      </p:sp>
      <p:sp>
        <p:nvSpPr>
          <p:cNvPr id="39" name="Text 36"/>
          <p:cNvSpPr/>
          <p:nvPr/>
        </p:nvSpPr>
        <p:spPr>
          <a:xfrm>
            <a:off x="5376672" y="2249424"/>
            <a:ext cx="2011680" cy="274320"/>
          </a:xfrm>
          <a:prstGeom prst="rect">
            <a:avLst/>
          </a:prstGeom>
          <a:noFill/>
          <a:ln/>
        </p:spPr>
        <p:txBody>
          <a:bodyPr wrap="square" lIns="0" tIns="0" rIns="0" bIns="0" rtlCol="0" anchor="ctr"/>
          <a:lstStyle/>
          <a:p>
            <a:pPr indent="0" marL="0">
              <a:buNone/>
            </a:pPr>
            <a:r>
              <a:rPr lang="en-US" sz="1000" dirty="0">
                <a:solidFill>
                  <a:srgbClr val="00D4FF"/>
                </a:solidFill>
                <a:latin typeface="Consolas" pitchFamily="34" charset="0"/>
                <a:ea typeface="Consolas" pitchFamily="34" charset="-122"/>
                <a:cs typeface="Consolas" pitchFamily="34" charset="-120"/>
              </a:rPr>
              <a:t>Header: 50 4B 03 04</a:t>
            </a:r>
            <a:endParaRPr lang="en-US" sz="1000" dirty="0"/>
          </a:p>
        </p:txBody>
      </p:sp>
      <p:sp>
        <p:nvSpPr>
          <p:cNvPr id="40" name="Text 37"/>
          <p:cNvSpPr/>
          <p:nvPr/>
        </p:nvSpPr>
        <p:spPr>
          <a:xfrm>
            <a:off x="7424928" y="2249424"/>
            <a:ext cx="123444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Footer: PK end</a:t>
            </a:r>
            <a:endParaRPr lang="en-US" sz="1000" dirty="0"/>
          </a:p>
        </p:txBody>
      </p:sp>
      <p:sp>
        <p:nvSpPr>
          <p:cNvPr id="41" name="Shape 38"/>
          <p:cNvSpPr/>
          <p:nvPr/>
        </p:nvSpPr>
        <p:spPr>
          <a:xfrm>
            <a:off x="4828032" y="2633472"/>
            <a:ext cx="502920" cy="274320"/>
          </a:xfrm>
          <a:prstGeom prst="rect">
            <a:avLst/>
          </a:prstGeom>
          <a:solidFill>
            <a:srgbClr val="7C3AED"/>
          </a:solidFill>
          <a:ln w="12700">
            <a:solidFill>
              <a:srgbClr val="7C3AED"/>
            </a:solidFill>
            <a:prstDash val="solid"/>
          </a:ln>
        </p:spPr>
      </p:sp>
      <p:sp>
        <p:nvSpPr>
          <p:cNvPr id="42" name="Text 39"/>
          <p:cNvSpPr/>
          <p:nvPr/>
        </p:nvSpPr>
        <p:spPr>
          <a:xfrm>
            <a:off x="4828032" y="2633472"/>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PNG</a:t>
            </a:r>
            <a:endParaRPr lang="en-US" sz="1000" dirty="0"/>
          </a:p>
        </p:txBody>
      </p:sp>
      <p:sp>
        <p:nvSpPr>
          <p:cNvPr id="43" name="Text 40"/>
          <p:cNvSpPr/>
          <p:nvPr/>
        </p:nvSpPr>
        <p:spPr>
          <a:xfrm>
            <a:off x="5376672" y="2633472"/>
            <a:ext cx="2011680" cy="274320"/>
          </a:xfrm>
          <a:prstGeom prst="rect">
            <a:avLst/>
          </a:prstGeom>
          <a:noFill/>
          <a:ln/>
        </p:spPr>
        <p:txBody>
          <a:bodyPr wrap="square" lIns="0" tIns="0" rIns="0" bIns="0" rtlCol="0" anchor="ctr"/>
          <a:lstStyle/>
          <a:p>
            <a:pPr indent="0" marL="0">
              <a:buNone/>
            </a:pPr>
            <a:r>
              <a:rPr lang="en-US" sz="1000" dirty="0">
                <a:solidFill>
                  <a:srgbClr val="00D4FF"/>
                </a:solidFill>
                <a:latin typeface="Consolas" pitchFamily="34" charset="0"/>
                <a:ea typeface="Consolas" pitchFamily="34" charset="-122"/>
                <a:cs typeface="Consolas" pitchFamily="34" charset="-120"/>
              </a:rPr>
              <a:t>Header: 89 50 4E 47</a:t>
            </a:r>
            <a:endParaRPr lang="en-US" sz="1000" dirty="0"/>
          </a:p>
        </p:txBody>
      </p:sp>
      <p:sp>
        <p:nvSpPr>
          <p:cNvPr id="44" name="Text 41"/>
          <p:cNvSpPr/>
          <p:nvPr/>
        </p:nvSpPr>
        <p:spPr>
          <a:xfrm>
            <a:off x="7424928" y="2633472"/>
            <a:ext cx="123444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Footer: 49 45 4E 44</a:t>
            </a:r>
            <a:endParaRPr lang="en-US" sz="1000" dirty="0"/>
          </a:p>
        </p:txBody>
      </p:sp>
      <p:sp>
        <p:nvSpPr>
          <p:cNvPr id="45" name="Shape 42"/>
          <p:cNvSpPr/>
          <p:nvPr/>
        </p:nvSpPr>
        <p:spPr>
          <a:xfrm>
            <a:off x="4828032" y="3017520"/>
            <a:ext cx="502920" cy="274320"/>
          </a:xfrm>
          <a:prstGeom prst="rect">
            <a:avLst/>
          </a:prstGeom>
          <a:solidFill>
            <a:srgbClr val="7C3AED"/>
          </a:solidFill>
          <a:ln w="12700">
            <a:solidFill>
              <a:srgbClr val="7C3AED"/>
            </a:solidFill>
            <a:prstDash val="solid"/>
          </a:ln>
        </p:spPr>
      </p:sp>
      <p:sp>
        <p:nvSpPr>
          <p:cNvPr id="46" name="Text 43"/>
          <p:cNvSpPr/>
          <p:nvPr/>
        </p:nvSpPr>
        <p:spPr>
          <a:xfrm>
            <a:off x="4828032" y="3017520"/>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a:t>
            </a:r>
            <a:endParaRPr lang="en-US" sz="1000" dirty="0"/>
          </a:p>
        </p:txBody>
      </p:sp>
      <p:sp>
        <p:nvSpPr>
          <p:cNvPr id="47" name="Text 44"/>
          <p:cNvSpPr/>
          <p:nvPr/>
        </p:nvSpPr>
        <p:spPr>
          <a:xfrm>
            <a:off x="5376672" y="3017520"/>
            <a:ext cx="2011680" cy="274320"/>
          </a:xfrm>
          <a:prstGeom prst="rect">
            <a:avLst/>
          </a:prstGeom>
          <a:noFill/>
          <a:ln/>
        </p:spPr>
        <p:txBody>
          <a:bodyPr wrap="square" lIns="0" tIns="0" rIns="0" bIns="0" rtlCol="0" anchor="ctr"/>
          <a:lstStyle/>
          <a:p>
            <a:pPr indent="0" marL="0">
              <a:buNone/>
            </a:pPr>
            <a:r>
              <a:rPr lang="en-US" sz="1000" dirty="0">
                <a:solidFill>
                  <a:srgbClr val="00D4FF"/>
                </a:solidFill>
                <a:latin typeface="Consolas" pitchFamily="34" charset="0"/>
                <a:ea typeface="Consolas" pitchFamily="34" charset="-122"/>
                <a:cs typeface="Consolas" pitchFamily="34" charset="-120"/>
              </a:rPr>
              <a:t>Header: 4D 5A (MZ)</a:t>
            </a:r>
            <a:endParaRPr lang="en-US" sz="1000" dirty="0"/>
          </a:p>
        </p:txBody>
      </p:sp>
      <p:sp>
        <p:nvSpPr>
          <p:cNvPr id="48" name="Text 45"/>
          <p:cNvSpPr/>
          <p:nvPr/>
        </p:nvSpPr>
        <p:spPr>
          <a:xfrm>
            <a:off x="7424928" y="3017520"/>
            <a:ext cx="123444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Footer: —</a:t>
            </a:r>
            <a:endParaRPr lang="en-US" sz="1000" dirty="0"/>
          </a:p>
        </p:txBody>
      </p:sp>
      <p:sp>
        <p:nvSpPr>
          <p:cNvPr id="49" name="Shape 46"/>
          <p:cNvSpPr/>
          <p:nvPr/>
        </p:nvSpPr>
        <p:spPr>
          <a:xfrm>
            <a:off x="411480" y="3493008"/>
            <a:ext cx="8321040" cy="457200"/>
          </a:xfrm>
          <a:prstGeom prst="rect">
            <a:avLst/>
          </a:prstGeom>
          <a:solidFill>
            <a:srgbClr val="1E293B"/>
          </a:solidFill>
          <a:ln w="6350">
            <a:solidFill>
              <a:srgbClr val="10B981"/>
            </a:solidFill>
            <a:prstDash val="solid"/>
          </a:ln>
        </p:spPr>
      </p:sp>
      <p:sp>
        <p:nvSpPr>
          <p:cNvPr id="50" name="Shape 47"/>
          <p:cNvSpPr/>
          <p:nvPr/>
        </p:nvSpPr>
        <p:spPr>
          <a:xfrm>
            <a:off x="411480" y="3493008"/>
            <a:ext cx="64008" cy="457200"/>
          </a:xfrm>
          <a:prstGeom prst="rect">
            <a:avLst/>
          </a:prstGeom>
          <a:solidFill>
            <a:srgbClr val="10B981"/>
          </a:solidFill>
          <a:ln w="12700">
            <a:solidFill>
              <a:srgbClr val="10B981"/>
            </a:solidFill>
            <a:prstDash val="solid"/>
          </a:ln>
        </p:spPr>
      </p:sp>
      <p:sp>
        <p:nvSpPr>
          <p:cNvPr id="51" name="Shape 48"/>
          <p:cNvSpPr/>
          <p:nvPr/>
        </p:nvSpPr>
        <p:spPr>
          <a:xfrm>
            <a:off x="521208" y="3566160"/>
            <a:ext cx="1188720" cy="310896"/>
          </a:xfrm>
          <a:prstGeom prst="rect">
            <a:avLst/>
          </a:prstGeom>
          <a:solidFill>
            <a:srgbClr val="10B981"/>
          </a:solidFill>
          <a:ln w="12700">
            <a:solidFill>
              <a:srgbClr val="10B981"/>
            </a:solidFill>
            <a:prstDash val="solid"/>
          </a:ln>
        </p:spPr>
      </p:sp>
      <p:sp>
        <p:nvSpPr>
          <p:cNvPr id="52" name="Text 49"/>
          <p:cNvSpPr/>
          <p:nvPr/>
        </p:nvSpPr>
        <p:spPr>
          <a:xfrm>
            <a:off x="521208" y="3566160"/>
            <a:ext cx="1188720" cy="310896"/>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Quick Format</a:t>
            </a:r>
            <a:endParaRPr lang="en-US" sz="1100" dirty="0"/>
          </a:p>
        </p:txBody>
      </p:sp>
      <p:sp>
        <p:nvSpPr>
          <p:cNvPr id="53" name="Text 50"/>
          <p:cNvSpPr/>
          <p:nvPr/>
        </p:nvSpPr>
        <p:spPr>
          <a:xfrm>
            <a:off x="1810512" y="3547872"/>
            <a:ext cx="6812280" cy="347472"/>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Only rewrites FS metadata. Data clusters UNTOUCHED. TestDisk can rebuild partition table. Files recoverable.</a:t>
            </a:r>
            <a:endParaRPr lang="en-US" sz="1100" dirty="0"/>
          </a:p>
        </p:txBody>
      </p:sp>
      <p:sp>
        <p:nvSpPr>
          <p:cNvPr id="54" name="Shape 51"/>
          <p:cNvSpPr/>
          <p:nvPr/>
        </p:nvSpPr>
        <p:spPr>
          <a:xfrm>
            <a:off x="411480" y="4014216"/>
            <a:ext cx="8321040" cy="457200"/>
          </a:xfrm>
          <a:prstGeom prst="rect">
            <a:avLst/>
          </a:prstGeom>
          <a:solidFill>
            <a:srgbClr val="1E293B"/>
          </a:solidFill>
          <a:ln w="6350">
            <a:solidFill>
              <a:srgbClr val="F59E0B"/>
            </a:solidFill>
            <a:prstDash val="solid"/>
          </a:ln>
        </p:spPr>
      </p:sp>
      <p:sp>
        <p:nvSpPr>
          <p:cNvPr id="55" name="Shape 52"/>
          <p:cNvSpPr/>
          <p:nvPr/>
        </p:nvSpPr>
        <p:spPr>
          <a:xfrm>
            <a:off x="411480" y="4014216"/>
            <a:ext cx="64008" cy="457200"/>
          </a:xfrm>
          <a:prstGeom prst="rect">
            <a:avLst/>
          </a:prstGeom>
          <a:solidFill>
            <a:srgbClr val="F59E0B"/>
          </a:solidFill>
          <a:ln w="12700">
            <a:solidFill>
              <a:srgbClr val="F59E0B"/>
            </a:solidFill>
            <a:prstDash val="solid"/>
          </a:ln>
        </p:spPr>
      </p:sp>
      <p:sp>
        <p:nvSpPr>
          <p:cNvPr id="56" name="Shape 53"/>
          <p:cNvSpPr/>
          <p:nvPr/>
        </p:nvSpPr>
        <p:spPr>
          <a:xfrm>
            <a:off x="521208" y="4087368"/>
            <a:ext cx="1188720" cy="310896"/>
          </a:xfrm>
          <a:prstGeom prst="rect">
            <a:avLst/>
          </a:prstGeom>
          <a:solidFill>
            <a:srgbClr val="F59E0B"/>
          </a:solidFill>
          <a:ln w="12700">
            <a:solidFill>
              <a:srgbClr val="F59E0B"/>
            </a:solidFill>
            <a:prstDash val="solid"/>
          </a:ln>
        </p:spPr>
      </p:sp>
      <p:sp>
        <p:nvSpPr>
          <p:cNvPr id="57" name="Text 54"/>
          <p:cNvSpPr/>
          <p:nvPr/>
        </p:nvSpPr>
        <p:spPr>
          <a:xfrm>
            <a:off x="521208" y="4087368"/>
            <a:ext cx="1188720" cy="310896"/>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Full Format</a:t>
            </a:r>
            <a:endParaRPr lang="en-US" sz="1100" dirty="0"/>
          </a:p>
        </p:txBody>
      </p:sp>
      <p:sp>
        <p:nvSpPr>
          <p:cNvPr id="58" name="Text 55"/>
          <p:cNvSpPr/>
          <p:nvPr/>
        </p:nvSpPr>
        <p:spPr>
          <a:xfrm>
            <a:off x="1810512" y="4069080"/>
            <a:ext cx="6812280" cy="347472"/>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Zeros all data sectors (Vista+). Much harder to recover. Requires specialist hardware tools.</a:t>
            </a:r>
            <a:endParaRPr lang="en-US" sz="1100" dirty="0"/>
          </a:p>
        </p:txBody>
      </p:sp>
      <p:sp>
        <p:nvSpPr>
          <p:cNvPr id="59" name="Shape 56"/>
          <p:cNvSpPr/>
          <p:nvPr/>
        </p:nvSpPr>
        <p:spPr>
          <a:xfrm>
            <a:off x="411480" y="4535424"/>
            <a:ext cx="8321040" cy="457200"/>
          </a:xfrm>
          <a:prstGeom prst="rect">
            <a:avLst/>
          </a:prstGeom>
          <a:solidFill>
            <a:srgbClr val="1E293B"/>
          </a:solidFill>
          <a:ln w="6350">
            <a:solidFill>
              <a:srgbClr val="EF4444"/>
            </a:solidFill>
            <a:prstDash val="solid"/>
          </a:ln>
        </p:spPr>
      </p:sp>
      <p:sp>
        <p:nvSpPr>
          <p:cNvPr id="60" name="Shape 57"/>
          <p:cNvSpPr/>
          <p:nvPr/>
        </p:nvSpPr>
        <p:spPr>
          <a:xfrm>
            <a:off x="411480" y="4535424"/>
            <a:ext cx="64008" cy="457200"/>
          </a:xfrm>
          <a:prstGeom prst="rect">
            <a:avLst/>
          </a:prstGeom>
          <a:solidFill>
            <a:srgbClr val="EF4444"/>
          </a:solidFill>
          <a:ln w="12700">
            <a:solidFill>
              <a:srgbClr val="EF4444"/>
            </a:solidFill>
            <a:prstDash val="solid"/>
          </a:ln>
        </p:spPr>
      </p:sp>
      <p:sp>
        <p:nvSpPr>
          <p:cNvPr id="61" name="Shape 58"/>
          <p:cNvSpPr/>
          <p:nvPr/>
        </p:nvSpPr>
        <p:spPr>
          <a:xfrm>
            <a:off x="521208" y="4608576"/>
            <a:ext cx="1188720" cy="310896"/>
          </a:xfrm>
          <a:prstGeom prst="rect">
            <a:avLst/>
          </a:prstGeom>
          <a:solidFill>
            <a:srgbClr val="EF4444"/>
          </a:solidFill>
          <a:ln w="12700">
            <a:solidFill>
              <a:srgbClr val="EF4444"/>
            </a:solidFill>
            <a:prstDash val="solid"/>
          </a:ln>
        </p:spPr>
      </p:sp>
      <p:sp>
        <p:nvSpPr>
          <p:cNvPr id="62" name="Text 59"/>
          <p:cNvSpPr/>
          <p:nvPr/>
        </p:nvSpPr>
        <p:spPr>
          <a:xfrm>
            <a:off x="521208" y="4608576"/>
            <a:ext cx="1188720" cy="310896"/>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Secure Wipe</a:t>
            </a:r>
            <a:endParaRPr lang="en-US" sz="1100" dirty="0"/>
          </a:p>
        </p:txBody>
      </p:sp>
      <p:sp>
        <p:nvSpPr>
          <p:cNvPr id="63" name="Text 60"/>
          <p:cNvSpPr/>
          <p:nvPr/>
        </p:nvSpPr>
        <p:spPr>
          <a:xfrm>
            <a:off x="1810512" y="4590288"/>
            <a:ext cx="6812280" cy="347472"/>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Multiple passes of zeros, ones, random data (DoD 5220.22-M). Practically unrecoverable.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w="12700">
            <a:solidFill>
              <a:srgbClr val="00D4FF"/>
            </a:solidFill>
            <a:prstDash val="solid"/>
          </a:ln>
        </p:spPr>
      </p:sp>
      <p:sp>
        <p:nvSpPr>
          <p:cNvPr id="3" name="Text 1"/>
          <p:cNvSpPr/>
          <p:nvPr/>
        </p:nvSpPr>
        <p:spPr>
          <a:xfrm>
            <a:off x="411480" y="128016"/>
            <a:ext cx="832104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OS Artifacts — What Windows Remembers</a:t>
            </a:r>
            <a:endParaRPr lang="en-US" sz="2800" dirty="0"/>
          </a:p>
        </p:txBody>
      </p:sp>
      <p:sp>
        <p:nvSpPr>
          <p:cNvPr id="4" name="Text 2"/>
          <p:cNvSpPr/>
          <p:nvPr/>
        </p:nvSpPr>
        <p:spPr>
          <a:xfrm>
            <a:off x="411480" y="658368"/>
            <a:ext cx="8321040" cy="256032"/>
          </a:xfrm>
          <a:prstGeom prst="rect">
            <a:avLst/>
          </a:prstGeom>
          <a:noFill/>
          <a:ln/>
        </p:spPr>
        <p:txBody>
          <a:bodyPr wrap="square" lIns="0" tIns="0" rIns="0" bIns="0" rtlCol="0" anchor="ctr"/>
          <a:lstStyle/>
          <a:p>
            <a:pPr indent="0" marL="0">
              <a:buNone/>
            </a:pPr>
            <a:r>
              <a:rPr lang="en-US" sz="1200" dirty="0">
                <a:solidFill>
                  <a:srgbClr val="00D4FF"/>
                </a:solidFill>
                <a:latin typeface="Calibri" pitchFamily="34" charset="0"/>
                <a:ea typeface="Calibri" pitchFamily="34" charset="-122"/>
                <a:cs typeface="Calibri" pitchFamily="34" charset="-120"/>
              </a:rPr>
              <a:t>Evidence hiding in plain sight even after deletion</a:t>
            </a:r>
            <a:endParaRPr lang="en-US" sz="1200" dirty="0"/>
          </a:p>
        </p:txBody>
      </p:sp>
      <p:sp>
        <p:nvSpPr>
          <p:cNvPr id="5" name="Shape 3"/>
          <p:cNvSpPr/>
          <p:nvPr/>
        </p:nvSpPr>
        <p:spPr>
          <a:xfrm>
            <a:off x="0" y="4956048"/>
            <a:ext cx="9144000" cy="182880"/>
          </a:xfrm>
          <a:prstGeom prst="rect">
            <a:avLst/>
          </a:prstGeom>
          <a:solidFill>
            <a:srgbClr val="1E293B"/>
          </a:solidFill>
          <a:ln w="12700">
            <a:solidFill>
              <a:srgbClr val="1E293B"/>
            </a:solidFill>
            <a:prstDash val="solid"/>
          </a:ln>
        </p:spPr>
      </p:sp>
      <p:sp>
        <p:nvSpPr>
          <p:cNvPr id="6" name="Text 4"/>
          <p:cNvSpPr/>
          <p:nvPr/>
        </p:nvSpPr>
        <p:spPr>
          <a:xfrm>
            <a:off x="0" y="4965192"/>
            <a:ext cx="9144000" cy="16459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Unit IV — Fundamentals of Cyber Forensics</a:t>
            </a:r>
            <a:endParaRPr lang="en-US" sz="900" dirty="0"/>
          </a:p>
        </p:txBody>
      </p:sp>
      <p:sp>
        <p:nvSpPr>
          <p:cNvPr id="7" name="Shape 5"/>
          <p:cNvSpPr/>
          <p:nvPr/>
        </p:nvSpPr>
        <p:spPr>
          <a:xfrm>
            <a:off x="411480" y="1005840"/>
            <a:ext cx="8321040" cy="749808"/>
          </a:xfrm>
          <a:prstGeom prst="rect">
            <a:avLst/>
          </a:prstGeom>
          <a:solidFill>
            <a:srgbClr val="1E293B"/>
          </a:solidFill>
          <a:ln w="3810">
            <a:solidFill>
              <a:srgbClr val="1A2332"/>
            </a:solidFill>
            <a:prstDash val="solid"/>
          </a:ln>
        </p:spPr>
      </p:sp>
      <p:sp>
        <p:nvSpPr>
          <p:cNvPr id="8" name="Shape 6"/>
          <p:cNvSpPr/>
          <p:nvPr/>
        </p:nvSpPr>
        <p:spPr>
          <a:xfrm>
            <a:off x="411480" y="1005840"/>
            <a:ext cx="64008" cy="749808"/>
          </a:xfrm>
          <a:prstGeom prst="rect">
            <a:avLst/>
          </a:prstGeom>
          <a:solidFill>
            <a:srgbClr val="10B981"/>
          </a:solidFill>
          <a:ln w="12700">
            <a:solidFill>
              <a:srgbClr val="10B981"/>
            </a:solidFill>
            <a:prstDash val="solid"/>
          </a:ln>
        </p:spPr>
      </p:sp>
      <p:pic>
        <p:nvPicPr>
          <p:cNvPr id="9" name="Image 0" descr="preencoded.png">    </p:cNvPr>
          <p:cNvPicPr>
            <a:picLocks noChangeAspect="1"/>
          </p:cNvPicPr>
          <p:nvPr/>
        </p:nvPicPr>
        <p:blipFill>
          <a:blip r:embed="rId1"/>
          <a:stretch>
            <a:fillRect/>
          </a:stretch>
        </p:blipFill>
        <p:spPr>
          <a:xfrm>
            <a:off x="548640" y="1225296"/>
            <a:ext cx="320040" cy="320040"/>
          </a:xfrm>
          <a:prstGeom prst="rect">
            <a:avLst/>
          </a:prstGeom>
        </p:spPr>
      </p:pic>
      <p:sp>
        <p:nvSpPr>
          <p:cNvPr id="10" name="Text 7"/>
          <p:cNvSpPr/>
          <p:nvPr/>
        </p:nvSpPr>
        <p:spPr>
          <a:xfrm>
            <a:off x="960120" y="1060704"/>
            <a:ext cx="2377440" cy="292608"/>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Prefetch Files</a:t>
            </a:r>
            <a:endParaRPr lang="en-US" sz="1300" dirty="0"/>
          </a:p>
        </p:txBody>
      </p:sp>
      <p:sp>
        <p:nvSpPr>
          <p:cNvPr id="11" name="Text 8"/>
          <p:cNvSpPr/>
          <p:nvPr/>
        </p:nvSpPr>
        <p:spPr>
          <a:xfrm>
            <a:off x="960120" y="1371600"/>
            <a:ext cx="2377440" cy="292608"/>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C:\Windows\Prefetch\</a:t>
            </a:r>
            <a:endParaRPr lang="en-US" sz="1000" dirty="0"/>
          </a:p>
        </p:txBody>
      </p:sp>
      <p:sp>
        <p:nvSpPr>
          <p:cNvPr id="12" name="Text 9"/>
          <p:cNvSpPr/>
          <p:nvPr/>
        </p:nvSpPr>
        <p:spPr>
          <a:xfrm>
            <a:off x="3429000" y="1097280"/>
            <a:ext cx="5212080" cy="56692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Every program ever executed — run count, last 8 run times, files loaded. Survives even if the EXE is deleted.</a:t>
            </a:r>
            <a:endParaRPr lang="en-US" sz="1100" dirty="0"/>
          </a:p>
        </p:txBody>
      </p:sp>
      <p:sp>
        <p:nvSpPr>
          <p:cNvPr id="13" name="Shape 10"/>
          <p:cNvSpPr/>
          <p:nvPr/>
        </p:nvSpPr>
        <p:spPr>
          <a:xfrm>
            <a:off x="411480" y="1819656"/>
            <a:ext cx="8321040" cy="749808"/>
          </a:xfrm>
          <a:prstGeom prst="rect">
            <a:avLst/>
          </a:prstGeom>
          <a:solidFill>
            <a:srgbClr val="1E293B"/>
          </a:solidFill>
          <a:ln w="3810">
            <a:solidFill>
              <a:srgbClr val="1A2332"/>
            </a:solidFill>
            <a:prstDash val="solid"/>
          </a:ln>
        </p:spPr>
      </p:sp>
      <p:sp>
        <p:nvSpPr>
          <p:cNvPr id="14" name="Shape 11"/>
          <p:cNvSpPr/>
          <p:nvPr/>
        </p:nvSpPr>
        <p:spPr>
          <a:xfrm>
            <a:off x="411480" y="1819656"/>
            <a:ext cx="64008" cy="749808"/>
          </a:xfrm>
          <a:prstGeom prst="rect">
            <a:avLst/>
          </a:prstGeom>
          <a:solidFill>
            <a:srgbClr val="00D4FF"/>
          </a:solidFill>
          <a:ln w="12700">
            <a:solidFill>
              <a:srgbClr val="00D4FF"/>
            </a:solidFill>
            <a:prstDash val="solid"/>
          </a:ln>
        </p:spPr>
      </p:sp>
      <p:pic>
        <p:nvPicPr>
          <p:cNvPr id="15" name="Image 1" descr="preencoded.png">    </p:cNvPr>
          <p:cNvPicPr>
            <a:picLocks noChangeAspect="1"/>
          </p:cNvPicPr>
          <p:nvPr/>
        </p:nvPicPr>
        <p:blipFill>
          <a:blip r:embed="rId2"/>
          <a:stretch>
            <a:fillRect/>
          </a:stretch>
        </p:blipFill>
        <p:spPr>
          <a:xfrm>
            <a:off x="548640" y="2039112"/>
            <a:ext cx="320040" cy="320040"/>
          </a:xfrm>
          <a:prstGeom prst="rect">
            <a:avLst/>
          </a:prstGeom>
        </p:spPr>
      </p:pic>
      <p:sp>
        <p:nvSpPr>
          <p:cNvPr id="16" name="Text 12"/>
          <p:cNvSpPr/>
          <p:nvPr/>
        </p:nvSpPr>
        <p:spPr>
          <a:xfrm>
            <a:off x="960120" y="1874520"/>
            <a:ext cx="2377440" cy="292608"/>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Windows Event Logs</a:t>
            </a:r>
            <a:endParaRPr lang="en-US" sz="1300" dirty="0"/>
          </a:p>
        </p:txBody>
      </p:sp>
      <p:sp>
        <p:nvSpPr>
          <p:cNvPr id="17" name="Text 13"/>
          <p:cNvSpPr/>
          <p:nvPr/>
        </p:nvSpPr>
        <p:spPr>
          <a:xfrm>
            <a:off x="960120" y="2185416"/>
            <a:ext cx="2377440" cy="292608"/>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C:\Windows\System32\winevt\Logs\</a:t>
            </a:r>
            <a:endParaRPr lang="en-US" sz="1000" dirty="0"/>
          </a:p>
        </p:txBody>
      </p:sp>
      <p:sp>
        <p:nvSpPr>
          <p:cNvPr id="18" name="Text 14"/>
          <p:cNvSpPr/>
          <p:nvPr/>
        </p:nvSpPr>
        <p:spPr>
          <a:xfrm>
            <a:off x="3429000" y="1911096"/>
            <a:ext cx="5212080" cy="56692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Logins (4624/4625), scheduled tasks (4698), log cleared (1102), new services (7045). Complete system timeline.</a:t>
            </a:r>
            <a:endParaRPr lang="en-US" sz="1100" dirty="0"/>
          </a:p>
        </p:txBody>
      </p:sp>
      <p:sp>
        <p:nvSpPr>
          <p:cNvPr id="19" name="Shape 15"/>
          <p:cNvSpPr/>
          <p:nvPr/>
        </p:nvSpPr>
        <p:spPr>
          <a:xfrm>
            <a:off x="411480" y="2633472"/>
            <a:ext cx="8321040" cy="749808"/>
          </a:xfrm>
          <a:prstGeom prst="rect">
            <a:avLst/>
          </a:prstGeom>
          <a:solidFill>
            <a:srgbClr val="1E293B"/>
          </a:solidFill>
          <a:ln w="3810">
            <a:solidFill>
              <a:srgbClr val="1A2332"/>
            </a:solidFill>
            <a:prstDash val="solid"/>
          </a:ln>
        </p:spPr>
      </p:sp>
      <p:sp>
        <p:nvSpPr>
          <p:cNvPr id="20" name="Shape 16"/>
          <p:cNvSpPr/>
          <p:nvPr/>
        </p:nvSpPr>
        <p:spPr>
          <a:xfrm>
            <a:off x="411480" y="2633472"/>
            <a:ext cx="64008" cy="749808"/>
          </a:xfrm>
          <a:prstGeom prst="rect">
            <a:avLst/>
          </a:prstGeom>
          <a:solidFill>
            <a:srgbClr val="7C3AED"/>
          </a:solidFill>
          <a:ln w="12700">
            <a:solidFill>
              <a:srgbClr val="7C3AED"/>
            </a:solidFill>
            <a:prstDash val="solid"/>
          </a:ln>
        </p:spPr>
      </p:sp>
      <p:pic>
        <p:nvPicPr>
          <p:cNvPr id="21" name="Image 2" descr="preencoded.png">    </p:cNvPr>
          <p:cNvPicPr>
            <a:picLocks noChangeAspect="1"/>
          </p:cNvPicPr>
          <p:nvPr/>
        </p:nvPicPr>
        <p:blipFill>
          <a:blip r:embed="rId3"/>
          <a:stretch>
            <a:fillRect/>
          </a:stretch>
        </p:blipFill>
        <p:spPr>
          <a:xfrm>
            <a:off x="548640" y="2852928"/>
            <a:ext cx="320040" cy="320040"/>
          </a:xfrm>
          <a:prstGeom prst="rect">
            <a:avLst/>
          </a:prstGeom>
        </p:spPr>
      </p:pic>
      <p:sp>
        <p:nvSpPr>
          <p:cNvPr id="22" name="Text 17"/>
          <p:cNvSpPr/>
          <p:nvPr/>
        </p:nvSpPr>
        <p:spPr>
          <a:xfrm>
            <a:off x="960120" y="2688336"/>
            <a:ext cx="2377440" cy="292608"/>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USB History</a:t>
            </a:r>
            <a:endParaRPr lang="en-US" sz="1300" dirty="0"/>
          </a:p>
        </p:txBody>
      </p:sp>
      <p:sp>
        <p:nvSpPr>
          <p:cNvPr id="23" name="Text 18"/>
          <p:cNvSpPr/>
          <p:nvPr/>
        </p:nvSpPr>
        <p:spPr>
          <a:xfrm>
            <a:off x="960120" y="2999232"/>
            <a:ext cx="2377440" cy="292608"/>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HKLM\SYSTEM\...\USBSTOR</a:t>
            </a:r>
            <a:endParaRPr lang="en-US" sz="1000" dirty="0"/>
          </a:p>
        </p:txBody>
      </p:sp>
      <p:sp>
        <p:nvSpPr>
          <p:cNvPr id="24" name="Text 19"/>
          <p:cNvSpPr/>
          <p:nvPr/>
        </p:nvSpPr>
        <p:spPr>
          <a:xfrm>
            <a:off x="3429000" y="2724912"/>
            <a:ext cx="5212080" cy="56692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Every USB device ever connected — name, manufacturer, unique serial number. Can prove a specific drive was used.</a:t>
            </a:r>
            <a:endParaRPr lang="en-US" sz="1100" dirty="0"/>
          </a:p>
        </p:txBody>
      </p:sp>
      <p:sp>
        <p:nvSpPr>
          <p:cNvPr id="25" name="Shape 20"/>
          <p:cNvSpPr/>
          <p:nvPr/>
        </p:nvSpPr>
        <p:spPr>
          <a:xfrm>
            <a:off x="411480" y="3447288"/>
            <a:ext cx="8321040" cy="749808"/>
          </a:xfrm>
          <a:prstGeom prst="rect">
            <a:avLst/>
          </a:prstGeom>
          <a:solidFill>
            <a:srgbClr val="1E293B"/>
          </a:solidFill>
          <a:ln w="3810">
            <a:solidFill>
              <a:srgbClr val="1A2332"/>
            </a:solidFill>
            <a:prstDash val="solid"/>
          </a:ln>
        </p:spPr>
      </p:sp>
      <p:sp>
        <p:nvSpPr>
          <p:cNvPr id="26" name="Shape 21"/>
          <p:cNvSpPr/>
          <p:nvPr/>
        </p:nvSpPr>
        <p:spPr>
          <a:xfrm>
            <a:off x="411480" y="3447288"/>
            <a:ext cx="64008" cy="749808"/>
          </a:xfrm>
          <a:prstGeom prst="rect">
            <a:avLst/>
          </a:prstGeom>
          <a:solidFill>
            <a:srgbClr val="F59E0B"/>
          </a:solidFill>
          <a:ln w="12700">
            <a:solidFill>
              <a:srgbClr val="F59E0B"/>
            </a:solidFill>
            <a:prstDash val="solid"/>
          </a:ln>
        </p:spPr>
      </p:sp>
      <p:pic>
        <p:nvPicPr>
          <p:cNvPr id="27" name="Image 3" descr="preencoded.png">    </p:cNvPr>
          <p:cNvPicPr>
            <a:picLocks noChangeAspect="1"/>
          </p:cNvPicPr>
          <p:nvPr/>
        </p:nvPicPr>
        <p:blipFill>
          <a:blip r:embed="rId4"/>
          <a:stretch>
            <a:fillRect/>
          </a:stretch>
        </p:blipFill>
        <p:spPr>
          <a:xfrm>
            <a:off x="548640" y="3666744"/>
            <a:ext cx="320040" cy="320040"/>
          </a:xfrm>
          <a:prstGeom prst="rect">
            <a:avLst/>
          </a:prstGeom>
        </p:spPr>
      </p:pic>
      <p:sp>
        <p:nvSpPr>
          <p:cNvPr id="28" name="Text 22"/>
          <p:cNvSpPr/>
          <p:nvPr/>
        </p:nvSpPr>
        <p:spPr>
          <a:xfrm>
            <a:off x="960120" y="3502152"/>
            <a:ext cx="2377440" cy="292608"/>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pagefile.sys</a:t>
            </a:r>
            <a:endParaRPr lang="en-US" sz="1300" dirty="0"/>
          </a:p>
        </p:txBody>
      </p:sp>
      <p:sp>
        <p:nvSpPr>
          <p:cNvPr id="29" name="Text 23"/>
          <p:cNvSpPr/>
          <p:nvPr/>
        </p:nvSpPr>
        <p:spPr>
          <a:xfrm>
            <a:off x="960120" y="3813048"/>
            <a:ext cx="2377440" cy="292608"/>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C:\pagefile.sys</a:t>
            </a:r>
            <a:endParaRPr lang="en-US" sz="1000" dirty="0"/>
          </a:p>
        </p:txBody>
      </p:sp>
      <p:sp>
        <p:nvSpPr>
          <p:cNvPr id="30" name="Text 24"/>
          <p:cNvSpPr/>
          <p:nvPr/>
        </p:nvSpPr>
        <p:spPr>
          <a:xfrm>
            <a:off x="3429000" y="3538728"/>
            <a:ext cx="5212080" cy="56692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Virtual memory — contains RAM fragments including passwords, encryption keys, browser sessions, and chat messages.</a:t>
            </a:r>
            <a:endParaRPr lang="en-US" sz="1100" dirty="0"/>
          </a:p>
        </p:txBody>
      </p:sp>
      <p:sp>
        <p:nvSpPr>
          <p:cNvPr id="31" name="Shape 25"/>
          <p:cNvSpPr/>
          <p:nvPr/>
        </p:nvSpPr>
        <p:spPr>
          <a:xfrm>
            <a:off x="411480" y="4261104"/>
            <a:ext cx="8321040" cy="749808"/>
          </a:xfrm>
          <a:prstGeom prst="rect">
            <a:avLst/>
          </a:prstGeom>
          <a:solidFill>
            <a:srgbClr val="1E293B"/>
          </a:solidFill>
          <a:ln w="3810">
            <a:solidFill>
              <a:srgbClr val="1A2332"/>
            </a:solidFill>
            <a:prstDash val="solid"/>
          </a:ln>
        </p:spPr>
      </p:sp>
      <p:sp>
        <p:nvSpPr>
          <p:cNvPr id="32" name="Shape 26"/>
          <p:cNvSpPr/>
          <p:nvPr/>
        </p:nvSpPr>
        <p:spPr>
          <a:xfrm>
            <a:off x="411480" y="4261104"/>
            <a:ext cx="64008" cy="749808"/>
          </a:xfrm>
          <a:prstGeom prst="rect">
            <a:avLst/>
          </a:prstGeom>
          <a:solidFill>
            <a:srgbClr val="EF4444"/>
          </a:solidFill>
          <a:ln w="12700">
            <a:solidFill>
              <a:srgbClr val="EF4444"/>
            </a:solidFill>
            <a:prstDash val="solid"/>
          </a:ln>
        </p:spPr>
      </p:sp>
      <p:pic>
        <p:nvPicPr>
          <p:cNvPr id="33" name="Image 4" descr="preencoded.png">    </p:cNvPr>
          <p:cNvPicPr>
            <a:picLocks noChangeAspect="1"/>
          </p:cNvPicPr>
          <p:nvPr/>
        </p:nvPicPr>
        <p:blipFill>
          <a:blip r:embed="rId5"/>
          <a:stretch>
            <a:fillRect/>
          </a:stretch>
        </p:blipFill>
        <p:spPr>
          <a:xfrm>
            <a:off x="548640" y="4480560"/>
            <a:ext cx="320040" cy="320040"/>
          </a:xfrm>
          <a:prstGeom prst="rect">
            <a:avLst/>
          </a:prstGeom>
        </p:spPr>
      </p:pic>
      <p:sp>
        <p:nvSpPr>
          <p:cNvPr id="34" name="Text 27"/>
          <p:cNvSpPr/>
          <p:nvPr/>
        </p:nvSpPr>
        <p:spPr>
          <a:xfrm>
            <a:off x="960120" y="4315968"/>
            <a:ext cx="2377440" cy="292608"/>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hiberfil.sys</a:t>
            </a:r>
            <a:endParaRPr lang="en-US" sz="1300" dirty="0"/>
          </a:p>
        </p:txBody>
      </p:sp>
      <p:sp>
        <p:nvSpPr>
          <p:cNvPr id="35" name="Text 28"/>
          <p:cNvSpPr/>
          <p:nvPr/>
        </p:nvSpPr>
        <p:spPr>
          <a:xfrm>
            <a:off x="960120" y="4626864"/>
            <a:ext cx="2377440" cy="292608"/>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C:\hiberfil.sys</a:t>
            </a:r>
            <a:endParaRPr lang="en-US" sz="1000" dirty="0"/>
          </a:p>
        </p:txBody>
      </p:sp>
      <p:sp>
        <p:nvSpPr>
          <p:cNvPr id="36" name="Text 29"/>
          <p:cNvSpPr/>
          <p:nvPr/>
        </p:nvSpPr>
        <p:spPr>
          <a:xfrm>
            <a:off x="3429000" y="4352544"/>
            <a:ext cx="5212080" cy="56692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Created on hibernate — a complete compressed RAM dump. Analysable with Volatility3. Contains running processes, network connections.</a:t>
            </a:r>
            <a:endParaRPr lang="en-US" sz="1100" dirty="0"/>
          </a:p>
        </p:txBody>
      </p:sp>
      <p:sp>
        <p:nvSpPr>
          <p:cNvPr id="37" name="Shape 30"/>
          <p:cNvSpPr/>
          <p:nvPr/>
        </p:nvSpPr>
        <p:spPr>
          <a:xfrm>
            <a:off x="411480" y="5084064"/>
            <a:ext cx="8321040" cy="0"/>
          </a:xfrm>
          <a:prstGeom prst="rect">
            <a:avLst/>
          </a:prstGeom>
          <a:no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D4FF"/>
          </a:solidFill>
          <a:ln w="12700">
            <a:solidFill>
              <a:srgbClr val="00D4FF"/>
            </a:solidFill>
            <a:prstDash val="solid"/>
          </a:ln>
        </p:spPr>
      </p:sp>
      <p:sp>
        <p:nvSpPr>
          <p:cNvPr id="3" name="Text 1"/>
          <p:cNvSpPr/>
          <p:nvPr/>
        </p:nvSpPr>
        <p:spPr>
          <a:xfrm>
            <a:off x="411480" y="128016"/>
            <a:ext cx="832104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Essential Terminology</a:t>
            </a:r>
            <a:endParaRPr lang="en-US" sz="2800" dirty="0"/>
          </a:p>
        </p:txBody>
      </p:sp>
      <p:sp>
        <p:nvSpPr>
          <p:cNvPr id="4" name="Text 2"/>
          <p:cNvSpPr/>
          <p:nvPr/>
        </p:nvSpPr>
        <p:spPr>
          <a:xfrm>
            <a:off x="411480" y="658368"/>
            <a:ext cx="8321040" cy="256032"/>
          </a:xfrm>
          <a:prstGeom prst="rect">
            <a:avLst/>
          </a:prstGeom>
          <a:noFill/>
          <a:ln/>
        </p:spPr>
        <p:txBody>
          <a:bodyPr wrap="square" lIns="0" tIns="0" rIns="0" bIns="0" rtlCol="0" anchor="ctr"/>
          <a:lstStyle/>
          <a:p>
            <a:pPr indent="0" marL="0">
              <a:buNone/>
            </a:pPr>
            <a:r>
              <a:rPr lang="en-US" sz="1200" dirty="0">
                <a:solidFill>
                  <a:srgbClr val="00D4FF"/>
                </a:solidFill>
                <a:latin typeface="Calibri" pitchFamily="34" charset="0"/>
                <a:ea typeface="Calibri" pitchFamily="34" charset="-122"/>
                <a:cs typeface="Calibri" pitchFamily="34" charset="-120"/>
              </a:rPr>
              <a:t>Know these terms — they appear everywhere in forensics</a:t>
            </a:r>
            <a:endParaRPr lang="en-US" sz="1200" dirty="0"/>
          </a:p>
        </p:txBody>
      </p:sp>
      <p:sp>
        <p:nvSpPr>
          <p:cNvPr id="5" name="Shape 3"/>
          <p:cNvSpPr/>
          <p:nvPr/>
        </p:nvSpPr>
        <p:spPr>
          <a:xfrm>
            <a:off x="0" y="4956048"/>
            <a:ext cx="9144000" cy="182880"/>
          </a:xfrm>
          <a:prstGeom prst="rect">
            <a:avLst/>
          </a:prstGeom>
          <a:solidFill>
            <a:srgbClr val="1E293B"/>
          </a:solidFill>
          <a:ln w="12700">
            <a:solidFill>
              <a:srgbClr val="1E293B"/>
            </a:solidFill>
            <a:prstDash val="solid"/>
          </a:ln>
        </p:spPr>
      </p:sp>
      <p:sp>
        <p:nvSpPr>
          <p:cNvPr id="6" name="Text 4"/>
          <p:cNvSpPr/>
          <p:nvPr/>
        </p:nvSpPr>
        <p:spPr>
          <a:xfrm>
            <a:off x="0" y="4965192"/>
            <a:ext cx="9144000" cy="16459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Unit IV — Fundamentals of Cyber Forensics</a:t>
            </a:r>
            <a:endParaRPr lang="en-US" sz="900" dirty="0"/>
          </a:p>
        </p:txBody>
      </p:sp>
      <p:sp>
        <p:nvSpPr>
          <p:cNvPr id="7" name="Shape 5"/>
          <p:cNvSpPr/>
          <p:nvPr/>
        </p:nvSpPr>
        <p:spPr>
          <a:xfrm>
            <a:off x="411480" y="1005840"/>
            <a:ext cx="4069080" cy="594360"/>
          </a:xfrm>
          <a:prstGeom prst="rect">
            <a:avLst/>
          </a:prstGeom>
          <a:solidFill>
            <a:srgbClr val="1E293B"/>
          </a:solidFill>
          <a:ln w="3810">
            <a:solidFill>
              <a:srgbClr val="1A2332"/>
            </a:solidFill>
            <a:prstDash val="solid"/>
          </a:ln>
        </p:spPr>
      </p:sp>
      <p:sp>
        <p:nvSpPr>
          <p:cNvPr id="8" name="Shape 6"/>
          <p:cNvSpPr/>
          <p:nvPr/>
        </p:nvSpPr>
        <p:spPr>
          <a:xfrm>
            <a:off x="411480" y="1005840"/>
            <a:ext cx="64008" cy="594360"/>
          </a:xfrm>
          <a:prstGeom prst="rect">
            <a:avLst/>
          </a:prstGeom>
          <a:solidFill>
            <a:srgbClr val="00D4FF"/>
          </a:solidFill>
          <a:ln w="12700">
            <a:solidFill>
              <a:srgbClr val="00D4FF"/>
            </a:solidFill>
            <a:prstDash val="solid"/>
          </a:ln>
        </p:spPr>
      </p:sp>
      <p:sp>
        <p:nvSpPr>
          <p:cNvPr id="9" name="Text 7"/>
          <p:cNvSpPr/>
          <p:nvPr/>
        </p:nvSpPr>
        <p:spPr>
          <a:xfrm>
            <a:off x="548640" y="1042416"/>
            <a:ext cx="137160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Forensic Image</a:t>
            </a:r>
            <a:endParaRPr lang="en-US" sz="1200" dirty="0"/>
          </a:p>
        </p:txBody>
      </p:sp>
      <p:sp>
        <p:nvSpPr>
          <p:cNvPr id="10" name="Text 8"/>
          <p:cNvSpPr/>
          <p:nvPr/>
        </p:nvSpPr>
        <p:spPr>
          <a:xfrm>
            <a:off x="548640" y="1316736"/>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Bit-for-bit copy of storage — includes deleted files and empty space</a:t>
            </a:r>
            <a:endParaRPr lang="en-US" sz="1000" dirty="0"/>
          </a:p>
        </p:txBody>
      </p:sp>
      <p:sp>
        <p:nvSpPr>
          <p:cNvPr id="11" name="Shape 9"/>
          <p:cNvSpPr/>
          <p:nvPr/>
        </p:nvSpPr>
        <p:spPr>
          <a:xfrm>
            <a:off x="4617720" y="1005840"/>
            <a:ext cx="4069080" cy="594360"/>
          </a:xfrm>
          <a:prstGeom prst="rect">
            <a:avLst/>
          </a:prstGeom>
          <a:solidFill>
            <a:srgbClr val="1E293B"/>
          </a:solidFill>
          <a:ln w="3810">
            <a:solidFill>
              <a:srgbClr val="1A2332"/>
            </a:solidFill>
            <a:prstDash val="solid"/>
          </a:ln>
        </p:spPr>
      </p:sp>
      <p:sp>
        <p:nvSpPr>
          <p:cNvPr id="12" name="Shape 10"/>
          <p:cNvSpPr/>
          <p:nvPr/>
        </p:nvSpPr>
        <p:spPr>
          <a:xfrm>
            <a:off x="4617720" y="1005840"/>
            <a:ext cx="64008" cy="594360"/>
          </a:xfrm>
          <a:prstGeom prst="rect">
            <a:avLst/>
          </a:prstGeom>
          <a:solidFill>
            <a:srgbClr val="10B981"/>
          </a:solidFill>
          <a:ln w="12700">
            <a:solidFill>
              <a:srgbClr val="10B981"/>
            </a:solidFill>
            <a:prstDash val="solid"/>
          </a:ln>
        </p:spPr>
      </p:sp>
      <p:sp>
        <p:nvSpPr>
          <p:cNvPr id="13" name="Text 11"/>
          <p:cNvSpPr/>
          <p:nvPr/>
        </p:nvSpPr>
        <p:spPr>
          <a:xfrm>
            <a:off x="4754880" y="1042416"/>
            <a:ext cx="137160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Hash (SHA256)</a:t>
            </a:r>
            <a:endParaRPr lang="en-US" sz="1200" dirty="0"/>
          </a:p>
        </p:txBody>
      </p:sp>
      <p:sp>
        <p:nvSpPr>
          <p:cNvPr id="14" name="Text 12"/>
          <p:cNvSpPr/>
          <p:nvPr/>
        </p:nvSpPr>
        <p:spPr>
          <a:xfrm>
            <a:off x="4754880" y="1316736"/>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Digital fingerprint — proves evidence was never modified</a:t>
            </a:r>
            <a:endParaRPr lang="en-US" sz="1000" dirty="0"/>
          </a:p>
        </p:txBody>
      </p:sp>
      <p:sp>
        <p:nvSpPr>
          <p:cNvPr id="15" name="Shape 13"/>
          <p:cNvSpPr/>
          <p:nvPr/>
        </p:nvSpPr>
        <p:spPr>
          <a:xfrm>
            <a:off x="411480" y="1673352"/>
            <a:ext cx="4069080" cy="594360"/>
          </a:xfrm>
          <a:prstGeom prst="rect">
            <a:avLst/>
          </a:prstGeom>
          <a:solidFill>
            <a:srgbClr val="1E293B"/>
          </a:solidFill>
          <a:ln w="3810">
            <a:solidFill>
              <a:srgbClr val="1A2332"/>
            </a:solidFill>
            <a:prstDash val="solid"/>
          </a:ln>
        </p:spPr>
      </p:sp>
      <p:sp>
        <p:nvSpPr>
          <p:cNvPr id="16" name="Shape 14"/>
          <p:cNvSpPr/>
          <p:nvPr/>
        </p:nvSpPr>
        <p:spPr>
          <a:xfrm>
            <a:off x="411480" y="1673352"/>
            <a:ext cx="64008" cy="594360"/>
          </a:xfrm>
          <a:prstGeom prst="rect">
            <a:avLst/>
          </a:prstGeom>
          <a:solidFill>
            <a:srgbClr val="7C3AED"/>
          </a:solidFill>
          <a:ln w="12700">
            <a:solidFill>
              <a:srgbClr val="7C3AED"/>
            </a:solidFill>
            <a:prstDash val="solid"/>
          </a:ln>
        </p:spPr>
      </p:sp>
      <p:sp>
        <p:nvSpPr>
          <p:cNvPr id="17" name="Text 15"/>
          <p:cNvSpPr/>
          <p:nvPr/>
        </p:nvSpPr>
        <p:spPr>
          <a:xfrm>
            <a:off x="548640" y="1709928"/>
            <a:ext cx="1371600" cy="274320"/>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Write Blocker</a:t>
            </a:r>
            <a:endParaRPr lang="en-US" sz="1200" dirty="0"/>
          </a:p>
        </p:txBody>
      </p:sp>
      <p:sp>
        <p:nvSpPr>
          <p:cNvPr id="18" name="Text 16"/>
          <p:cNvSpPr/>
          <p:nvPr/>
        </p:nvSpPr>
        <p:spPr>
          <a:xfrm>
            <a:off x="548640" y="1984248"/>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Hardware/software preventing any writes to evidence media</a:t>
            </a:r>
            <a:endParaRPr lang="en-US" sz="1000" dirty="0"/>
          </a:p>
        </p:txBody>
      </p:sp>
      <p:sp>
        <p:nvSpPr>
          <p:cNvPr id="19" name="Shape 17"/>
          <p:cNvSpPr/>
          <p:nvPr/>
        </p:nvSpPr>
        <p:spPr>
          <a:xfrm>
            <a:off x="4617720" y="1673352"/>
            <a:ext cx="4069080" cy="594360"/>
          </a:xfrm>
          <a:prstGeom prst="rect">
            <a:avLst/>
          </a:prstGeom>
          <a:solidFill>
            <a:srgbClr val="1E293B"/>
          </a:solidFill>
          <a:ln w="3810">
            <a:solidFill>
              <a:srgbClr val="1A2332"/>
            </a:solidFill>
            <a:prstDash val="solid"/>
          </a:ln>
        </p:spPr>
      </p:sp>
      <p:sp>
        <p:nvSpPr>
          <p:cNvPr id="20" name="Shape 18"/>
          <p:cNvSpPr/>
          <p:nvPr/>
        </p:nvSpPr>
        <p:spPr>
          <a:xfrm>
            <a:off x="4617720" y="1673352"/>
            <a:ext cx="64008" cy="594360"/>
          </a:xfrm>
          <a:prstGeom prst="rect">
            <a:avLst/>
          </a:prstGeom>
          <a:solidFill>
            <a:srgbClr val="F59E0B"/>
          </a:solidFill>
          <a:ln w="12700">
            <a:solidFill>
              <a:srgbClr val="F59E0B"/>
            </a:solidFill>
            <a:prstDash val="solid"/>
          </a:ln>
        </p:spPr>
      </p:sp>
      <p:sp>
        <p:nvSpPr>
          <p:cNvPr id="21" name="Text 19"/>
          <p:cNvSpPr/>
          <p:nvPr/>
        </p:nvSpPr>
        <p:spPr>
          <a:xfrm>
            <a:off x="4754880" y="1709928"/>
            <a:ext cx="137160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Chain of Custody</a:t>
            </a:r>
            <a:endParaRPr lang="en-US" sz="1200" dirty="0"/>
          </a:p>
        </p:txBody>
      </p:sp>
      <p:sp>
        <p:nvSpPr>
          <p:cNvPr id="22" name="Text 20"/>
          <p:cNvSpPr/>
          <p:nvPr/>
        </p:nvSpPr>
        <p:spPr>
          <a:xfrm>
            <a:off x="4754880" y="1984248"/>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Unbroken log of who handled evidence, when, and what was done</a:t>
            </a:r>
            <a:endParaRPr lang="en-US" sz="1000" dirty="0"/>
          </a:p>
        </p:txBody>
      </p:sp>
      <p:sp>
        <p:nvSpPr>
          <p:cNvPr id="23" name="Shape 21"/>
          <p:cNvSpPr/>
          <p:nvPr/>
        </p:nvSpPr>
        <p:spPr>
          <a:xfrm>
            <a:off x="411480" y="2340864"/>
            <a:ext cx="4069080" cy="594360"/>
          </a:xfrm>
          <a:prstGeom prst="rect">
            <a:avLst/>
          </a:prstGeom>
          <a:solidFill>
            <a:srgbClr val="1E293B"/>
          </a:solidFill>
          <a:ln w="3810">
            <a:solidFill>
              <a:srgbClr val="1A2332"/>
            </a:solidFill>
            <a:prstDash val="solid"/>
          </a:ln>
        </p:spPr>
      </p:sp>
      <p:sp>
        <p:nvSpPr>
          <p:cNvPr id="24" name="Shape 22"/>
          <p:cNvSpPr/>
          <p:nvPr/>
        </p:nvSpPr>
        <p:spPr>
          <a:xfrm>
            <a:off x="411480" y="2340864"/>
            <a:ext cx="64008" cy="594360"/>
          </a:xfrm>
          <a:prstGeom prst="rect">
            <a:avLst/>
          </a:prstGeom>
          <a:solidFill>
            <a:srgbClr val="00D4FF"/>
          </a:solidFill>
          <a:ln w="12700">
            <a:solidFill>
              <a:srgbClr val="00D4FF"/>
            </a:solidFill>
            <a:prstDash val="solid"/>
          </a:ln>
        </p:spPr>
      </p:sp>
      <p:sp>
        <p:nvSpPr>
          <p:cNvPr id="25" name="Text 23"/>
          <p:cNvSpPr/>
          <p:nvPr/>
        </p:nvSpPr>
        <p:spPr>
          <a:xfrm>
            <a:off x="548640" y="2377440"/>
            <a:ext cx="137160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MFT</a:t>
            </a:r>
            <a:endParaRPr lang="en-US" sz="1200" dirty="0"/>
          </a:p>
        </p:txBody>
      </p:sp>
      <p:sp>
        <p:nvSpPr>
          <p:cNvPr id="26" name="Text 24"/>
          <p:cNvSpPr/>
          <p:nvPr/>
        </p:nvSpPr>
        <p:spPr>
          <a:xfrm>
            <a:off x="548640" y="2651760"/>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Master File Table — NTFS database of every file's complete metadata</a:t>
            </a:r>
            <a:endParaRPr lang="en-US" sz="1000" dirty="0"/>
          </a:p>
        </p:txBody>
      </p:sp>
      <p:sp>
        <p:nvSpPr>
          <p:cNvPr id="27" name="Shape 25"/>
          <p:cNvSpPr/>
          <p:nvPr/>
        </p:nvSpPr>
        <p:spPr>
          <a:xfrm>
            <a:off x="4617720" y="2340864"/>
            <a:ext cx="4069080" cy="594360"/>
          </a:xfrm>
          <a:prstGeom prst="rect">
            <a:avLst/>
          </a:prstGeom>
          <a:solidFill>
            <a:srgbClr val="1E293B"/>
          </a:solidFill>
          <a:ln w="3810">
            <a:solidFill>
              <a:srgbClr val="1A2332"/>
            </a:solidFill>
            <a:prstDash val="solid"/>
          </a:ln>
        </p:spPr>
      </p:sp>
      <p:sp>
        <p:nvSpPr>
          <p:cNvPr id="28" name="Shape 26"/>
          <p:cNvSpPr/>
          <p:nvPr/>
        </p:nvSpPr>
        <p:spPr>
          <a:xfrm>
            <a:off x="4617720" y="2340864"/>
            <a:ext cx="64008" cy="594360"/>
          </a:xfrm>
          <a:prstGeom prst="rect">
            <a:avLst/>
          </a:prstGeom>
          <a:solidFill>
            <a:srgbClr val="0F766E"/>
          </a:solidFill>
          <a:ln w="12700">
            <a:solidFill>
              <a:srgbClr val="0F766E"/>
            </a:solidFill>
            <a:prstDash val="solid"/>
          </a:ln>
        </p:spPr>
      </p:sp>
      <p:sp>
        <p:nvSpPr>
          <p:cNvPr id="29" name="Text 27"/>
          <p:cNvSpPr/>
          <p:nvPr/>
        </p:nvSpPr>
        <p:spPr>
          <a:xfrm>
            <a:off x="4754880" y="2377440"/>
            <a:ext cx="1371600" cy="27432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Slack Space</a:t>
            </a:r>
            <a:endParaRPr lang="en-US" sz="1200" dirty="0"/>
          </a:p>
        </p:txBody>
      </p:sp>
      <p:sp>
        <p:nvSpPr>
          <p:cNvPr id="30" name="Text 28"/>
          <p:cNvSpPr/>
          <p:nvPr/>
        </p:nvSpPr>
        <p:spPr>
          <a:xfrm>
            <a:off x="4754880" y="2651760"/>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Unused bytes between file end and cluster end — may contain old data</a:t>
            </a:r>
            <a:endParaRPr lang="en-US" sz="1000" dirty="0"/>
          </a:p>
        </p:txBody>
      </p:sp>
      <p:sp>
        <p:nvSpPr>
          <p:cNvPr id="31" name="Shape 29"/>
          <p:cNvSpPr/>
          <p:nvPr/>
        </p:nvSpPr>
        <p:spPr>
          <a:xfrm>
            <a:off x="411480" y="3008376"/>
            <a:ext cx="4069080" cy="594360"/>
          </a:xfrm>
          <a:prstGeom prst="rect">
            <a:avLst/>
          </a:prstGeom>
          <a:solidFill>
            <a:srgbClr val="1E293B"/>
          </a:solidFill>
          <a:ln w="3810">
            <a:solidFill>
              <a:srgbClr val="1A2332"/>
            </a:solidFill>
            <a:prstDash val="solid"/>
          </a:ln>
        </p:spPr>
      </p:sp>
      <p:sp>
        <p:nvSpPr>
          <p:cNvPr id="32" name="Shape 30"/>
          <p:cNvSpPr/>
          <p:nvPr/>
        </p:nvSpPr>
        <p:spPr>
          <a:xfrm>
            <a:off x="411480" y="3008376"/>
            <a:ext cx="64008" cy="594360"/>
          </a:xfrm>
          <a:prstGeom prst="rect">
            <a:avLst/>
          </a:prstGeom>
          <a:solidFill>
            <a:srgbClr val="7C3AED"/>
          </a:solidFill>
          <a:ln w="12700">
            <a:solidFill>
              <a:srgbClr val="7C3AED"/>
            </a:solidFill>
            <a:prstDash val="solid"/>
          </a:ln>
        </p:spPr>
      </p:sp>
      <p:sp>
        <p:nvSpPr>
          <p:cNvPr id="33" name="Text 31"/>
          <p:cNvSpPr/>
          <p:nvPr/>
        </p:nvSpPr>
        <p:spPr>
          <a:xfrm>
            <a:off x="548640" y="3044952"/>
            <a:ext cx="1371600" cy="274320"/>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Data Carving</a:t>
            </a:r>
            <a:endParaRPr lang="en-US" sz="1200" dirty="0"/>
          </a:p>
        </p:txBody>
      </p:sp>
      <p:sp>
        <p:nvSpPr>
          <p:cNvPr id="34" name="Text 32"/>
          <p:cNvSpPr/>
          <p:nvPr/>
        </p:nvSpPr>
        <p:spPr>
          <a:xfrm>
            <a:off x="548640" y="3319272"/>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Recovering files from raw bytes using known magic byte signatures</a:t>
            </a:r>
            <a:endParaRPr lang="en-US" sz="1000" dirty="0"/>
          </a:p>
        </p:txBody>
      </p:sp>
      <p:sp>
        <p:nvSpPr>
          <p:cNvPr id="35" name="Shape 33"/>
          <p:cNvSpPr/>
          <p:nvPr/>
        </p:nvSpPr>
        <p:spPr>
          <a:xfrm>
            <a:off x="4617720" y="3008376"/>
            <a:ext cx="4069080" cy="594360"/>
          </a:xfrm>
          <a:prstGeom prst="rect">
            <a:avLst/>
          </a:prstGeom>
          <a:solidFill>
            <a:srgbClr val="1E293B"/>
          </a:solidFill>
          <a:ln w="3810">
            <a:solidFill>
              <a:srgbClr val="1A2332"/>
            </a:solidFill>
            <a:prstDash val="solid"/>
          </a:ln>
        </p:spPr>
      </p:sp>
      <p:sp>
        <p:nvSpPr>
          <p:cNvPr id="36" name="Shape 34"/>
          <p:cNvSpPr/>
          <p:nvPr/>
        </p:nvSpPr>
        <p:spPr>
          <a:xfrm>
            <a:off x="4617720" y="3008376"/>
            <a:ext cx="64008" cy="594360"/>
          </a:xfrm>
          <a:prstGeom prst="rect">
            <a:avLst/>
          </a:prstGeom>
          <a:solidFill>
            <a:srgbClr val="EF4444"/>
          </a:solidFill>
          <a:ln w="12700">
            <a:solidFill>
              <a:srgbClr val="EF4444"/>
            </a:solidFill>
            <a:prstDash val="solid"/>
          </a:ln>
        </p:spPr>
      </p:sp>
      <p:sp>
        <p:nvSpPr>
          <p:cNvPr id="37" name="Text 35"/>
          <p:cNvSpPr/>
          <p:nvPr/>
        </p:nvSpPr>
        <p:spPr>
          <a:xfrm>
            <a:off x="4754880" y="3044952"/>
            <a:ext cx="1371600" cy="27432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TRIM</a:t>
            </a:r>
            <a:endParaRPr lang="en-US" sz="1200" dirty="0"/>
          </a:p>
        </p:txBody>
      </p:sp>
      <p:sp>
        <p:nvSpPr>
          <p:cNvPr id="38" name="Text 36"/>
          <p:cNvSpPr/>
          <p:nvPr/>
        </p:nvSpPr>
        <p:spPr>
          <a:xfrm>
            <a:off x="4754880" y="3319272"/>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SSD command that immediately erases deleted blocks — destroys evidence</a:t>
            </a:r>
            <a:endParaRPr lang="en-US" sz="1000" dirty="0"/>
          </a:p>
        </p:txBody>
      </p:sp>
      <p:sp>
        <p:nvSpPr>
          <p:cNvPr id="39" name="Shape 37"/>
          <p:cNvSpPr/>
          <p:nvPr/>
        </p:nvSpPr>
        <p:spPr>
          <a:xfrm>
            <a:off x="411480" y="3675888"/>
            <a:ext cx="4069080" cy="594360"/>
          </a:xfrm>
          <a:prstGeom prst="rect">
            <a:avLst/>
          </a:prstGeom>
          <a:solidFill>
            <a:srgbClr val="1E293B"/>
          </a:solidFill>
          <a:ln w="3810">
            <a:solidFill>
              <a:srgbClr val="1A2332"/>
            </a:solidFill>
            <a:prstDash val="solid"/>
          </a:ln>
        </p:spPr>
      </p:sp>
      <p:sp>
        <p:nvSpPr>
          <p:cNvPr id="40" name="Shape 38"/>
          <p:cNvSpPr/>
          <p:nvPr/>
        </p:nvSpPr>
        <p:spPr>
          <a:xfrm>
            <a:off x="411480" y="3675888"/>
            <a:ext cx="64008" cy="594360"/>
          </a:xfrm>
          <a:prstGeom prst="rect">
            <a:avLst/>
          </a:prstGeom>
          <a:solidFill>
            <a:srgbClr val="F59E0B"/>
          </a:solidFill>
          <a:ln w="12700">
            <a:solidFill>
              <a:srgbClr val="F59E0B"/>
            </a:solidFill>
            <a:prstDash val="solid"/>
          </a:ln>
        </p:spPr>
      </p:sp>
      <p:sp>
        <p:nvSpPr>
          <p:cNvPr id="41" name="Text 39"/>
          <p:cNvSpPr/>
          <p:nvPr/>
        </p:nvSpPr>
        <p:spPr>
          <a:xfrm>
            <a:off x="548640" y="3712464"/>
            <a:ext cx="137160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Volatile Data</a:t>
            </a:r>
            <a:endParaRPr lang="en-US" sz="1200" dirty="0"/>
          </a:p>
        </p:txBody>
      </p:sp>
      <p:sp>
        <p:nvSpPr>
          <p:cNvPr id="42" name="Text 40"/>
          <p:cNvSpPr/>
          <p:nvPr/>
        </p:nvSpPr>
        <p:spPr>
          <a:xfrm>
            <a:off x="548640" y="3986784"/>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Data in RAM — disappears permanently the moment power is cut</a:t>
            </a:r>
            <a:endParaRPr lang="en-US" sz="1000" dirty="0"/>
          </a:p>
        </p:txBody>
      </p:sp>
      <p:sp>
        <p:nvSpPr>
          <p:cNvPr id="43" name="Shape 41"/>
          <p:cNvSpPr/>
          <p:nvPr/>
        </p:nvSpPr>
        <p:spPr>
          <a:xfrm>
            <a:off x="4617720" y="3675888"/>
            <a:ext cx="4069080" cy="594360"/>
          </a:xfrm>
          <a:prstGeom prst="rect">
            <a:avLst/>
          </a:prstGeom>
          <a:solidFill>
            <a:srgbClr val="1E293B"/>
          </a:solidFill>
          <a:ln w="3810">
            <a:solidFill>
              <a:srgbClr val="1A2332"/>
            </a:solidFill>
            <a:prstDash val="solid"/>
          </a:ln>
        </p:spPr>
      </p:sp>
      <p:sp>
        <p:nvSpPr>
          <p:cNvPr id="44" name="Shape 42"/>
          <p:cNvSpPr/>
          <p:nvPr/>
        </p:nvSpPr>
        <p:spPr>
          <a:xfrm>
            <a:off x="4617720" y="3675888"/>
            <a:ext cx="64008" cy="594360"/>
          </a:xfrm>
          <a:prstGeom prst="rect">
            <a:avLst/>
          </a:prstGeom>
          <a:solidFill>
            <a:srgbClr val="EF4444"/>
          </a:solidFill>
          <a:ln w="12700">
            <a:solidFill>
              <a:srgbClr val="EF4444"/>
            </a:solidFill>
            <a:prstDash val="solid"/>
          </a:ln>
        </p:spPr>
      </p:sp>
      <p:sp>
        <p:nvSpPr>
          <p:cNvPr id="45" name="Text 43"/>
          <p:cNvSpPr/>
          <p:nvPr/>
        </p:nvSpPr>
        <p:spPr>
          <a:xfrm>
            <a:off x="4754880" y="3712464"/>
            <a:ext cx="1371600" cy="27432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Timestomping</a:t>
            </a:r>
            <a:endParaRPr lang="en-US" sz="1200" dirty="0"/>
          </a:p>
        </p:txBody>
      </p:sp>
      <p:sp>
        <p:nvSpPr>
          <p:cNvPr id="46" name="Text 44"/>
          <p:cNvSpPr/>
          <p:nvPr/>
        </p:nvSpPr>
        <p:spPr>
          <a:xfrm>
            <a:off x="4754880" y="3986784"/>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Attacker technique to fake file timestamps and hide when malware was installed</a:t>
            </a:r>
            <a:endParaRPr lang="en-US" sz="1000" dirty="0"/>
          </a:p>
        </p:txBody>
      </p:sp>
      <p:sp>
        <p:nvSpPr>
          <p:cNvPr id="47" name="Shape 45"/>
          <p:cNvSpPr/>
          <p:nvPr/>
        </p:nvSpPr>
        <p:spPr>
          <a:xfrm>
            <a:off x="411480" y="4343400"/>
            <a:ext cx="4069080" cy="594360"/>
          </a:xfrm>
          <a:prstGeom prst="rect">
            <a:avLst/>
          </a:prstGeom>
          <a:solidFill>
            <a:srgbClr val="1E293B"/>
          </a:solidFill>
          <a:ln w="3810">
            <a:solidFill>
              <a:srgbClr val="1A2332"/>
            </a:solidFill>
            <a:prstDash val="solid"/>
          </a:ln>
        </p:spPr>
      </p:sp>
      <p:sp>
        <p:nvSpPr>
          <p:cNvPr id="48" name="Shape 46"/>
          <p:cNvSpPr/>
          <p:nvPr/>
        </p:nvSpPr>
        <p:spPr>
          <a:xfrm>
            <a:off x="411480" y="4343400"/>
            <a:ext cx="64008" cy="594360"/>
          </a:xfrm>
          <a:prstGeom prst="rect">
            <a:avLst/>
          </a:prstGeom>
          <a:solidFill>
            <a:srgbClr val="10B981"/>
          </a:solidFill>
          <a:ln w="12700">
            <a:solidFill>
              <a:srgbClr val="10B981"/>
            </a:solidFill>
            <a:prstDash val="solid"/>
          </a:ln>
        </p:spPr>
      </p:sp>
      <p:sp>
        <p:nvSpPr>
          <p:cNvPr id="49" name="Text 47"/>
          <p:cNvSpPr/>
          <p:nvPr/>
        </p:nvSpPr>
        <p:spPr>
          <a:xfrm>
            <a:off x="548640" y="4379976"/>
            <a:ext cx="137160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Acquisition</a:t>
            </a:r>
            <a:endParaRPr lang="en-US" sz="1200" dirty="0"/>
          </a:p>
        </p:txBody>
      </p:sp>
      <p:sp>
        <p:nvSpPr>
          <p:cNvPr id="50" name="Text 48"/>
          <p:cNvSpPr/>
          <p:nvPr/>
        </p:nvSpPr>
        <p:spPr>
          <a:xfrm>
            <a:off x="548640" y="4654296"/>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The process of making a forensic image — the very first step of every case</a:t>
            </a:r>
            <a:endParaRPr lang="en-US" sz="1000" dirty="0"/>
          </a:p>
        </p:txBody>
      </p:sp>
      <p:sp>
        <p:nvSpPr>
          <p:cNvPr id="51" name="Shape 49"/>
          <p:cNvSpPr/>
          <p:nvPr/>
        </p:nvSpPr>
        <p:spPr>
          <a:xfrm>
            <a:off x="4617720" y="4343400"/>
            <a:ext cx="4069080" cy="594360"/>
          </a:xfrm>
          <a:prstGeom prst="rect">
            <a:avLst/>
          </a:prstGeom>
          <a:solidFill>
            <a:srgbClr val="1E293B"/>
          </a:solidFill>
          <a:ln w="3810">
            <a:solidFill>
              <a:srgbClr val="1A2332"/>
            </a:solidFill>
            <a:prstDash val="solid"/>
          </a:ln>
        </p:spPr>
      </p:sp>
      <p:sp>
        <p:nvSpPr>
          <p:cNvPr id="52" name="Shape 50"/>
          <p:cNvSpPr/>
          <p:nvPr/>
        </p:nvSpPr>
        <p:spPr>
          <a:xfrm>
            <a:off x="4617720" y="4343400"/>
            <a:ext cx="64008" cy="594360"/>
          </a:xfrm>
          <a:prstGeom prst="rect">
            <a:avLst/>
          </a:prstGeom>
          <a:solidFill>
            <a:srgbClr val="00D4FF"/>
          </a:solidFill>
          <a:ln w="12700">
            <a:solidFill>
              <a:srgbClr val="00D4FF"/>
            </a:solidFill>
            <a:prstDash val="solid"/>
          </a:ln>
        </p:spPr>
      </p:sp>
      <p:sp>
        <p:nvSpPr>
          <p:cNvPr id="53" name="Text 51"/>
          <p:cNvSpPr/>
          <p:nvPr/>
        </p:nvSpPr>
        <p:spPr>
          <a:xfrm>
            <a:off x="4754880" y="4379976"/>
            <a:ext cx="137160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Sector</a:t>
            </a:r>
            <a:endParaRPr lang="en-US" sz="1200" dirty="0"/>
          </a:p>
        </p:txBody>
      </p:sp>
      <p:sp>
        <p:nvSpPr>
          <p:cNvPr id="54" name="Text 52"/>
          <p:cNvSpPr/>
          <p:nvPr/>
        </p:nvSpPr>
        <p:spPr>
          <a:xfrm>
            <a:off x="4754880" y="4654296"/>
            <a:ext cx="3840480" cy="256032"/>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Smallest physical disk unit — 512 bytes traditional, 4KB modern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D4FF"/>
          </a:solidFill>
          <a:ln w="12700">
            <a:solidFill>
              <a:srgbClr val="00D4FF"/>
            </a:solidFill>
            <a:prstDash val="solid"/>
          </a:ln>
        </p:spPr>
      </p:sp>
      <p:sp>
        <p:nvSpPr>
          <p:cNvPr id="3" name="Shape 1"/>
          <p:cNvSpPr/>
          <p:nvPr/>
        </p:nvSpPr>
        <p:spPr>
          <a:xfrm>
            <a:off x="0" y="5074920"/>
            <a:ext cx="9144000" cy="64008"/>
          </a:xfrm>
          <a:prstGeom prst="rect">
            <a:avLst/>
          </a:prstGeom>
          <a:solidFill>
            <a:srgbClr val="7C3AED"/>
          </a:solidFill>
          <a:ln w="12700">
            <a:solidFill>
              <a:srgbClr val="7C3AED"/>
            </a:solidFill>
            <a:prstDash val="solid"/>
          </a:ln>
        </p:spPr>
      </p:sp>
      <p:sp>
        <p:nvSpPr>
          <p:cNvPr id="4" name="Shape 2"/>
          <p:cNvSpPr/>
          <p:nvPr/>
        </p:nvSpPr>
        <p:spPr>
          <a:xfrm>
            <a:off x="0" y="0"/>
            <a:ext cx="914400" cy="850392"/>
          </a:xfrm>
          <a:prstGeom prst="rect">
            <a:avLst/>
          </a:prstGeom>
          <a:solidFill>
            <a:srgbClr val="1A2332">
              <a:alpha val="25000"/>
            </a:srgbClr>
          </a:solidFill>
          <a:ln w="2540">
            <a:solidFill>
              <a:srgbClr val="2D3748"/>
            </a:solidFill>
            <a:prstDash val="solid"/>
          </a:ln>
        </p:spPr>
      </p:sp>
      <p:sp>
        <p:nvSpPr>
          <p:cNvPr id="5" name="Shape 3"/>
          <p:cNvSpPr/>
          <p:nvPr/>
        </p:nvSpPr>
        <p:spPr>
          <a:xfrm>
            <a:off x="0" y="1700784"/>
            <a:ext cx="914400" cy="850392"/>
          </a:xfrm>
          <a:prstGeom prst="rect">
            <a:avLst/>
          </a:prstGeom>
          <a:solidFill>
            <a:srgbClr val="1A2332">
              <a:alpha val="25000"/>
            </a:srgbClr>
          </a:solidFill>
          <a:ln w="2540">
            <a:solidFill>
              <a:srgbClr val="2D3748"/>
            </a:solidFill>
            <a:prstDash val="solid"/>
          </a:ln>
        </p:spPr>
      </p:sp>
      <p:sp>
        <p:nvSpPr>
          <p:cNvPr id="6" name="Shape 4"/>
          <p:cNvSpPr/>
          <p:nvPr/>
        </p:nvSpPr>
        <p:spPr>
          <a:xfrm>
            <a:off x="0" y="3401568"/>
            <a:ext cx="914400" cy="850392"/>
          </a:xfrm>
          <a:prstGeom prst="rect">
            <a:avLst/>
          </a:prstGeom>
          <a:solidFill>
            <a:srgbClr val="1A2332">
              <a:alpha val="25000"/>
            </a:srgbClr>
          </a:solidFill>
          <a:ln w="2540">
            <a:solidFill>
              <a:srgbClr val="2D3748"/>
            </a:solidFill>
            <a:prstDash val="solid"/>
          </a:ln>
        </p:spPr>
      </p:sp>
      <p:sp>
        <p:nvSpPr>
          <p:cNvPr id="7" name="Shape 5"/>
          <p:cNvSpPr/>
          <p:nvPr/>
        </p:nvSpPr>
        <p:spPr>
          <a:xfrm>
            <a:off x="914400" y="850392"/>
            <a:ext cx="914400" cy="850392"/>
          </a:xfrm>
          <a:prstGeom prst="rect">
            <a:avLst/>
          </a:prstGeom>
          <a:solidFill>
            <a:srgbClr val="1A2332">
              <a:alpha val="25000"/>
            </a:srgbClr>
          </a:solidFill>
          <a:ln w="2540">
            <a:solidFill>
              <a:srgbClr val="2D3748"/>
            </a:solidFill>
            <a:prstDash val="solid"/>
          </a:ln>
        </p:spPr>
      </p:sp>
      <p:sp>
        <p:nvSpPr>
          <p:cNvPr id="8" name="Shape 6"/>
          <p:cNvSpPr/>
          <p:nvPr/>
        </p:nvSpPr>
        <p:spPr>
          <a:xfrm>
            <a:off x="914400" y="2551176"/>
            <a:ext cx="914400" cy="850392"/>
          </a:xfrm>
          <a:prstGeom prst="rect">
            <a:avLst/>
          </a:prstGeom>
          <a:solidFill>
            <a:srgbClr val="1A2332">
              <a:alpha val="25000"/>
            </a:srgbClr>
          </a:solidFill>
          <a:ln w="2540">
            <a:solidFill>
              <a:srgbClr val="2D3748"/>
            </a:solidFill>
            <a:prstDash val="solid"/>
          </a:ln>
        </p:spPr>
      </p:sp>
      <p:sp>
        <p:nvSpPr>
          <p:cNvPr id="9" name="Shape 7"/>
          <p:cNvSpPr/>
          <p:nvPr/>
        </p:nvSpPr>
        <p:spPr>
          <a:xfrm>
            <a:off x="914400" y="4251960"/>
            <a:ext cx="914400" cy="850392"/>
          </a:xfrm>
          <a:prstGeom prst="rect">
            <a:avLst/>
          </a:prstGeom>
          <a:solidFill>
            <a:srgbClr val="1A2332">
              <a:alpha val="25000"/>
            </a:srgbClr>
          </a:solidFill>
          <a:ln w="2540">
            <a:solidFill>
              <a:srgbClr val="2D3748"/>
            </a:solidFill>
            <a:prstDash val="solid"/>
          </a:ln>
        </p:spPr>
      </p:sp>
      <p:sp>
        <p:nvSpPr>
          <p:cNvPr id="10" name="Shape 8"/>
          <p:cNvSpPr/>
          <p:nvPr/>
        </p:nvSpPr>
        <p:spPr>
          <a:xfrm>
            <a:off x="1828800" y="0"/>
            <a:ext cx="914400" cy="850392"/>
          </a:xfrm>
          <a:prstGeom prst="rect">
            <a:avLst/>
          </a:prstGeom>
          <a:solidFill>
            <a:srgbClr val="1A2332">
              <a:alpha val="25000"/>
            </a:srgbClr>
          </a:solidFill>
          <a:ln w="2540">
            <a:solidFill>
              <a:srgbClr val="2D3748"/>
            </a:solidFill>
            <a:prstDash val="solid"/>
          </a:ln>
        </p:spPr>
      </p:sp>
      <p:sp>
        <p:nvSpPr>
          <p:cNvPr id="11" name="Shape 9"/>
          <p:cNvSpPr/>
          <p:nvPr/>
        </p:nvSpPr>
        <p:spPr>
          <a:xfrm>
            <a:off x="1828800" y="1700784"/>
            <a:ext cx="914400" cy="850392"/>
          </a:xfrm>
          <a:prstGeom prst="rect">
            <a:avLst/>
          </a:prstGeom>
          <a:solidFill>
            <a:srgbClr val="1A2332">
              <a:alpha val="25000"/>
            </a:srgbClr>
          </a:solidFill>
          <a:ln w="2540">
            <a:solidFill>
              <a:srgbClr val="2D3748"/>
            </a:solidFill>
            <a:prstDash val="solid"/>
          </a:ln>
        </p:spPr>
      </p:sp>
      <p:sp>
        <p:nvSpPr>
          <p:cNvPr id="12" name="Shape 10"/>
          <p:cNvSpPr/>
          <p:nvPr/>
        </p:nvSpPr>
        <p:spPr>
          <a:xfrm>
            <a:off x="1828800" y="3401568"/>
            <a:ext cx="914400" cy="850392"/>
          </a:xfrm>
          <a:prstGeom prst="rect">
            <a:avLst/>
          </a:prstGeom>
          <a:solidFill>
            <a:srgbClr val="1A2332">
              <a:alpha val="25000"/>
            </a:srgbClr>
          </a:solidFill>
          <a:ln w="2540">
            <a:solidFill>
              <a:srgbClr val="2D3748"/>
            </a:solidFill>
            <a:prstDash val="solid"/>
          </a:ln>
        </p:spPr>
      </p:sp>
      <p:sp>
        <p:nvSpPr>
          <p:cNvPr id="13" name="Shape 11"/>
          <p:cNvSpPr/>
          <p:nvPr/>
        </p:nvSpPr>
        <p:spPr>
          <a:xfrm>
            <a:off x="2743200" y="850392"/>
            <a:ext cx="914400" cy="850392"/>
          </a:xfrm>
          <a:prstGeom prst="rect">
            <a:avLst/>
          </a:prstGeom>
          <a:solidFill>
            <a:srgbClr val="1A2332">
              <a:alpha val="25000"/>
            </a:srgbClr>
          </a:solidFill>
          <a:ln w="2540">
            <a:solidFill>
              <a:srgbClr val="2D3748"/>
            </a:solidFill>
            <a:prstDash val="solid"/>
          </a:ln>
        </p:spPr>
      </p:sp>
      <p:sp>
        <p:nvSpPr>
          <p:cNvPr id="14" name="Shape 12"/>
          <p:cNvSpPr/>
          <p:nvPr/>
        </p:nvSpPr>
        <p:spPr>
          <a:xfrm>
            <a:off x="2743200" y="2551176"/>
            <a:ext cx="914400" cy="850392"/>
          </a:xfrm>
          <a:prstGeom prst="rect">
            <a:avLst/>
          </a:prstGeom>
          <a:solidFill>
            <a:srgbClr val="1A2332">
              <a:alpha val="25000"/>
            </a:srgbClr>
          </a:solidFill>
          <a:ln w="2540">
            <a:solidFill>
              <a:srgbClr val="2D3748"/>
            </a:solidFill>
            <a:prstDash val="solid"/>
          </a:ln>
        </p:spPr>
      </p:sp>
      <p:sp>
        <p:nvSpPr>
          <p:cNvPr id="15" name="Shape 13"/>
          <p:cNvSpPr/>
          <p:nvPr/>
        </p:nvSpPr>
        <p:spPr>
          <a:xfrm>
            <a:off x="2743200" y="4251960"/>
            <a:ext cx="914400" cy="850392"/>
          </a:xfrm>
          <a:prstGeom prst="rect">
            <a:avLst/>
          </a:prstGeom>
          <a:solidFill>
            <a:srgbClr val="1A2332">
              <a:alpha val="25000"/>
            </a:srgbClr>
          </a:solidFill>
          <a:ln w="2540">
            <a:solidFill>
              <a:srgbClr val="2D3748"/>
            </a:solidFill>
            <a:prstDash val="solid"/>
          </a:ln>
        </p:spPr>
      </p:sp>
      <p:sp>
        <p:nvSpPr>
          <p:cNvPr id="16" name="Shape 14"/>
          <p:cNvSpPr/>
          <p:nvPr/>
        </p:nvSpPr>
        <p:spPr>
          <a:xfrm>
            <a:off x="3657600" y="0"/>
            <a:ext cx="914400" cy="850392"/>
          </a:xfrm>
          <a:prstGeom prst="rect">
            <a:avLst/>
          </a:prstGeom>
          <a:solidFill>
            <a:srgbClr val="1A2332">
              <a:alpha val="25000"/>
            </a:srgbClr>
          </a:solidFill>
          <a:ln w="2540">
            <a:solidFill>
              <a:srgbClr val="2D3748"/>
            </a:solidFill>
            <a:prstDash val="solid"/>
          </a:ln>
        </p:spPr>
      </p:sp>
      <p:sp>
        <p:nvSpPr>
          <p:cNvPr id="17" name="Shape 15"/>
          <p:cNvSpPr/>
          <p:nvPr/>
        </p:nvSpPr>
        <p:spPr>
          <a:xfrm>
            <a:off x="3657600" y="1700784"/>
            <a:ext cx="914400" cy="850392"/>
          </a:xfrm>
          <a:prstGeom prst="rect">
            <a:avLst/>
          </a:prstGeom>
          <a:solidFill>
            <a:srgbClr val="1A2332">
              <a:alpha val="25000"/>
            </a:srgbClr>
          </a:solidFill>
          <a:ln w="2540">
            <a:solidFill>
              <a:srgbClr val="2D3748"/>
            </a:solidFill>
            <a:prstDash val="solid"/>
          </a:ln>
        </p:spPr>
      </p:sp>
      <p:sp>
        <p:nvSpPr>
          <p:cNvPr id="18" name="Shape 16"/>
          <p:cNvSpPr/>
          <p:nvPr/>
        </p:nvSpPr>
        <p:spPr>
          <a:xfrm>
            <a:off x="3657600" y="3401568"/>
            <a:ext cx="914400" cy="850392"/>
          </a:xfrm>
          <a:prstGeom prst="rect">
            <a:avLst/>
          </a:prstGeom>
          <a:solidFill>
            <a:srgbClr val="1A2332">
              <a:alpha val="25000"/>
            </a:srgbClr>
          </a:solidFill>
          <a:ln w="2540">
            <a:solidFill>
              <a:srgbClr val="2D3748"/>
            </a:solidFill>
            <a:prstDash val="solid"/>
          </a:ln>
        </p:spPr>
      </p:sp>
      <p:sp>
        <p:nvSpPr>
          <p:cNvPr id="19" name="Shape 17"/>
          <p:cNvSpPr/>
          <p:nvPr/>
        </p:nvSpPr>
        <p:spPr>
          <a:xfrm>
            <a:off x="4572000" y="850392"/>
            <a:ext cx="914400" cy="850392"/>
          </a:xfrm>
          <a:prstGeom prst="rect">
            <a:avLst/>
          </a:prstGeom>
          <a:solidFill>
            <a:srgbClr val="1A2332">
              <a:alpha val="25000"/>
            </a:srgbClr>
          </a:solidFill>
          <a:ln w="2540">
            <a:solidFill>
              <a:srgbClr val="2D3748"/>
            </a:solidFill>
            <a:prstDash val="solid"/>
          </a:ln>
        </p:spPr>
      </p:sp>
      <p:sp>
        <p:nvSpPr>
          <p:cNvPr id="20" name="Shape 18"/>
          <p:cNvSpPr/>
          <p:nvPr/>
        </p:nvSpPr>
        <p:spPr>
          <a:xfrm>
            <a:off x="4572000" y="2551176"/>
            <a:ext cx="914400" cy="850392"/>
          </a:xfrm>
          <a:prstGeom prst="rect">
            <a:avLst/>
          </a:prstGeom>
          <a:solidFill>
            <a:srgbClr val="1A2332">
              <a:alpha val="25000"/>
            </a:srgbClr>
          </a:solidFill>
          <a:ln w="2540">
            <a:solidFill>
              <a:srgbClr val="2D3748"/>
            </a:solidFill>
            <a:prstDash val="solid"/>
          </a:ln>
        </p:spPr>
      </p:sp>
      <p:sp>
        <p:nvSpPr>
          <p:cNvPr id="21" name="Shape 19"/>
          <p:cNvSpPr/>
          <p:nvPr/>
        </p:nvSpPr>
        <p:spPr>
          <a:xfrm>
            <a:off x="4572000" y="4251960"/>
            <a:ext cx="914400" cy="850392"/>
          </a:xfrm>
          <a:prstGeom prst="rect">
            <a:avLst/>
          </a:prstGeom>
          <a:solidFill>
            <a:srgbClr val="1A2332">
              <a:alpha val="25000"/>
            </a:srgbClr>
          </a:solidFill>
          <a:ln w="2540">
            <a:solidFill>
              <a:srgbClr val="2D3748"/>
            </a:solidFill>
            <a:prstDash val="solid"/>
          </a:ln>
        </p:spPr>
      </p:sp>
      <p:sp>
        <p:nvSpPr>
          <p:cNvPr id="22" name="Shape 20"/>
          <p:cNvSpPr/>
          <p:nvPr/>
        </p:nvSpPr>
        <p:spPr>
          <a:xfrm>
            <a:off x="5486400" y="0"/>
            <a:ext cx="914400" cy="850392"/>
          </a:xfrm>
          <a:prstGeom prst="rect">
            <a:avLst/>
          </a:prstGeom>
          <a:solidFill>
            <a:srgbClr val="1A2332">
              <a:alpha val="25000"/>
            </a:srgbClr>
          </a:solidFill>
          <a:ln w="2540">
            <a:solidFill>
              <a:srgbClr val="2D3748"/>
            </a:solidFill>
            <a:prstDash val="solid"/>
          </a:ln>
        </p:spPr>
      </p:sp>
      <p:sp>
        <p:nvSpPr>
          <p:cNvPr id="23" name="Shape 21"/>
          <p:cNvSpPr/>
          <p:nvPr/>
        </p:nvSpPr>
        <p:spPr>
          <a:xfrm>
            <a:off x="5486400" y="1700784"/>
            <a:ext cx="914400" cy="850392"/>
          </a:xfrm>
          <a:prstGeom prst="rect">
            <a:avLst/>
          </a:prstGeom>
          <a:solidFill>
            <a:srgbClr val="1A2332">
              <a:alpha val="25000"/>
            </a:srgbClr>
          </a:solidFill>
          <a:ln w="2540">
            <a:solidFill>
              <a:srgbClr val="2D3748"/>
            </a:solidFill>
            <a:prstDash val="solid"/>
          </a:ln>
        </p:spPr>
      </p:sp>
      <p:sp>
        <p:nvSpPr>
          <p:cNvPr id="24" name="Shape 22"/>
          <p:cNvSpPr/>
          <p:nvPr/>
        </p:nvSpPr>
        <p:spPr>
          <a:xfrm>
            <a:off x="5486400" y="3401568"/>
            <a:ext cx="914400" cy="850392"/>
          </a:xfrm>
          <a:prstGeom prst="rect">
            <a:avLst/>
          </a:prstGeom>
          <a:solidFill>
            <a:srgbClr val="1A2332">
              <a:alpha val="25000"/>
            </a:srgbClr>
          </a:solidFill>
          <a:ln w="2540">
            <a:solidFill>
              <a:srgbClr val="2D3748"/>
            </a:solidFill>
            <a:prstDash val="solid"/>
          </a:ln>
        </p:spPr>
      </p:sp>
      <p:sp>
        <p:nvSpPr>
          <p:cNvPr id="25" name="Shape 23"/>
          <p:cNvSpPr/>
          <p:nvPr/>
        </p:nvSpPr>
        <p:spPr>
          <a:xfrm>
            <a:off x="6400800" y="850392"/>
            <a:ext cx="914400" cy="850392"/>
          </a:xfrm>
          <a:prstGeom prst="rect">
            <a:avLst/>
          </a:prstGeom>
          <a:solidFill>
            <a:srgbClr val="1A2332">
              <a:alpha val="25000"/>
            </a:srgbClr>
          </a:solidFill>
          <a:ln w="2540">
            <a:solidFill>
              <a:srgbClr val="2D3748"/>
            </a:solidFill>
            <a:prstDash val="solid"/>
          </a:ln>
        </p:spPr>
      </p:sp>
      <p:sp>
        <p:nvSpPr>
          <p:cNvPr id="26" name="Shape 24"/>
          <p:cNvSpPr/>
          <p:nvPr/>
        </p:nvSpPr>
        <p:spPr>
          <a:xfrm>
            <a:off x="6400800" y="2551176"/>
            <a:ext cx="914400" cy="850392"/>
          </a:xfrm>
          <a:prstGeom prst="rect">
            <a:avLst/>
          </a:prstGeom>
          <a:solidFill>
            <a:srgbClr val="1A2332">
              <a:alpha val="25000"/>
            </a:srgbClr>
          </a:solidFill>
          <a:ln w="2540">
            <a:solidFill>
              <a:srgbClr val="2D3748"/>
            </a:solidFill>
            <a:prstDash val="solid"/>
          </a:ln>
        </p:spPr>
      </p:sp>
      <p:sp>
        <p:nvSpPr>
          <p:cNvPr id="27" name="Shape 25"/>
          <p:cNvSpPr/>
          <p:nvPr/>
        </p:nvSpPr>
        <p:spPr>
          <a:xfrm>
            <a:off x="6400800" y="4251960"/>
            <a:ext cx="914400" cy="850392"/>
          </a:xfrm>
          <a:prstGeom prst="rect">
            <a:avLst/>
          </a:prstGeom>
          <a:solidFill>
            <a:srgbClr val="1A2332">
              <a:alpha val="25000"/>
            </a:srgbClr>
          </a:solidFill>
          <a:ln w="2540">
            <a:solidFill>
              <a:srgbClr val="2D3748"/>
            </a:solidFill>
            <a:prstDash val="solid"/>
          </a:ln>
        </p:spPr>
      </p:sp>
      <p:sp>
        <p:nvSpPr>
          <p:cNvPr id="28" name="Shape 26"/>
          <p:cNvSpPr/>
          <p:nvPr/>
        </p:nvSpPr>
        <p:spPr>
          <a:xfrm>
            <a:off x="7315200" y="0"/>
            <a:ext cx="914400" cy="850392"/>
          </a:xfrm>
          <a:prstGeom prst="rect">
            <a:avLst/>
          </a:prstGeom>
          <a:solidFill>
            <a:srgbClr val="1A2332">
              <a:alpha val="25000"/>
            </a:srgbClr>
          </a:solidFill>
          <a:ln w="2540">
            <a:solidFill>
              <a:srgbClr val="2D3748"/>
            </a:solidFill>
            <a:prstDash val="solid"/>
          </a:ln>
        </p:spPr>
      </p:sp>
      <p:sp>
        <p:nvSpPr>
          <p:cNvPr id="29" name="Shape 27"/>
          <p:cNvSpPr/>
          <p:nvPr/>
        </p:nvSpPr>
        <p:spPr>
          <a:xfrm>
            <a:off x="7315200" y="1700784"/>
            <a:ext cx="914400" cy="850392"/>
          </a:xfrm>
          <a:prstGeom prst="rect">
            <a:avLst/>
          </a:prstGeom>
          <a:solidFill>
            <a:srgbClr val="1A2332">
              <a:alpha val="25000"/>
            </a:srgbClr>
          </a:solidFill>
          <a:ln w="2540">
            <a:solidFill>
              <a:srgbClr val="2D3748"/>
            </a:solidFill>
            <a:prstDash val="solid"/>
          </a:ln>
        </p:spPr>
      </p:sp>
      <p:sp>
        <p:nvSpPr>
          <p:cNvPr id="30" name="Shape 28"/>
          <p:cNvSpPr/>
          <p:nvPr/>
        </p:nvSpPr>
        <p:spPr>
          <a:xfrm>
            <a:off x="7315200" y="3401568"/>
            <a:ext cx="914400" cy="850392"/>
          </a:xfrm>
          <a:prstGeom prst="rect">
            <a:avLst/>
          </a:prstGeom>
          <a:solidFill>
            <a:srgbClr val="1A2332">
              <a:alpha val="25000"/>
            </a:srgbClr>
          </a:solidFill>
          <a:ln w="2540">
            <a:solidFill>
              <a:srgbClr val="2D3748"/>
            </a:solidFill>
            <a:prstDash val="solid"/>
          </a:ln>
        </p:spPr>
      </p:sp>
      <p:sp>
        <p:nvSpPr>
          <p:cNvPr id="31" name="Shape 29"/>
          <p:cNvSpPr/>
          <p:nvPr/>
        </p:nvSpPr>
        <p:spPr>
          <a:xfrm>
            <a:off x="8229600" y="850392"/>
            <a:ext cx="914400" cy="850392"/>
          </a:xfrm>
          <a:prstGeom prst="rect">
            <a:avLst/>
          </a:prstGeom>
          <a:solidFill>
            <a:srgbClr val="1A2332">
              <a:alpha val="25000"/>
            </a:srgbClr>
          </a:solidFill>
          <a:ln w="2540">
            <a:solidFill>
              <a:srgbClr val="2D3748"/>
            </a:solidFill>
            <a:prstDash val="solid"/>
          </a:ln>
        </p:spPr>
      </p:sp>
      <p:sp>
        <p:nvSpPr>
          <p:cNvPr id="32" name="Shape 30"/>
          <p:cNvSpPr/>
          <p:nvPr/>
        </p:nvSpPr>
        <p:spPr>
          <a:xfrm>
            <a:off x="8229600" y="2551176"/>
            <a:ext cx="914400" cy="850392"/>
          </a:xfrm>
          <a:prstGeom prst="rect">
            <a:avLst/>
          </a:prstGeom>
          <a:solidFill>
            <a:srgbClr val="1A2332">
              <a:alpha val="25000"/>
            </a:srgbClr>
          </a:solidFill>
          <a:ln w="2540">
            <a:solidFill>
              <a:srgbClr val="2D3748"/>
            </a:solidFill>
            <a:prstDash val="solid"/>
          </a:ln>
        </p:spPr>
      </p:sp>
      <p:sp>
        <p:nvSpPr>
          <p:cNvPr id="33" name="Shape 31"/>
          <p:cNvSpPr/>
          <p:nvPr/>
        </p:nvSpPr>
        <p:spPr>
          <a:xfrm>
            <a:off x="8229600" y="4251960"/>
            <a:ext cx="914400" cy="850392"/>
          </a:xfrm>
          <a:prstGeom prst="rect">
            <a:avLst/>
          </a:prstGeom>
          <a:solidFill>
            <a:srgbClr val="1A2332">
              <a:alpha val="25000"/>
            </a:srgbClr>
          </a:solidFill>
          <a:ln w="2540">
            <a:solidFill>
              <a:srgbClr val="2D3748"/>
            </a:solidFill>
            <a:prstDash val="solid"/>
          </a:ln>
        </p:spPr>
      </p:sp>
      <p:sp>
        <p:nvSpPr>
          <p:cNvPr id="34" name="Text 32"/>
          <p:cNvSpPr/>
          <p:nvPr/>
        </p:nvSpPr>
        <p:spPr>
          <a:xfrm>
            <a:off x="914400" y="182880"/>
            <a:ext cx="7315200" cy="411480"/>
          </a:xfrm>
          <a:prstGeom prst="rect">
            <a:avLst/>
          </a:prstGeom>
          <a:noFill/>
          <a:ln/>
        </p:spPr>
        <p:txBody>
          <a:bodyPr wrap="square"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This unit exists because of cases like these</a:t>
            </a:r>
            <a:endParaRPr lang="en-US" sz="1400" dirty="0"/>
          </a:p>
        </p:txBody>
      </p:sp>
      <p:sp>
        <p:nvSpPr>
          <p:cNvPr id="35" name="Text 33"/>
          <p:cNvSpPr/>
          <p:nvPr/>
        </p:nvSpPr>
        <p:spPr>
          <a:xfrm>
            <a:off x="914400" y="640080"/>
            <a:ext cx="7315200" cy="100584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Every device tells a story.</a:t>
            </a:r>
            <a:endParaRPr lang="en-US" sz="3800" dirty="0"/>
          </a:p>
          <a:p>
            <a:pPr algn="ctr" indent="0" marL="0">
              <a:buNone/>
            </a:pPr>
            <a:r>
              <a:rPr lang="en-US" sz="3800" b="1" dirty="0">
                <a:solidFill>
                  <a:srgbClr val="FFFFFF"/>
                </a:solidFill>
                <a:latin typeface="Calibri" pitchFamily="34" charset="0"/>
                <a:ea typeface="Calibri" pitchFamily="34" charset="-122"/>
                <a:cs typeface="Calibri" pitchFamily="34" charset="-120"/>
              </a:rPr>
              <a:t>Your job is to read it.</a:t>
            </a:r>
            <a:endParaRPr lang="en-US" sz="3800" dirty="0"/>
          </a:p>
        </p:txBody>
      </p:sp>
      <p:sp>
        <p:nvSpPr>
          <p:cNvPr id="36" name="Shape 34"/>
          <p:cNvSpPr/>
          <p:nvPr/>
        </p:nvSpPr>
        <p:spPr>
          <a:xfrm>
            <a:off x="274320" y="1874520"/>
            <a:ext cx="2788920" cy="2944368"/>
          </a:xfrm>
          <a:prstGeom prst="rect">
            <a:avLst/>
          </a:prstGeom>
          <a:solidFill>
            <a:srgbClr val="1E293B"/>
          </a:solidFill>
          <a:ln w="12700">
            <a:solidFill>
              <a:srgbClr val="EF4444"/>
            </a:solidFill>
            <a:prstDash val="solid"/>
          </a:ln>
        </p:spPr>
      </p:sp>
      <p:sp>
        <p:nvSpPr>
          <p:cNvPr id="37" name="Shape 35"/>
          <p:cNvSpPr/>
          <p:nvPr/>
        </p:nvSpPr>
        <p:spPr>
          <a:xfrm>
            <a:off x="274320" y="1874520"/>
            <a:ext cx="2788920" cy="384048"/>
          </a:xfrm>
          <a:prstGeom prst="rect">
            <a:avLst/>
          </a:prstGeom>
          <a:solidFill>
            <a:srgbClr val="EF4444"/>
          </a:solidFill>
          <a:ln w="12700">
            <a:solidFill>
              <a:srgbClr val="EF4444"/>
            </a:solidFill>
            <a:prstDash val="solid"/>
          </a:ln>
        </p:spPr>
      </p:sp>
      <p:sp>
        <p:nvSpPr>
          <p:cNvPr id="38" name="Text 36"/>
          <p:cNvSpPr/>
          <p:nvPr/>
        </p:nvSpPr>
        <p:spPr>
          <a:xfrm>
            <a:off x="384048" y="1892808"/>
            <a:ext cx="2578608" cy="34747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Manchester Arena Bombing — 2017</a:t>
            </a:r>
            <a:endParaRPr lang="en-US" sz="1200" dirty="0"/>
          </a:p>
        </p:txBody>
      </p:sp>
      <p:sp>
        <p:nvSpPr>
          <p:cNvPr id="39" name="Text 37"/>
          <p:cNvSpPr/>
          <p:nvPr/>
        </p:nvSpPr>
        <p:spPr>
          <a:xfrm>
            <a:off x="384048" y="2331720"/>
            <a:ext cx="2578608" cy="2395728"/>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Forensic teams recovered Salman Abedi's encrypted devices. Messaging apps, browsing history, and contacts mapped the wider terror network and led to further prosecutions.</a:t>
            </a:r>
            <a:endParaRPr lang="en-US" sz="1200" dirty="0"/>
          </a:p>
        </p:txBody>
      </p:sp>
      <p:sp>
        <p:nvSpPr>
          <p:cNvPr id="40" name="Shape 38"/>
          <p:cNvSpPr/>
          <p:nvPr/>
        </p:nvSpPr>
        <p:spPr>
          <a:xfrm>
            <a:off x="3182112" y="1874520"/>
            <a:ext cx="2788920" cy="2944368"/>
          </a:xfrm>
          <a:prstGeom prst="rect">
            <a:avLst/>
          </a:prstGeom>
          <a:solidFill>
            <a:srgbClr val="1E293B"/>
          </a:solidFill>
          <a:ln w="12700">
            <a:solidFill>
              <a:srgbClr val="7C3AED"/>
            </a:solidFill>
            <a:prstDash val="solid"/>
          </a:ln>
        </p:spPr>
      </p:sp>
      <p:sp>
        <p:nvSpPr>
          <p:cNvPr id="41" name="Shape 39"/>
          <p:cNvSpPr/>
          <p:nvPr/>
        </p:nvSpPr>
        <p:spPr>
          <a:xfrm>
            <a:off x="3182112" y="1874520"/>
            <a:ext cx="2788920" cy="384048"/>
          </a:xfrm>
          <a:prstGeom prst="rect">
            <a:avLst/>
          </a:prstGeom>
          <a:solidFill>
            <a:srgbClr val="7C3AED"/>
          </a:solidFill>
          <a:ln w="12700">
            <a:solidFill>
              <a:srgbClr val="7C3AED"/>
            </a:solidFill>
            <a:prstDash val="solid"/>
          </a:ln>
        </p:spPr>
      </p:sp>
      <p:sp>
        <p:nvSpPr>
          <p:cNvPr id="42" name="Text 40"/>
          <p:cNvSpPr/>
          <p:nvPr/>
        </p:nvSpPr>
        <p:spPr>
          <a:xfrm>
            <a:off x="3291840" y="1892808"/>
            <a:ext cx="2578608" cy="34747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CAID — Child Protection — Ongoing</a:t>
            </a:r>
            <a:endParaRPr lang="en-US" sz="1200" dirty="0"/>
          </a:p>
        </p:txBody>
      </p:sp>
      <p:sp>
        <p:nvSpPr>
          <p:cNvPr id="43" name="Text 41"/>
          <p:cNvSpPr/>
          <p:nvPr/>
        </p:nvSpPr>
        <p:spPr>
          <a:xfrm>
            <a:off x="3291840" y="2331720"/>
            <a:ext cx="2578608" cy="2395728"/>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The Child Abuse Image Database uses hash matching to identify known illegal images across millions of seized devices — without investigators manually viewing every file.</a:t>
            </a:r>
            <a:endParaRPr lang="en-US" sz="1200" dirty="0"/>
          </a:p>
        </p:txBody>
      </p:sp>
      <p:sp>
        <p:nvSpPr>
          <p:cNvPr id="44" name="Shape 42"/>
          <p:cNvSpPr/>
          <p:nvPr/>
        </p:nvSpPr>
        <p:spPr>
          <a:xfrm>
            <a:off x="6089904" y="1874520"/>
            <a:ext cx="2788920" cy="2944368"/>
          </a:xfrm>
          <a:prstGeom prst="rect">
            <a:avLst/>
          </a:prstGeom>
          <a:solidFill>
            <a:srgbClr val="1E293B"/>
          </a:solidFill>
          <a:ln w="12700">
            <a:solidFill>
              <a:srgbClr val="10B981"/>
            </a:solidFill>
            <a:prstDash val="solid"/>
          </a:ln>
        </p:spPr>
      </p:sp>
      <p:sp>
        <p:nvSpPr>
          <p:cNvPr id="45" name="Shape 43"/>
          <p:cNvSpPr/>
          <p:nvPr/>
        </p:nvSpPr>
        <p:spPr>
          <a:xfrm>
            <a:off x="6089904" y="1874520"/>
            <a:ext cx="2788920" cy="384048"/>
          </a:xfrm>
          <a:prstGeom prst="rect">
            <a:avLst/>
          </a:prstGeom>
          <a:solidFill>
            <a:srgbClr val="10B981"/>
          </a:solidFill>
          <a:ln w="12700">
            <a:solidFill>
              <a:srgbClr val="10B981"/>
            </a:solidFill>
            <a:prstDash val="solid"/>
          </a:ln>
        </p:spPr>
      </p:sp>
      <p:sp>
        <p:nvSpPr>
          <p:cNvPr id="46" name="Text 44"/>
          <p:cNvSpPr/>
          <p:nvPr/>
        </p:nvSpPr>
        <p:spPr>
          <a:xfrm>
            <a:off x="6199632" y="1892808"/>
            <a:ext cx="2578608" cy="34747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Twitter Hack — 2020</a:t>
            </a:r>
            <a:endParaRPr lang="en-US" sz="1200" dirty="0"/>
          </a:p>
        </p:txBody>
      </p:sp>
      <p:sp>
        <p:nvSpPr>
          <p:cNvPr id="47" name="Text 45"/>
          <p:cNvSpPr/>
          <p:nvPr/>
        </p:nvSpPr>
        <p:spPr>
          <a:xfrm>
            <a:off x="6199632" y="2331720"/>
            <a:ext cx="2578608" cy="2395728"/>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17-year-old Graham Clark hacked 130 accounts including Obama and Elon Musk. Digital forensics traced it through VPN logs, Discord messages, and Bitcoin transactions in 3 weeks.</a:t>
            </a:r>
            <a:endParaRPr lang="en-US" sz="1200" dirty="0"/>
          </a:p>
        </p:txBody>
      </p:sp>
      <p:sp>
        <p:nvSpPr>
          <p:cNvPr id="48" name="Shape 46"/>
          <p:cNvSpPr/>
          <p:nvPr/>
        </p:nvSpPr>
        <p:spPr>
          <a:xfrm>
            <a:off x="411480" y="4919472"/>
            <a:ext cx="8321040" cy="155448"/>
          </a:xfrm>
          <a:prstGeom prst="rect">
            <a:avLst/>
          </a:prstGeom>
          <a:solidFill>
            <a:srgbClr val="1E293B"/>
          </a:solidFill>
          <a:ln w="12700">
            <a:solidFill>
              <a:srgbClr val="1E293B"/>
            </a:solidFill>
            <a:prstDash val="solid"/>
          </a:ln>
        </p:spPr>
      </p:sp>
      <p:sp>
        <p:nvSpPr>
          <p:cNvPr id="49" name="Text 47"/>
          <p:cNvSpPr/>
          <p:nvPr/>
        </p:nvSpPr>
        <p:spPr>
          <a:xfrm>
            <a:off x="411480" y="4919472"/>
            <a:ext cx="8321040" cy="155448"/>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Unit IV covers: Cyber Forensic Basics  ·  Storage Fundamentals  ·  File System Concepts  ·  Data Recovery  ·  Deleted File Recovery  ·  Formatted Partition Recovery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IV: Fundamentals of Cyber Forensics</dc:title>
  <dc:subject>PptxGenJS Presentation</dc:subject>
  <dc:creator>HeXx — Cyber Forensics</dc:creator>
  <cp:lastModifiedBy>HeXx — Cyber Forensics</cp:lastModifiedBy>
  <cp:revision>1</cp:revision>
  <dcterms:created xsi:type="dcterms:W3CDTF">2026-03-17T18:47:07Z</dcterms:created>
  <dcterms:modified xsi:type="dcterms:W3CDTF">2026-03-17T18:47:07Z</dcterms:modified>
</cp:coreProperties>
</file>