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79792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27264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4736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22208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A2332">
              <a:alpha val="4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914400"/>
            <a:ext cx="640080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FORENSICS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1783080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Fundamentals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97480" y="3337560"/>
            <a:ext cx="178308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337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Concepts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3337560"/>
            <a:ext cx="1239012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3756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721608"/>
            <a:ext cx="1549908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21608"/>
            <a:ext cx="15499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Recovery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3721608"/>
            <a:ext cx="1860804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721608"/>
            <a:ext cx="18608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 Recovery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3721608"/>
            <a:ext cx="2404872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2160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Partition Recovery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18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Evidence  ●  Storage Analysis  ●  File Recovery  ●  Forensic Methodology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— What Will We Learn?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roadmap of topics covered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356616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201168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Forensic Basics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719072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 Forensics?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Scope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(Chain of Custody)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Process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143000"/>
            <a:ext cx="2011680" cy="356616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43000"/>
            <a:ext cx="64008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14300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53512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Fundamentals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15184" y="1719072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 / SSD Anatomy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Sectors, Clusters, Tracks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 vs GPT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Hierarchy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1143000"/>
            <a:ext cx="2011680" cy="356616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143000"/>
            <a:ext cx="64008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1143000"/>
            <a:ext cx="20116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9784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Concepts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1719072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FAT32 / NTFS / ext4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 &amp; Inode Tables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(MACE)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Data Streams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1143000"/>
            <a:ext cx="2011680" cy="356616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14300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03136" y="114300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06056" y="1143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Evidence Recovery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67728" y="1719072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deleted ≠ gone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 Recovery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Partition Recovery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Carving Tools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Each topic builds on the previous — follow in order for best understanding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Cyber Forensics?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finding, preserving &amp; analyzing digital evidence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914400"/>
          </a:xfrm>
          <a:prstGeom prst="rect">
            <a:avLst/>
          </a:prstGeom>
          <a:solidFill>
            <a:srgbClr val="1A233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"Cyber Forensics is the application of scientific methods to identify, preserve, analyze, and present digital evidence in a legally acceptable manner."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01168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240280"/>
            <a:ext cx="73152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402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3127248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what digital evidence exists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0592" y="2240280"/>
            <a:ext cx="201168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90672" y="2240280"/>
            <a:ext cx="73152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2402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50592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127248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hash — don't touch original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2240280"/>
            <a:ext cx="201168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66944" y="2240280"/>
            <a:ext cx="73152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22402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626864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3127248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forensic tools on the copy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03136" y="2240280"/>
            <a:ext cx="2011680" cy="160020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43216" y="2240280"/>
            <a:ext cx="7315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43216" y="2240280"/>
            <a:ext cx="731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03136" y="2807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2864" y="3127248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testify in court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67712" y="2990088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2990088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0256" y="2990088"/>
            <a:ext cx="128016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005072"/>
            <a:ext cx="8595360" cy="82296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005072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Real World Example: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employee suspected of data theft → Investigator images their laptop → Recovers deleted files showing copied customer DB → Presents hashed evidence in court.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Fundamentals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physically store your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3474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💽  HDD Anatomy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10058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magnetic disk (1-5 per drive)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10058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1031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circle on platter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10058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060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6060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 — 512 bytes or 4KB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10058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72768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sectors (OS allocates)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100584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72768" y="3611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track across all platters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1097280"/>
            <a:ext cx="4480560" cy="155448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0" y="1097280"/>
            <a:ext cx="64008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1155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SSD vs HDD — Forensics Perspective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481328"/>
          <a:ext cx="4389120" cy="1115568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after 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Stays in sectors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 may erase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Recovery 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carving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effective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effective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389120" y="2834640"/>
            <a:ext cx="4480560" cy="173736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389120" y="283464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2852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Storage Units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526280" y="3246120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26280" y="32461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74920" y="32461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or 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629400" y="3246120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29400" y="324612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178040" y="32461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bits = 1 char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526280" y="3648456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26280" y="364845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74920" y="36484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bytes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629400" y="3648456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29400" y="364845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7178040" y="36484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KB (photo)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26280" y="4050792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26280" y="405079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074920" y="40507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MB (movie)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629400" y="4050792"/>
            <a:ext cx="5029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29400" y="405079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78040" y="405079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GB (hard drive)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C1A2E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SSD TRIM: When a file is deleted on SSD, OS immediately erases blocks — making forensic recovery much harder. Image SSD drives immediately after seizure!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Concepts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OS organizes data — and what it leaves behind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1A233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Analogy:  File system = Library catalog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08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= Hard Drive   |   Catalog = File System Index (MFT/FAT)   |   Books = File Data   |   Shelves = Clusters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169164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Key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Windows/USB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4GB file / 2TB vol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recovery, minimal metadata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(modern)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MFT, timestamps, ADS, journal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Journal, inode table, B-tree dirs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Snapshots, encryption 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exFAT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USB/SD Cards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FAT32 replacement, large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749040"/>
            <a:ext cx="416052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3749040"/>
            <a:ext cx="64008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76732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NTFS — Why It Matters Most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133088"/>
            <a:ext cx="54864" cy="1554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1330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 stores metadata for every file ever created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52544"/>
            <a:ext cx="54864" cy="1554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3525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 Timestamps: Modified / Accessed / Changed / Entry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572000"/>
            <a:ext cx="54864" cy="1554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5720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Data Streams (ADS) — hidden data inside files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791456"/>
            <a:ext cx="54864" cy="1554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47914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$LogFile journal records all changes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17720" y="3749040"/>
            <a:ext cx="4160520" cy="12344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17720" y="374904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376732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MACE Timestamps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00600" y="4133088"/>
            <a:ext cx="2011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0600" y="4133088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47488" y="413308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 File content changed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4352544"/>
            <a:ext cx="201168" cy="1828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4352544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047488" y="435254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Accessed: File was opened/read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00600" y="4572000"/>
            <a:ext cx="20116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4572000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47488" y="45720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 MFT entry modified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00600" y="4791456"/>
            <a:ext cx="201168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4791456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47488" y="479145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Mod: Metadata changed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 — Why Deleted ≠ Gone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concept in digital forensics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17193A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INSIGHT: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115568"/>
            <a:ext cx="67665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delete a file, the OS only removes the "pointer" to the data (directory entry / MFT record). The actual data stays on disk until new data overwrites those sectors.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697480" cy="182880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40280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FAT32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" y="2651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0xE5 replaces 1st char of filename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FAT table entries → set to 0x00 (FREE)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clusters: UNTOUCHED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240280"/>
            <a:ext cx="2697480" cy="182880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240280"/>
            <a:ext cx="64008" cy="1828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19272" y="2651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MFT entry flagged as 'not in use'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9272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$Bitmap marks clusters as FREE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clusters: UNTOUCHED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40280"/>
            <a:ext cx="2697480" cy="182880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240280"/>
            <a:ext cx="6400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240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99632" y="2651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Directory entry removed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9632" y="31089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Inode nlink count →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3566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Block pointers MAY be zeroed 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06240"/>
            <a:ext cx="8595360" cy="77724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206240"/>
            <a:ext cx="6400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245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Success Depends On: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705356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26280"/>
            <a:ext cx="1705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since deletion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121408" y="4526280"/>
            <a:ext cx="1705356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4526280"/>
            <a:ext cx="17053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activity after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85616" y="4526280"/>
            <a:ext cx="1394460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4526280"/>
            <a:ext cx="1394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TRIM status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9824" y="4526280"/>
            <a:ext cx="1472184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49824" y="452628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type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14032" y="4526280"/>
            <a:ext cx="1627632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14032" y="45262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fragmentation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 Recovery — Tools &amp; Methods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tools used by forensic investigators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1783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0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fls + icat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1197864"/>
            <a:ext cx="1005840" cy="256032"/>
          </a:xfrm>
          <a:prstGeom prst="rect">
            <a:avLst>
              <a:gd name="adj" fmla="val 1785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197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Sleuth Kit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5179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files (including deleted *) by inode, extract by MFT number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219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fls -r -d image.img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icat image.img 42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5468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115568"/>
            <a:ext cx="64008" cy="1783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170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ntfsundelete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197864"/>
            <a:ext cx="1239012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97864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NTFS-Specific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15179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NTFS for deleted entries, shows recovery percentage per file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19456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22219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ntfsundelete image.img --scan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ntfsundelete image.img --undelete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115568"/>
            <a:ext cx="64008" cy="1783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17043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818120" y="1197864"/>
            <a:ext cx="1083564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1197864"/>
            <a:ext cx="10835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151790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GUI-driven recovery for FAT/NTFS, shows deleted files, copy with 'c' key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19456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9632" y="222199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testdisk image.img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Advanced → Undelete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035808"/>
            <a:ext cx="64008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0906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extundelete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057400" y="3118104"/>
            <a:ext cx="1005840" cy="256032"/>
          </a:xfrm>
          <a:prstGeom prst="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57400" y="3118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ext4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34381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inode table for deleted entries, recovers to RECOVERED_FILES/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11480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41422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extundelete image.img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--restore-all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5468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3035808"/>
            <a:ext cx="64008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9272" y="30906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PhotoRec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937760" y="3118104"/>
            <a:ext cx="1161288" cy="256032"/>
          </a:xfrm>
          <a:prstGeom prst="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1181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Carving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9272" y="34381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filesystem entirely, scans raw bytes for file signatures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46120" y="411480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9272" y="41422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photorec image.img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Select type → Scan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3504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35040" y="3035808"/>
            <a:ext cx="64008" cy="17830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99632" y="309067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Autopsy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818120" y="3118104"/>
            <a:ext cx="928116" cy="256032"/>
          </a:xfrm>
          <a:prstGeom prst="rect">
            <a:avLst>
              <a:gd name="adj" fmla="val 1785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3118104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Suite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199632" y="3438144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forensic GUI: browse, recover, keyword search, timeline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6480" y="4114800"/>
            <a:ext cx="2560320" cy="594360"/>
          </a:xfrm>
          <a:prstGeom prst="rect">
            <a:avLst/>
          </a:prstGeom>
          <a:solidFill>
            <a:srgbClr val="0A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4142232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autopsy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New Case → Add Image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Carving — Recovery Without File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raw bytes for known file signatures (magic bytes)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201168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2011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Carving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36192"/>
            <a:ext cx="256032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361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5361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disk image sector by sector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37944"/>
            <a:ext cx="256032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3794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837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known file HEADER signatures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256032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3969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139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forward until matching FOOTER found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41448"/>
            <a:ext cx="256032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414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2441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bytes between header &amp; footer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56032" cy="23774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recovered file (no FS needed!)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097280"/>
            <a:ext cx="4297680" cy="201168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097280"/>
            <a:ext cx="64008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1155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File Signatures (Magic Bytes)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36592" y="1517904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51790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85232" y="1517904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FF D8 FF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52360" y="151790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FF D9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6592" y="1773936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177393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1773936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25 50 44 46 (%PDF)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52360" y="177393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%%EOF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36592" y="2029968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36592" y="202996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85232" y="2029968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89 50 4E 47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452360" y="20299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49 45 4E 44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2286000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22860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ZIP/DOCX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85232" y="2286000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50 4B 03 04 (PK)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52360" y="228600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50 4B 05 06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36592" y="2542032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254203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EXE/DLL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85232" y="254203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4D 5A (MZ)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52360" y="254203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36592" y="2798064"/>
            <a:ext cx="50292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36592" y="2798064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85232" y="2798064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53 51 4C 69 74 65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52360" y="279806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Footer: —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3291840"/>
            <a:ext cx="2011680" cy="100584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3291840"/>
            <a:ext cx="64008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foremost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11480" y="3630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carver — config-based, supports 20+ types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450592" y="3291840"/>
            <a:ext cx="2011680" cy="10058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450592" y="3291840"/>
            <a:ext cx="64008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87752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scalpel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2587752" y="3630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highly configurable rules file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26864" y="3291840"/>
            <a:ext cx="2011680" cy="100584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626864" y="3291840"/>
            <a:ext cx="64008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64024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binwalk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764024" y="3630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firmware / embedded file extraction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03136" y="3291840"/>
            <a:ext cx="2011680" cy="100584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03136" y="32918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40296" y="3310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bulk_extractor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940296" y="36301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Extracts: emails, URLs, credit cards, GPS coords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1C1A2E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57200" y="4480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Limitation: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1691640" y="44805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carving assumes files are stored contiguously. Fragmented files produce corrupted or partial results. It also loses original filenames.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Partition Recovery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formatted drives hide their secrets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011680" cy="260604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2606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1938528"/>
            <a:ext cx="137160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HIGH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Rewrites FS metadata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Marks all space as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163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CLUSTERS: UNTOUCHED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0592" y="1097280"/>
            <a:ext cx="2011680" cy="260604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97280"/>
            <a:ext cx="64008" cy="2606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496312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70632" y="1938528"/>
            <a:ext cx="13716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0632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LOW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in Quick Format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60320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ZEROS all data sectors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3163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Vista and newer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26864" y="1097280"/>
            <a:ext cx="2011680" cy="260604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1097280"/>
            <a:ext cx="64008" cy="26060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💣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72584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Partition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46904" y="1938528"/>
            <a:ext cx="1371600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VERY 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removes partition entry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data completely intact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3163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Like removing a book index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03136" y="1097280"/>
            <a:ext cx="2011680" cy="260604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1097280"/>
            <a:ext cx="64008" cy="2606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48856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Wipe (DoD)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23176" y="1938528"/>
            <a:ext cx="13716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23176" y="1938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 NONE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12864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3-7 passes of 0x00, 0xFF, random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12864" y="2734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Overwrites all data sectors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12864" y="316382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Forensically unrecoverable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858768"/>
            <a:ext cx="5029200" cy="114300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858768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TestDisk — Partition Recovery Process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422452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image → Select partition type (Intel/GPT)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425696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Analyse → Quick Search (finds partition signatures)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4626864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not found → Deep Search (scans all sectors)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82803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→ Restores partition table to disk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0" y="3858768"/>
            <a:ext cx="3383280" cy="114300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0" y="3858768"/>
            <a:ext cx="64008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38770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TestDisk vs PhotoRec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669280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 → Rebuilds partition table → Preserves filenames &amp; folder structure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69280" y="460857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PhotoRec → Carves raw files → Loses filenames — last resort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Artifacts &amp; Key Terminology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Windows leaves behind — forensic breadcrumbs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572000" cy="315468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64008" cy="3154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Windows Forensic Artifacts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640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8191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C:\Windows\Prefetch\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80360" y="15819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executed — run count + timestamps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6400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110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C:\Windows\System32\winevt\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80360" y="191109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Logs — logins, errors, service installs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640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402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HKLM\SYSTEM\...\USBSTOR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224028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History — every USB device ever connected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560320"/>
            <a:ext cx="64008" cy="2560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6946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C:\pagefile.sys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56946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— contains RAM fragments!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640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9864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C:\hiberfil.sys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880360" y="28986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= full RAM snapshot on disk!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64008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278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C:\$Recycle.Bin\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322783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 + exact deletion timestamp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547872"/>
            <a:ext cx="640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570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NTUSER.DAT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355701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registry hive — recently opened files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0" y="1097280"/>
            <a:ext cx="3840480" cy="315468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1097280"/>
            <a:ext cx="64008" cy="3154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11155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Key Terminology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212080" y="1572768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15727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56248" y="158191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Bit-for-bit copy of storage media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1901952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901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(MD5/SHA)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56248" y="191109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fingerprint — proves integrity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212080" y="2231136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2311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56248" y="224028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handled evidence &amp; when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12080" y="2560320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0" y="25603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56248" y="25694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any writes to original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212080" y="2889504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12080" y="28895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Space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56248" y="289864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file end &amp; cluster end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212080" y="3218688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3218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Carving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56248" y="322783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files by magic bytes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12080" y="3547872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2080" y="35478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Data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56248" y="355701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— lost on power off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212080" y="3877056"/>
            <a:ext cx="1280160" cy="256032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12080" y="38770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Timestomp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56248" y="388620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faking timestamps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4407408"/>
            <a:ext cx="8595360" cy="658368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274320" y="4407408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4256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Critical Windows Event IDs: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57200" y="4709160"/>
            <a:ext cx="2793492" cy="256032"/>
          </a:xfrm>
          <a:prstGeom prst="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709160"/>
            <a:ext cx="27934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4625: Failed Login (brute force!)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121408" y="4709160"/>
            <a:ext cx="2715768" cy="256032"/>
          </a:xfrm>
          <a:prstGeom prst="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21408" y="470916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4698: Task Scheduled (backdoor!)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785616" y="4709160"/>
            <a:ext cx="2948940" cy="256032"/>
          </a:xfrm>
          <a:prstGeom prst="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85616" y="4709160"/>
            <a:ext cx="2948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1102: Log Cleared (anti-forensics!)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49824" y="4709160"/>
            <a:ext cx="1938528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49824" y="470916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4624: Successful Login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114032" y="4709160"/>
            <a:ext cx="2016252" cy="256032"/>
          </a:xfrm>
          <a:prstGeom prst="rect">
            <a:avLst>
              <a:gd name="adj" fmla="val 17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14032" y="4709160"/>
            <a:ext cx="2016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7045: Service Installed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Tools — Quick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you need, when to use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3474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15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52704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5270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dcfldd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52704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imaging + live hash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97510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751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9751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bit-for-bit copy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42316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23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ddrescue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damaged disks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115568"/>
            <a:ext cx="27432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115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64408" y="152704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5270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152704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+ deleted (*)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197510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9751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19751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metadata by inode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64408" y="242316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423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file by inode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111556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115568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1115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44768" y="152704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52704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fsstat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152704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statistics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44768" y="197510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97510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197510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layout map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44768" y="242316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242316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analyzeMFT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24231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NTFS MFT to CSV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035808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3035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84048" y="344728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34472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foremost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417320" y="3447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carving by signature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048" y="389534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89534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scalpel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17320" y="38953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carving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4048" y="434340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343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photorec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417320" y="4343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GUI-based carving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15468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54680" y="3035808"/>
            <a:ext cx="274320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54680" y="3035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264408" y="344728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64408" y="34472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testdisk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297680" y="3447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reconstruction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264408" y="389534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64408" y="389534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ntfsundelete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297680" y="38953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 file recovery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64408" y="434340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64408" y="4343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extundelete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297680" y="4343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 file recovery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035040" y="3035808"/>
            <a:ext cx="2743200" cy="178308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035040" y="3035808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0" y="3035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6144768" y="3447288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44768" y="3447288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autopsy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178040" y="3447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forensics suite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44768" y="3895344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44768" y="3895344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volatility3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178040" y="38953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analysis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44768" y="4343400"/>
            <a:ext cx="960120" cy="347472"/>
          </a:xfrm>
          <a:prstGeom prst="rect">
            <a:avLst/>
          </a:prstGeom>
          <a:solidFill>
            <a:srgbClr val="0A0E1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44768" y="4343400"/>
            <a:ext cx="960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bulk_extractor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178040" y="43434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extraction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20040" y="4928616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GOLDEN RULE: ALWAYS work on a forensic copy — NEVER the original evidence!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Scenario — Operation Phantom Ledger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everything you learned in a real-world simulation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17193A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CASE: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74980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employee (jsmith) is suspected of installing a keylogger, exfiltrating 75,000 customer records to an FTP server, then deleting evidence and quick-formatting their USB drive before surrendering the laptop to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12848"/>
            <a:ext cx="502920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624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22585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&amp; Hash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5328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dcfldd + sha256sum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77977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the laptop &amp; USB. Verify hashes. Document chain of custody.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21284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2212848"/>
            <a:ext cx="50292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624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22585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5328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mmls + fsstat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277977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partitions, file system types, sector offsets.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21284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212848"/>
            <a:ext cx="5029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262432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29400" y="22585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Deleted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53288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fls -r -d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277977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deleted files from NTFS MFT. Recover with icat.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53872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538728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USB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8587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foremost + strings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410565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 files from formatted USB. grep for IP/credentials.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353872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3538728"/>
            <a:ext cx="502920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749040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Artifacts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49040" y="38587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Prefetch + EventLogs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49040" y="410565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KEYLOGGER.EXE in Prefetch. Check EVTX for 4663.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3538728"/>
            <a:ext cx="2743200" cy="1188720"/>
          </a:xfrm>
          <a:prstGeom prst="rect">
            <a:avLst/>
          </a:prstGeom>
          <a:solidFill>
            <a:srgbClr val="161B22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538728"/>
            <a:ext cx="502920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95020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629400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29400" y="3858768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+ Document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410565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 with all findings, hashes &amp; chain of custody.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Summary &amp; Exam Tips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before the exam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2743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4160520" cy="3657600"/>
          </a:xfrm>
          <a:prstGeom prst="rect">
            <a:avLst/>
          </a:prstGeom>
          <a:solidFill>
            <a:srgbClr val="161B22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338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Must-Know Concepts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5819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≠ Wipe — data stays until overwritten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9280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18928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FAT32: 0xE5 marks deleted 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037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2203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NTFS: MFT entry kept — just flagged unused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514600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1460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ext4: may zero block pointers on delete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25496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8254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28254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Format: data intact | Full Format: zeroed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36392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3136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must be unbroken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47288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4472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4472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hash before &amp; after imaging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758184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581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9808" y="3758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TestDisk → partition table | PhotoRec → raw carve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069080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 = proof a program was executed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79976"/>
            <a:ext cx="219456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79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4379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hiberfil.sys = RAM on disk (forensic goldmine)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1115568"/>
            <a:ext cx="4251960" cy="3657600"/>
          </a:xfrm>
          <a:prstGeom prst="rect">
            <a:avLst/>
          </a:prstGeom>
          <a:solidFill>
            <a:srgbClr val="161B22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1115568"/>
            <a:ext cx="64008" cy="3657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1338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Common Exam Questions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00600" y="15819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MBR signature?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00600" y="18013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0x55AA at offset 510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20391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are files marked deleted in FAT32?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00600" y="22585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First byte replaced with 0xE5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00600" y="24963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MACE stand for?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27157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Modified, Accessed, Changed, Entry Modified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00600" y="29535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Quick format vs Full format?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00600" y="31729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Quick = metadata reset; Full = sectors zeroed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34107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data carving?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00600" y="36301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Recovering files from raw bytes using magic byte signatures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38679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use dcfldd over dd?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0600" y="40873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dcfldd does live hashing during imaging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00600" y="432511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an ADS?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0600" y="45445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Alternate Data Stream — NTFS hidden data channel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74320" y="4901184"/>
            <a:ext cx="8595360" cy="182880"/>
          </a:xfrm>
          <a:prstGeom prst="rect">
            <a:avLst/>
          </a:prstGeom>
          <a:solidFill>
            <a:srgbClr val="00D4F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20040" y="4910328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the Task files in Obsidian — Tasks 01 through 10 cover every exam topic with hands-on practicals!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82296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46888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11480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64592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329184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82296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246888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411480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64592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29184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82296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46888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411480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0" y="164592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329184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82296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246888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11480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164592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29184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82296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46888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4114800"/>
            <a:ext cx="914400" cy="822960"/>
          </a:xfrm>
          <a:prstGeom prst="rect">
            <a:avLst/>
          </a:prstGeom>
          <a:solidFill>
            <a:srgbClr val="1A2332">
              <a:alpha val="20000"/>
            </a:srgbClr>
          </a:solidFill>
          <a:ln w="3810">
            <a:solidFill>
              <a:srgbClr val="2D37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IV Complete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4400" y="1600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FORENSICS</a:t>
            </a:r>
            <a:endParaRPr lang="en-US" sz="5200" dirty="0"/>
          </a:p>
        </p:txBody>
      </p:sp>
      <p:sp>
        <p:nvSpPr>
          <p:cNvPr id="36" name="Text 34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Always There. You Just Need to Find It.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371600" y="3246120"/>
            <a:ext cx="6400800" cy="1417320"/>
          </a:xfrm>
          <a:prstGeom prst="rect">
            <a:avLst/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828800" y="32735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Lab Resources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600200" y="3675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 Guide: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91840" y="36758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00-Lab-Setup.md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600200" y="3950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01–10: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91840" y="39502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practical walkthroughs in Obsidian vault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0020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Notes: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91840" y="42245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Unit-IV-Cyber-Forensics-Complete.md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IV: Fundamentals of Cyber Forensics</dc:title>
  <dc:subject>PptxGenJS Presentation</dc:subject>
  <dc:creator>HeXx — Cyber Forensics</dc:creator>
  <cp:lastModifiedBy>HeXx — Cyber Forensics</cp:lastModifiedBy>
  <cp:revision>1</cp:revision>
  <dcterms:created xsi:type="dcterms:W3CDTF">2026-03-17T13:18:40Z</dcterms:created>
  <dcterms:modified xsi:type="dcterms:W3CDTF">2026-03-17T13:18:40Z</dcterms:modified>
</cp:coreProperties>
</file>